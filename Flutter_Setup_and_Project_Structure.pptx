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a21de1d9-2b3e-4ba5-9b5b-64c1508ab598}">
          <p14:sldIdLst>
            <p14:sldId id="256"/>
            <p14:sldId id="257"/>
          </p14:sldIdLst>
        </p14:section>
        <p14:section name="Installation" id="{f3c9db3a-5535-93b7-485d-7df65e096367}">
          <p14:sldIdLst>
            <p14:sldId id="258"/>
            <p14:sldId id="259"/>
            <p14:sldId id="260"/>
            <p14:sldId id="261"/>
            <p14:sldId id="262"/>
            <p14:sldId id="263"/>
            <p14:sldId id="264"/>
          </p14:sldIdLst>
        </p14:section>
        <p14:section name="Creating a Project" id="{8b313f10-f449-c8ee-17dc-e1225107368b}">
          <p14:sldIdLst>
            <p14:sldId id="265"/>
            <p14:sldId id="266"/>
          </p14:sldIdLst>
        </p14:section>
        <p14:section name="Project Structure" id="{eee5ce47-ec53-971f-8032-808d3ccf09ba}">
          <p14:sldIdLst>
            <p14:sldId id="267"/>
            <p14:sldId id="268"/>
            <p14:sldId id="269"/>
            <p14:sldId id="270"/>
            <p14:sldId id="271"/>
            <p14:sldId id="272"/>
          </p14:sldIdLst>
        </p14:section>
        <p14:section name="Wrap-up" id="{b036bd70-3df9-ead3-79d0-12a2fd0bd65f}">
          <p14:sldIdLst>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Flutter as Google's open-source UI toolkit: one Dart codebase compiles to native Android, iOS, web and desktop apps. Today we only set up the tools, create a first project, and learn what every generated file is for. Coding widgets comes in the next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four parts. Point out that parts 1 and 2 are platform-specific; once Flutter is installed, everything from part 3 onward is identical on Windows and macOS.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check these before the lab. Git is required because Flutter uses it to manage and upgrade the SDK. On Apple-silicon Macs, Rosetta 2 is still needed for some Flutter components. Visual Studio (not VS Code) is only needed for building Windows desktop apps.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steps. The most common mistakes are: extracting into C:\Program Files (needs admin rights), a path with spaces, and forgetting to open a NEW terminal after changing PATH. An alternative quick route: install VS Code + the Flutter extension, run "Flutter: New Project", and click "Download SDK" when prompted.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Demonstrate the environment-variable dialog live. Stress that terminals read PATH only when they start, so VS Code and every PowerShell window must be restarted. If flutter is "not recognized", the PATH entry is wrong or the terminal is 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Choose the correct zip: Apple silicon (arm64) for M-series Macs, Intel (x64) for older Macs. Alternative to the zip: git clone https://github.com/flutter/flutter.git -b stable into ~/develop. macOS uses zsh by default, so PATH goes in ~/.zshrc (bash users: ~/.bash_profile).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block is enough for Android and web development. The right block is only needed to build for iOS or macOS. CocoaPods is needed as soon as the project uses a plugin with native iOS/macOS code (most real apps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Needed on both operating systems to build Android apps. If flutter doctor reports "cmdline-tools component is missing", it is step 2. Students with low-RAM laptops can use a real phone: Settings → About phone → tap Build number 7 times → Developer options → USB debugging.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sample output together. Tell students they do NOT need every line green — only the platforms they target. For this course, Flutter + Android toolchain + a connected device is enough. Use flutter doctor -v to see the exact fix for each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flutter create my_app is all students need for now. --org matters before publishing: it sets the Android applicationId and iOS bundle identifier, which are painful to change later. IDE alternatives: VS Code → Ctrl/Cmd+Shift+P → "Flutter: New Project"; Android Studio → File → New → New Flutter Project. Both call flutter create under the hood.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this live: create, cd, flutter run on an emulator, change the title text, press r. Contrast hot reload (keeps the counter value) with hot restart (resets it to 0). Mention that the first build is slow because Gradle downloads dependencies; later builds are much faster.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new project in VS Code and expand the tree alongside this slide. Key idea: lib/ and pubspec.yaml are where 95% of the work happens. The platform folders are complete native projects that Flutter fills in for you; you open them only for permissions, app icons and IDs. Folders like windows/ or web/ appear only if that platform is enabled.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Trace execution: main() → runApp() → MyApp.build() → MaterialApp → home: MyHomePage. MyHomePage is a StatefulWidget; tapping the button calls setState(), which rebuilds the UI with the new counter. Encourage students to split lib/ into folders (screens/, widgets/, models/, services/) as apps grow — only main.dart is required.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pubspec.yaml is the Flutter equivalent of Gradle's dependency block plus the app manifest. YAML is indentation-sensitive (2 spaces, no tabs) — the most common student error. Version numbers shown are examples; flutter create fills in versions that match your SDK. After editing, run flutter pub get (VS Code does it automatically on save).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platform folder is a real native project that hosts the Flutter engine. Typical reasons to open them: adding INTERNET or CAMERA permission in AndroidManifest.xml, adding usage descriptions in Info.plist, changing the app name, minSdk or app icon. Note: new projects use Kotlin build scripts (build.gradle.kts); older projects use build.gradle.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Emphasise the Edit? column. .dart_tool/ and build/ are listed in .gitignore and can always be regenerated (flutter clean deletes build/; flutter pub get recreates .dart_tool/). For apps, commit pubspec.lock so everyone on the team builds with the same package versions.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as the take-home cheat sheet. Quick quiz idea: name the file you would open to (a) add a package, (b) request internet permission on Android, (c) change the first screen, (d) explain why the camera is needed on iOS.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45-minute lab. Students who finish early can add the http package with flutter pub add http and look at how pubspec.yaml and pubspec.lock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143000"/>
            <a:ext cx="5760720" cy="137160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548640" y="2697480"/>
            <a:ext cx="5760720" cy="914400"/>
          </a:xfrm>
          <a:prstGeom prst="rect">
            <a:avLst/>
          </a:prstGeom>
          <a:noFill/>
          <a:ln/>
        </p:spPr>
        <p:txBody>
          <a:bodyPr wrap="square" rtlCol="0"/>
          <a:lstStyle>
            <a:lvl1pPr indent="0" marL="0">
              <a:buNone/>
              <a:defRPr lang="en-US" sz="1600" dirty="0">
                <a:solidFill>
                  <a:schemeClr val="accent2"/>
                </a:solidFill>
              </a:defRPr>
            </a:lvl1pPr>
          </a:lstStyle>
          <a:p>
            <a:pPr indent="0" marL="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457200" y="228600"/>
            <a:ext cx="8229600" cy="256032"/>
          </a:xfrm>
          <a:prstGeom prst="rect">
            <a:avLst/>
          </a:prstGeom>
          <a:noFill/>
          <a:ln/>
        </p:spPr>
        <p:txBody>
          <a:bodyPr wrap="square" rtlCol="0"/>
          <a:lstStyle>
            <a:lvl1pPr indent="0" marL="0">
              <a:buNone/>
              <a:defRPr lang="en-US" sz="1100" b="1" spc="200" kern="0" dirty="0">
                <a:solidFill>
                  <a:schemeClr val="accent1"/>
                </a:solidFill>
              </a:defRPr>
            </a:lvl1pPr>
          </a:lstStyle>
          <a:p>
            <a:pPr indent="0" marL="0">
              <a:buNone/>
            </a:pPr>
            <a:endParaRPr lang="en-US" sz="1100" dirty="0"/>
          </a:p>
        </p:txBody>
      </p:sp>
      <p:sp>
        <p:nvSpPr>
          <p:cNvPr id="3" name="Text 0"/>
          <p:cNvSpPr/>
          <p:nvPr>
            <p:ph idx="101" type="title" hasCustomPrompt="1"/>
          </p:nvPr>
        </p:nvSpPr>
        <p:spPr>
          <a:xfrm>
            <a:off x="457200" y="502920"/>
            <a:ext cx="8229600" cy="566928"/>
          </a:xfrm>
          <a:prstGeom prst="rect">
            <a:avLst/>
          </a:prstGeom>
          <a:noFill/>
          <a:ln/>
        </p:spPr>
        <p:txBody>
          <a:bodyPr wrap="square" rtlCol="0"/>
          <a:lstStyle>
            <a:lvl1pPr indent="0" marL="0">
              <a:buNone/>
              <a:defRPr lang="en-US" sz="2800" b="1" dirty="0">
                <a:solidFill>
                  <a:schemeClr val="tx2"/>
                </a:solidFill>
              </a:defRPr>
            </a:lvl1pPr>
          </a:lstStyle>
          <a:p>
            <a:pPr indent="0" marL="0">
              <a:buNone/>
            </a:pPr>
            <a:endParaRPr lang="en-US" sz="2800" dirty="0"/>
          </a:p>
        </p:txBody>
      </p:sp>
      <p:sp>
        <p:nvSpPr>
          <p:cNvPr id="4" name="Text 0"/>
          <p:cNvSpPr/>
          <p:nvPr/>
        </p:nvSpPr>
        <p:spPr>
          <a:xfrm>
            <a:off x="457200" y="4773168"/>
            <a:ext cx="6400800" cy="237744"/>
          </a:xfrm>
          <a:prstGeom prst="rect">
            <a:avLst/>
          </a:prstGeom>
          <a:noFill/>
          <a:ln/>
        </p:spPr>
        <p:txBody>
          <a:bodyPr wrap="square" lIns="0" tIns="0" rIns="0" bIns="0" rtlCol="0" anchor="ctr"/>
          <a:lstStyle/>
          <a:p>
            <a:pPr indent="0" marL="0">
              <a:buNone/>
            </a:pPr>
            <a:r>
              <a:rPr lang="en-US" sz="900" dirty="0">
                <a:solidFill>
                  <a:schemeClr val="accent6"/>
                </a:solidFill>
              </a:rPr>
              <a:t>Mobile Application Development  ·  Flutter: Setup &amp; Project Structure</a:t>
            </a:r>
            <a:endParaRPr lang="en-US" sz="900" dirty="0"/>
          </a:p>
        </p:txBody>
      </p:sp>
      <p:sp>
        <p:nvSpPr>
          <p:cNvPr id="25" name="Slide Number Placeholder 0"/>
          <p:cNvSpPr>
            <a:spLocks noGrp="1"/>
          </p:cNvSpPr>
          <p:nvPr>
            <p:ph type="sldNum" sz="quarter" idx="4294967295"/>
          </p:nvPr>
        </p:nvSpPr>
        <p:spPr>
          <a:xfrm>
            <a:off x="8229600" y="4773168"/>
            <a:ext cx="457200" cy="237744"/>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4748B"/>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_CONTENT">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457200" y="228600"/>
            <a:ext cx="8229600" cy="256032"/>
          </a:xfrm>
          <a:prstGeom prst="rect">
            <a:avLst/>
          </a:prstGeom>
          <a:noFill/>
          <a:ln/>
        </p:spPr>
        <p:txBody>
          <a:bodyPr wrap="square" rtlCol="0"/>
          <a:lstStyle>
            <a:lvl1pPr indent="0" marL="0">
              <a:buNone/>
              <a:defRPr lang="en-US" sz="1100" b="1" spc="200" kern="0" dirty="0">
                <a:solidFill>
                  <a:schemeClr val="accent2"/>
                </a:solidFill>
              </a:defRPr>
            </a:lvl1pPr>
          </a:lstStyle>
          <a:p>
            <a:pPr indent="0" marL="0">
              <a:buNone/>
            </a:pPr>
            <a:endParaRPr lang="en-US" sz="1100" dirty="0"/>
          </a:p>
        </p:txBody>
      </p:sp>
      <p:sp>
        <p:nvSpPr>
          <p:cNvPr id="3" name="Text 0"/>
          <p:cNvSpPr/>
          <p:nvPr>
            <p:ph idx="101" type="title" hasCustomPrompt="1"/>
          </p:nvPr>
        </p:nvSpPr>
        <p:spPr>
          <a:xfrm>
            <a:off x="457200" y="502920"/>
            <a:ext cx="8229600" cy="566928"/>
          </a:xfrm>
          <a:prstGeom prst="rect">
            <a:avLst/>
          </a:prstGeom>
          <a:noFill/>
          <a:ln/>
        </p:spPr>
        <p:txBody>
          <a:bodyPr wrap="square" rtlCol="0"/>
          <a:lstStyle>
            <a:lvl1pPr indent="0" marL="0">
              <a:buNone/>
              <a:defRPr lang="en-US" sz="2800" b="1" dirty="0">
                <a:solidFill>
                  <a:schemeClr val="bg1"/>
                </a:solidFill>
              </a:defRPr>
            </a:lvl1pPr>
          </a:lstStyle>
          <a:p>
            <a:pPr indent="0" marL="0">
              <a:buNone/>
            </a:pPr>
            <a:endParaRPr lang="en-US" sz="2800" dirty="0"/>
          </a:p>
        </p:txBody>
      </p:sp>
      <p:sp>
        <p:nvSpPr>
          <p:cNvPr id="4" name="Text 0"/>
          <p:cNvSpPr/>
          <p:nvPr/>
        </p:nvSpPr>
        <p:spPr>
          <a:xfrm>
            <a:off x="457200" y="4773168"/>
            <a:ext cx="6400800" cy="237744"/>
          </a:xfrm>
          <a:prstGeom prst="rect">
            <a:avLst/>
          </a:prstGeom>
          <a:noFill/>
          <a:ln/>
        </p:spPr>
        <p:txBody>
          <a:bodyPr wrap="square" lIns="0" tIns="0" rIns="0" bIns="0" rtlCol="0" anchor="ctr"/>
          <a:lstStyle/>
          <a:p>
            <a:pPr indent="0" marL="0">
              <a:buNone/>
            </a:pPr>
            <a:r>
              <a:rPr lang="en-US" sz="900" dirty="0">
                <a:solidFill>
                  <a:schemeClr val="accent2"/>
                </a:solidFill>
              </a:rPr>
              <a:t>Mobile Application Development  ·  Flutter: Setup &amp; Project Structure</a:t>
            </a:r>
            <a:endParaRPr lang="en-US" sz="900" dirty="0"/>
          </a:p>
        </p:txBody>
      </p:sp>
      <p:sp>
        <p:nvSpPr>
          <p:cNvPr id="25" name="Slide Number Placeholder 0"/>
          <p:cNvSpPr>
            <a:spLocks noGrp="1"/>
          </p:cNvSpPr>
          <p:nvPr>
            <p:ph type="sldNum" sz="quarter" idx="4294967295"/>
          </p:nvPr>
        </p:nvSpPr>
        <p:spPr>
          <a:xfrm>
            <a:off x="8229600" y="4773168"/>
            <a:ext cx="457200" cy="237744"/>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13B9FD"/>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73168"/>
            <a:ext cx="457200" cy="237744"/>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4748B"/>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3.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3.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3.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slideLayout" Target="../slideLayouts/slideLayout3.xml"/><Relationship Id="rId8"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slideLayout" Target="../slideLayouts/slideLayout3.xml"/><Relationship Id="rId8"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slideLayout" Target="../slideLayouts/slideLayout4.xml"/><Relationship Id="rId6"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143000"/>
            <a:ext cx="5760720" cy="1371600"/>
          </a:xfrm>
          <a:prstGeom prst="rect">
            <a:avLst/>
          </a:prstGeom>
          <a:noFill/>
          <a:ln/>
        </p:spPr>
        <p:txBody>
          <a:bodyPr wrap="square" lIns="0" tIns="0" rIns="0" bIns="0" rtlCol="0" anchor="b"/>
          <a:lstStyle/>
          <a:p>
            <a:pPr algn="l" indent="0" marL="0">
              <a:buNone/>
            </a:pPr>
            <a:r>
              <a:rPr lang="en-US" sz="4000" b="1" dirty="0">
                <a:solidFill>
                  <a:schemeClr val="bg1"/>
                </a:solidFill>
              </a:rPr>
              <a:t>Getting Started with Flutter</a:t>
            </a:r>
            <a:endParaRPr lang="en-US" sz="4000" dirty="0"/>
          </a:p>
        </p:txBody>
      </p:sp>
      <p:sp>
        <p:nvSpPr>
          <p:cNvPr id="3" name="Text 0"/>
          <p:cNvSpPr/>
          <p:nvPr>
            <p:ph idx="101" type="body" hasCustomPrompt="1"/>
          </p:nvPr>
        </p:nvSpPr>
        <p:spPr>
          <a:xfrm>
            <a:off x="548640" y="2697480"/>
            <a:ext cx="5760720" cy="914400"/>
          </a:xfrm>
          <a:prstGeom prst="rect">
            <a:avLst/>
          </a:prstGeom>
          <a:noFill/>
          <a:ln/>
        </p:spPr>
        <p:txBody>
          <a:bodyPr wrap="square" lIns="0" tIns="0" rIns="0" bIns="0" rtlCol="0" anchor="t"/>
          <a:lstStyle/>
          <a:p>
            <a:pPr indent="0" marL="0">
              <a:buNone/>
            </a:pPr>
            <a:r>
              <a:rPr lang="en-US" sz="1600" dirty="0">
                <a:solidFill>
                  <a:schemeClr val="accent2"/>
                </a:solidFill>
              </a:rPr>
              <a:t>Installing on Windows &amp; macOS  ·  Creating a project  ·  Understanding the project structure</a:t>
            </a:r>
            <a:endParaRPr lang="en-US" sz="1600" dirty="0"/>
          </a:p>
        </p:txBody>
      </p:sp>
      <p:sp>
        <p:nvSpPr>
          <p:cNvPr id="4" name="hero-circle"/>
          <p:cNvSpPr/>
          <p:nvPr/>
        </p:nvSpPr>
        <p:spPr>
          <a:xfrm>
            <a:off x="6492240" y="1051560"/>
            <a:ext cx="2194560" cy="2194560"/>
          </a:xfrm>
          <a:prstGeom prst="ellipse">
            <a:avLst/>
          </a:prstGeom>
          <a:solidFill>
            <a:schemeClr val="accent1"/>
          </a:solidFill>
          <a:ln w="12700">
            <a:solidFill>
              <a:schemeClr val="accent1"/>
            </a:solidFill>
            <a:prstDash val="solid"/>
          </a:ln>
        </p:spPr>
      </p:sp>
      <p:pic>
        <p:nvPicPr>
          <p:cNvPr id="5" name="hero-icon" descr="preencoded.png">    </p:cNvPr>
          <p:cNvPicPr>
            <a:picLocks noChangeAspect="1"/>
          </p:cNvPicPr>
          <p:nvPr/>
        </p:nvPicPr>
        <p:blipFill>
          <a:blip r:embed="rId1"/>
          <a:stretch>
            <a:fillRect/>
          </a:stretch>
        </p:blipFill>
        <p:spPr>
          <a:xfrm>
            <a:off x="7132320" y="1691640"/>
            <a:ext cx="914400" cy="914400"/>
          </a:xfrm>
          <a:prstGeom prst="rect">
            <a:avLst/>
          </a:prstGeom>
        </p:spPr>
      </p:pic>
      <p:sp>
        <p:nvSpPr>
          <p:cNvPr id="6" name="dot"/>
          <p:cNvSpPr/>
          <p:nvPr/>
        </p:nvSpPr>
        <p:spPr>
          <a:xfrm>
            <a:off x="8001000" y="3063240"/>
            <a:ext cx="640080" cy="640080"/>
          </a:xfrm>
          <a:prstGeom prst="ellipse">
            <a:avLst/>
          </a:prstGeom>
          <a:solidFill>
            <a:schemeClr val="accent2"/>
          </a:solidFill>
          <a:ln w="12700">
            <a:solidFill>
              <a:schemeClr val="accent2"/>
            </a:solidFill>
            <a:prstDash val="solid"/>
          </a:ln>
        </p:spPr>
      </p:sp>
      <p:sp>
        <p:nvSpPr>
          <p:cNvPr id="7" name="Text 4"/>
          <p:cNvSpPr txBox="1"/>
          <p:nvPr/>
        </p:nvSpPr>
        <p:spPr>
          <a:xfrm>
            <a:off x="548640" y="4297680"/>
            <a:ext cx="5943600" cy="274320"/>
          </a:xfrm>
          <a:prstGeom prst="rect">
            <a:avLst/>
          </a:prstGeom>
          <a:noFill/>
          <a:ln/>
        </p:spPr>
        <p:txBody>
          <a:bodyPr wrap="square" lIns="0" tIns="0" rIns="0" bIns="0" rtlCol="0" anchor="ctr"/>
          <a:lstStyle/>
          <a:p>
            <a:pPr indent="0" marL="0">
              <a:buNone/>
            </a:pPr>
            <a:r>
              <a:rPr lang="en-US" sz="1200" dirty="0">
                <a:solidFill>
                  <a:schemeClr val="bg1"/>
                </a:solidFill>
              </a:rPr>
              <a:t>Mobile Application Development  ·  Cross-Platform Unit</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457200" y="228600"/>
            <a:ext cx="8229600" cy="256032"/>
          </a:xfrm>
          <a:prstGeom prst="rect">
            <a:avLst/>
          </a:prstGeom>
          <a:noFill/>
          <a:ln/>
        </p:spPr>
        <p:txBody>
          <a:bodyPr wrap="square" lIns="0" tIns="0" rIns="0" bIns="0" rtlCol="0" anchor="ctr"/>
          <a:lstStyle/>
          <a:p>
            <a:pPr indent="0" marL="0">
              <a:buNone/>
            </a:pPr>
            <a:r>
              <a:rPr lang="en-US" sz="1100" b="1" spc="200" kern="0" dirty="0">
                <a:solidFill>
                  <a:schemeClr val="accent1"/>
                </a:solidFill>
              </a:rPr>
              <a:t>TODAY'S SESSION</a:t>
            </a:r>
            <a:endParaRPr lang="en-US" sz="1100" dirty="0"/>
          </a:p>
        </p:txBody>
      </p:sp>
      <p:sp>
        <p:nvSpPr>
          <p:cNvPr id="3" name="Text 0"/>
          <p:cNvSpPr/>
          <p:nvPr>
            <p:ph idx="101" type="title" hasCustomPrompt="1"/>
          </p:nvPr>
        </p:nvSpPr>
        <p:spPr>
          <a:xfrm>
            <a:off x="457200" y="502920"/>
            <a:ext cx="8229600" cy="566928"/>
          </a:xfrm>
          <a:prstGeom prst="rect">
            <a:avLst/>
          </a:prstGeom>
          <a:noFill/>
          <a:ln/>
        </p:spPr>
        <p:txBody>
          <a:bodyPr wrap="square" lIns="0" tIns="0" rIns="0" bIns="0" rtlCol="0" anchor="ctr"/>
          <a:lstStyle/>
          <a:p>
            <a:pPr indent="0" marL="0">
              <a:buNone/>
            </a:pPr>
            <a:r>
              <a:rPr lang="en-US" sz="2800" b="1" dirty="0">
                <a:solidFill>
                  <a:schemeClr val="tx2"/>
                </a:solidFill>
              </a:rPr>
              <a:t>What we will cover</a:t>
            </a:r>
            <a:endParaRPr lang="en-US" sz="2800" dirty="0"/>
          </a:p>
        </p:txBody>
      </p:sp>
      <p:sp>
        <p:nvSpPr>
          <p:cNvPr id="5" name="card"/>
          <p:cNvSpPr/>
          <p:nvPr/>
        </p:nvSpPr>
        <p:spPr>
          <a:xfrm>
            <a:off x="457200" y="1371600"/>
            <a:ext cx="1885950" cy="2971800"/>
          </a:xfrm>
          <a:prstGeom prst="roundRect">
            <a:avLst>
              <a:gd name="adj" fmla="val 3879"/>
            </a:avLst>
          </a:prstGeom>
          <a:solidFill>
            <a:schemeClr val="bg2"/>
          </a:solidFill>
          <a:ln w="12700">
            <a:solidFill>
              <a:schemeClr val="bg2"/>
            </a:solidFill>
            <a:prstDash val="solid"/>
          </a:ln>
        </p:spPr>
      </p:sp>
      <p:sp>
        <p:nvSpPr>
          <p:cNvPr id="6" name="Text 3"/>
          <p:cNvSpPr txBox="1"/>
          <p:nvPr/>
        </p:nvSpPr>
        <p:spPr>
          <a:xfrm>
            <a:off x="685800" y="1600200"/>
            <a:ext cx="731520" cy="365760"/>
          </a:xfrm>
          <a:prstGeom prst="rect">
            <a:avLst/>
          </a:prstGeom>
          <a:noFill/>
          <a:ln/>
        </p:spPr>
        <p:txBody>
          <a:bodyPr wrap="square" lIns="0" tIns="0" rIns="0" bIns="0" rtlCol="0" anchor="ctr"/>
          <a:lstStyle/>
          <a:p>
            <a:pPr indent="0" marL="0">
              <a:buNone/>
            </a:pPr>
            <a:r>
              <a:rPr lang="en-US" sz="1400" b="1" dirty="0">
                <a:solidFill>
                  <a:schemeClr val="accent1"/>
                </a:solidFill>
              </a:rPr>
              <a:t>01</a:t>
            </a:r>
            <a:endParaRPr lang="en-US" sz="1400" dirty="0"/>
          </a:p>
        </p:txBody>
      </p:sp>
      <p:sp>
        <p:nvSpPr>
          <p:cNvPr id="7" name="icon-circle"/>
          <p:cNvSpPr/>
          <p:nvPr/>
        </p:nvSpPr>
        <p:spPr>
          <a:xfrm>
            <a:off x="685800" y="2103120"/>
            <a:ext cx="731520" cy="731520"/>
          </a:xfrm>
          <a:prstGeom prst="ellipse">
            <a:avLst/>
          </a:prstGeom>
          <a:solidFill>
            <a:schemeClr val="accent1"/>
          </a:solidFill>
          <a:ln w="12700">
            <a:solidFill>
              <a:schemeClr val="accent1"/>
            </a:solidFill>
            <a:prstDash val="solid"/>
          </a:ln>
        </p:spPr>
      </p:sp>
      <p:pic>
        <p:nvPicPr>
          <p:cNvPr id="8" name="icon" descr="preencoded.png">    </p:cNvPr>
          <p:cNvPicPr>
            <a:picLocks noChangeAspect="1"/>
          </p:cNvPicPr>
          <p:nvPr/>
        </p:nvPicPr>
        <p:blipFill>
          <a:blip r:embed="rId1"/>
          <a:stretch>
            <a:fillRect/>
          </a:stretch>
        </p:blipFill>
        <p:spPr>
          <a:xfrm>
            <a:off x="868680" y="2286000"/>
            <a:ext cx="365760" cy="365760"/>
          </a:xfrm>
          <a:prstGeom prst="rect">
            <a:avLst/>
          </a:prstGeom>
        </p:spPr>
      </p:pic>
      <p:sp>
        <p:nvSpPr>
          <p:cNvPr id="9" name="Text 5"/>
          <p:cNvSpPr txBox="1"/>
          <p:nvPr/>
        </p:nvSpPr>
        <p:spPr>
          <a:xfrm>
            <a:off x="685800" y="3017520"/>
            <a:ext cx="1428750" cy="548640"/>
          </a:xfrm>
          <a:prstGeom prst="rect">
            <a:avLst/>
          </a:prstGeom>
          <a:noFill/>
          <a:ln/>
        </p:spPr>
        <p:txBody>
          <a:bodyPr wrap="square" lIns="0" tIns="0" rIns="0" bIns="0" rtlCol="0" anchor="t"/>
          <a:lstStyle/>
          <a:p>
            <a:pPr indent="0" marL="0">
              <a:buNone/>
            </a:pPr>
            <a:r>
              <a:rPr lang="en-US" sz="1600" b="1" dirty="0">
                <a:solidFill>
                  <a:schemeClr val="tx2"/>
                </a:solidFill>
              </a:rPr>
              <a:t>Install on Windows</a:t>
            </a:r>
            <a:endParaRPr lang="en-US" sz="1600" dirty="0"/>
          </a:p>
        </p:txBody>
      </p:sp>
      <p:sp>
        <p:nvSpPr>
          <p:cNvPr id="10" name="Text 6"/>
          <p:cNvSpPr txBox="1"/>
          <p:nvPr/>
        </p:nvSpPr>
        <p:spPr>
          <a:xfrm>
            <a:off x="685800" y="3566160"/>
            <a:ext cx="1428750" cy="685800"/>
          </a:xfrm>
          <a:prstGeom prst="rect">
            <a:avLst/>
          </a:prstGeom>
          <a:noFill/>
          <a:ln/>
        </p:spPr>
        <p:txBody>
          <a:bodyPr wrap="square" lIns="0" tIns="0" rIns="0" bIns="0" rtlCol="0" anchor="t"/>
          <a:lstStyle/>
          <a:p>
            <a:pPr indent="0" marL="0">
              <a:buNone/>
            </a:pPr>
            <a:r>
              <a:rPr lang="en-US" sz="1300" dirty="0">
                <a:solidFill>
                  <a:schemeClr val="tx1"/>
                </a:solidFill>
              </a:rPr>
              <a:t>Git, the Flutter SDK, PATH and Android Studio</a:t>
            </a:r>
            <a:endParaRPr lang="en-US" sz="1300" dirty="0"/>
          </a:p>
        </p:txBody>
      </p:sp>
      <p:sp>
        <p:nvSpPr>
          <p:cNvPr id="11" name="card"/>
          <p:cNvSpPr/>
          <p:nvPr/>
        </p:nvSpPr>
        <p:spPr>
          <a:xfrm>
            <a:off x="2571750" y="1371600"/>
            <a:ext cx="1885950" cy="2971800"/>
          </a:xfrm>
          <a:prstGeom prst="roundRect">
            <a:avLst>
              <a:gd name="adj" fmla="val 3879"/>
            </a:avLst>
          </a:prstGeom>
          <a:solidFill>
            <a:schemeClr val="bg2"/>
          </a:solidFill>
          <a:ln w="12700">
            <a:solidFill>
              <a:schemeClr val="bg2"/>
            </a:solidFill>
            <a:prstDash val="solid"/>
          </a:ln>
        </p:spPr>
      </p:sp>
      <p:sp>
        <p:nvSpPr>
          <p:cNvPr id="12" name="Text 8"/>
          <p:cNvSpPr txBox="1"/>
          <p:nvPr/>
        </p:nvSpPr>
        <p:spPr>
          <a:xfrm>
            <a:off x="2800350" y="1600200"/>
            <a:ext cx="731520" cy="365760"/>
          </a:xfrm>
          <a:prstGeom prst="rect">
            <a:avLst/>
          </a:prstGeom>
          <a:noFill/>
          <a:ln/>
        </p:spPr>
        <p:txBody>
          <a:bodyPr wrap="square" lIns="0" tIns="0" rIns="0" bIns="0" rtlCol="0" anchor="ctr"/>
          <a:lstStyle/>
          <a:p>
            <a:pPr indent="0" marL="0">
              <a:buNone/>
            </a:pPr>
            <a:r>
              <a:rPr lang="en-US" sz="1400" b="1" dirty="0">
                <a:solidFill>
                  <a:schemeClr val="accent1"/>
                </a:solidFill>
              </a:rPr>
              <a:t>02</a:t>
            </a:r>
            <a:endParaRPr lang="en-US" sz="1400" dirty="0"/>
          </a:p>
        </p:txBody>
      </p:sp>
      <p:sp>
        <p:nvSpPr>
          <p:cNvPr id="13" name="icon-circle"/>
          <p:cNvSpPr/>
          <p:nvPr/>
        </p:nvSpPr>
        <p:spPr>
          <a:xfrm>
            <a:off x="2800350" y="2103120"/>
            <a:ext cx="731520" cy="731520"/>
          </a:xfrm>
          <a:prstGeom prst="ellipse">
            <a:avLst/>
          </a:prstGeom>
          <a:solidFill>
            <a:schemeClr val="accent1"/>
          </a:solidFill>
          <a:ln w="12700">
            <a:solidFill>
              <a:schemeClr val="accent1"/>
            </a:solidFill>
            <a:prstDash val="solid"/>
          </a:ln>
        </p:spPr>
      </p:sp>
      <p:pic>
        <p:nvPicPr>
          <p:cNvPr id="14" name="icon" descr="preencoded.png">    </p:cNvPr>
          <p:cNvPicPr>
            <a:picLocks noChangeAspect="1"/>
          </p:cNvPicPr>
          <p:nvPr/>
        </p:nvPicPr>
        <p:blipFill>
          <a:blip r:embed="rId2"/>
          <a:stretch>
            <a:fillRect/>
          </a:stretch>
        </p:blipFill>
        <p:spPr>
          <a:xfrm>
            <a:off x="2983230" y="2286000"/>
            <a:ext cx="365760" cy="365760"/>
          </a:xfrm>
          <a:prstGeom prst="rect">
            <a:avLst/>
          </a:prstGeom>
        </p:spPr>
      </p:pic>
      <p:sp>
        <p:nvSpPr>
          <p:cNvPr id="15" name="Text 10"/>
          <p:cNvSpPr txBox="1"/>
          <p:nvPr/>
        </p:nvSpPr>
        <p:spPr>
          <a:xfrm>
            <a:off x="2800350" y="3017520"/>
            <a:ext cx="1428750" cy="548640"/>
          </a:xfrm>
          <a:prstGeom prst="rect">
            <a:avLst/>
          </a:prstGeom>
          <a:noFill/>
          <a:ln/>
        </p:spPr>
        <p:txBody>
          <a:bodyPr wrap="square" lIns="0" tIns="0" rIns="0" bIns="0" rtlCol="0" anchor="t"/>
          <a:lstStyle/>
          <a:p>
            <a:pPr indent="0" marL="0">
              <a:buNone/>
            </a:pPr>
            <a:r>
              <a:rPr lang="en-US" sz="1600" b="1" dirty="0">
                <a:solidFill>
                  <a:schemeClr val="tx2"/>
                </a:solidFill>
              </a:rPr>
              <a:t>Install on macOS</a:t>
            </a:r>
            <a:endParaRPr lang="en-US" sz="1600" dirty="0"/>
          </a:p>
        </p:txBody>
      </p:sp>
      <p:sp>
        <p:nvSpPr>
          <p:cNvPr id="16" name="Text 11"/>
          <p:cNvSpPr txBox="1"/>
          <p:nvPr/>
        </p:nvSpPr>
        <p:spPr>
          <a:xfrm>
            <a:off x="2800350" y="3566160"/>
            <a:ext cx="1428750" cy="685800"/>
          </a:xfrm>
          <a:prstGeom prst="rect">
            <a:avLst/>
          </a:prstGeom>
          <a:noFill/>
          <a:ln/>
        </p:spPr>
        <p:txBody>
          <a:bodyPr wrap="square" lIns="0" tIns="0" rIns="0" bIns="0" rtlCol="0" anchor="t"/>
          <a:lstStyle/>
          <a:p>
            <a:pPr indent="0" marL="0">
              <a:buNone/>
            </a:pPr>
            <a:r>
              <a:rPr lang="en-US" sz="1300" dirty="0">
                <a:solidFill>
                  <a:schemeClr val="tx1"/>
                </a:solidFill>
              </a:rPr>
              <a:t>Command-line tools, SDK, Xcode and CocoaPods</a:t>
            </a:r>
            <a:endParaRPr lang="en-US" sz="1300" dirty="0"/>
          </a:p>
        </p:txBody>
      </p:sp>
      <p:sp>
        <p:nvSpPr>
          <p:cNvPr id="17" name="card"/>
          <p:cNvSpPr/>
          <p:nvPr/>
        </p:nvSpPr>
        <p:spPr>
          <a:xfrm>
            <a:off x="4686300" y="1371600"/>
            <a:ext cx="1885950" cy="2971800"/>
          </a:xfrm>
          <a:prstGeom prst="roundRect">
            <a:avLst>
              <a:gd name="adj" fmla="val 3879"/>
            </a:avLst>
          </a:prstGeom>
          <a:solidFill>
            <a:schemeClr val="bg2"/>
          </a:solidFill>
          <a:ln w="12700">
            <a:solidFill>
              <a:schemeClr val="bg2"/>
            </a:solidFill>
            <a:prstDash val="solid"/>
          </a:ln>
        </p:spPr>
      </p:sp>
      <p:sp>
        <p:nvSpPr>
          <p:cNvPr id="18" name="Text 13"/>
          <p:cNvSpPr txBox="1"/>
          <p:nvPr/>
        </p:nvSpPr>
        <p:spPr>
          <a:xfrm>
            <a:off x="4914900" y="1600200"/>
            <a:ext cx="731520" cy="365760"/>
          </a:xfrm>
          <a:prstGeom prst="rect">
            <a:avLst/>
          </a:prstGeom>
          <a:noFill/>
          <a:ln/>
        </p:spPr>
        <p:txBody>
          <a:bodyPr wrap="square" lIns="0" tIns="0" rIns="0" bIns="0" rtlCol="0" anchor="ctr"/>
          <a:lstStyle/>
          <a:p>
            <a:pPr indent="0" marL="0">
              <a:buNone/>
            </a:pPr>
            <a:r>
              <a:rPr lang="en-US" sz="1400" b="1" dirty="0">
                <a:solidFill>
                  <a:schemeClr val="accent1"/>
                </a:solidFill>
              </a:rPr>
              <a:t>03</a:t>
            </a:r>
            <a:endParaRPr lang="en-US" sz="1400" dirty="0"/>
          </a:p>
        </p:txBody>
      </p:sp>
      <p:sp>
        <p:nvSpPr>
          <p:cNvPr id="19" name="icon-circle"/>
          <p:cNvSpPr/>
          <p:nvPr/>
        </p:nvSpPr>
        <p:spPr>
          <a:xfrm>
            <a:off x="4914900" y="2103120"/>
            <a:ext cx="731520" cy="731520"/>
          </a:xfrm>
          <a:prstGeom prst="ellipse">
            <a:avLst/>
          </a:prstGeom>
          <a:solidFill>
            <a:schemeClr val="accent1"/>
          </a:solidFill>
          <a:ln w="12700">
            <a:solidFill>
              <a:schemeClr val="accent1"/>
            </a:solidFill>
            <a:prstDash val="solid"/>
          </a:ln>
        </p:spPr>
      </p:sp>
      <p:pic>
        <p:nvPicPr>
          <p:cNvPr id="20" name="icon" descr="preencoded.png">    </p:cNvPr>
          <p:cNvPicPr>
            <a:picLocks noChangeAspect="1"/>
          </p:cNvPicPr>
          <p:nvPr/>
        </p:nvPicPr>
        <p:blipFill>
          <a:blip r:embed="rId3"/>
          <a:stretch>
            <a:fillRect/>
          </a:stretch>
        </p:blipFill>
        <p:spPr>
          <a:xfrm>
            <a:off x="5097780" y="2286000"/>
            <a:ext cx="365760" cy="365760"/>
          </a:xfrm>
          <a:prstGeom prst="rect">
            <a:avLst/>
          </a:prstGeom>
        </p:spPr>
      </p:pic>
      <p:sp>
        <p:nvSpPr>
          <p:cNvPr id="21" name="Text 15"/>
          <p:cNvSpPr txBox="1"/>
          <p:nvPr/>
        </p:nvSpPr>
        <p:spPr>
          <a:xfrm>
            <a:off x="4914900" y="3017520"/>
            <a:ext cx="1428750" cy="548640"/>
          </a:xfrm>
          <a:prstGeom prst="rect">
            <a:avLst/>
          </a:prstGeom>
          <a:noFill/>
          <a:ln/>
        </p:spPr>
        <p:txBody>
          <a:bodyPr wrap="square" lIns="0" tIns="0" rIns="0" bIns="0" rtlCol="0" anchor="t"/>
          <a:lstStyle/>
          <a:p>
            <a:pPr indent="0" marL="0">
              <a:buNone/>
            </a:pPr>
            <a:r>
              <a:rPr lang="en-US" sz="1600" b="1" dirty="0">
                <a:solidFill>
                  <a:schemeClr val="tx2"/>
                </a:solidFill>
              </a:rPr>
              <a:t>Create a project</a:t>
            </a:r>
            <a:endParaRPr lang="en-US" sz="1600" dirty="0"/>
          </a:p>
        </p:txBody>
      </p:sp>
      <p:sp>
        <p:nvSpPr>
          <p:cNvPr id="22" name="Text 16"/>
          <p:cNvSpPr txBox="1"/>
          <p:nvPr/>
        </p:nvSpPr>
        <p:spPr>
          <a:xfrm>
            <a:off x="4914900" y="3566160"/>
            <a:ext cx="1428750" cy="685800"/>
          </a:xfrm>
          <a:prstGeom prst="rect">
            <a:avLst/>
          </a:prstGeom>
          <a:noFill/>
          <a:ln/>
        </p:spPr>
        <p:txBody>
          <a:bodyPr wrap="square" lIns="0" tIns="0" rIns="0" bIns="0" rtlCol="0" anchor="t"/>
          <a:lstStyle/>
          <a:p>
            <a:pPr indent="0" marL="0">
              <a:buNone/>
            </a:pPr>
            <a:r>
              <a:rPr lang="en-US" sz="1300" dirty="0">
                <a:solidFill>
                  <a:schemeClr val="tx1"/>
                </a:solidFill>
              </a:rPr>
              <a:t>flutter create, its options, and running the app</a:t>
            </a:r>
            <a:endParaRPr lang="en-US" sz="1300" dirty="0"/>
          </a:p>
        </p:txBody>
      </p:sp>
      <p:sp>
        <p:nvSpPr>
          <p:cNvPr id="23" name="card"/>
          <p:cNvSpPr/>
          <p:nvPr/>
        </p:nvSpPr>
        <p:spPr>
          <a:xfrm>
            <a:off x="6800850" y="1371600"/>
            <a:ext cx="1885950" cy="2971800"/>
          </a:xfrm>
          <a:prstGeom prst="roundRect">
            <a:avLst>
              <a:gd name="adj" fmla="val 3879"/>
            </a:avLst>
          </a:prstGeom>
          <a:solidFill>
            <a:schemeClr val="bg2"/>
          </a:solidFill>
          <a:ln w="12700">
            <a:solidFill>
              <a:schemeClr val="bg2"/>
            </a:solidFill>
            <a:prstDash val="solid"/>
          </a:ln>
        </p:spPr>
      </p:sp>
      <p:sp>
        <p:nvSpPr>
          <p:cNvPr id="24" name="Text 18"/>
          <p:cNvSpPr txBox="1"/>
          <p:nvPr/>
        </p:nvSpPr>
        <p:spPr>
          <a:xfrm>
            <a:off x="7029450" y="1600200"/>
            <a:ext cx="731520" cy="365760"/>
          </a:xfrm>
          <a:prstGeom prst="rect">
            <a:avLst/>
          </a:prstGeom>
          <a:noFill/>
          <a:ln/>
        </p:spPr>
        <p:txBody>
          <a:bodyPr wrap="square" lIns="0" tIns="0" rIns="0" bIns="0" rtlCol="0" anchor="ctr"/>
          <a:lstStyle/>
          <a:p>
            <a:pPr indent="0" marL="0">
              <a:buNone/>
            </a:pPr>
            <a:r>
              <a:rPr lang="en-US" sz="1400" b="1" dirty="0">
                <a:solidFill>
                  <a:schemeClr val="accent1"/>
                </a:solidFill>
              </a:rPr>
              <a:t>04</a:t>
            </a:r>
            <a:endParaRPr lang="en-US" sz="1400" dirty="0"/>
          </a:p>
        </p:txBody>
      </p:sp>
      <p:sp>
        <p:nvSpPr>
          <p:cNvPr id="25" name="icon-circle"/>
          <p:cNvSpPr/>
          <p:nvPr/>
        </p:nvSpPr>
        <p:spPr>
          <a:xfrm>
            <a:off x="7029450" y="2103120"/>
            <a:ext cx="731520" cy="731520"/>
          </a:xfrm>
          <a:prstGeom prst="ellipse">
            <a:avLst/>
          </a:prstGeom>
          <a:solidFill>
            <a:schemeClr val="accent1"/>
          </a:solidFill>
          <a:ln w="12700">
            <a:solidFill>
              <a:schemeClr val="accent1"/>
            </a:solidFill>
            <a:prstDash val="solid"/>
          </a:ln>
        </p:spPr>
      </p:sp>
      <p:pic>
        <p:nvPicPr>
          <p:cNvPr id="26" name="icon" descr="preencoded.png">    </p:cNvPr>
          <p:cNvPicPr>
            <a:picLocks noChangeAspect="1"/>
          </p:cNvPicPr>
          <p:nvPr/>
        </p:nvPicPr>
        <p:blipFill>
          <a:blip r:embed="rId4"/>
          <a:stretch>
            <a:fillRect/>
          </a:stretch>
        </p:blipFill>
        <p:spPr>
          <a:xfrm>
            <a:off x="7212330" y="2286000"/>
            <a:ext cx="365760" cy="365760"/>
          </a:xfrm>
          <a:prstGeom prst="rect">
            <a:avLst/>
          </a:prstGeom>
        </p:spPr>
      </p:pic>
      <p:sp>
        <p:nvSpPr>
          <p:cNvPr id="27" name="Text 20"/>
          <p:cNvSpPr txBox="1"/>
          <p:nvPr/>
        </p:nvSpPr>
        <p:spPr>
          <a:xfrm>
            <a:off x="7029450" y="3017520"/>
            <a:ext cx="1428750" cy="548640"/>
          </a:xfrm>
          <a:prstGeom prst="rect">
            <a:avLst/>
          </a:prstGeom>
          <a:noFill/>
          <a:ln/>
        </p:spPr>
        <p:txBody>
          <a:bodyPr wrap="square" lIns="0" tIns="0" rIns="0" bIns="0" rtlCol="0" anchor="t"/>
          <a:lstStyle/>
          <a:p>
            <a:pPr indent="0" marL="0">
              <a:buNone/>
            </a:pPr>
            <a:r>
              <a:rPr lang="en-US" sz="1600" b="1" dirty="0">
                <a:solidFill>
                  <a:schemeClr val="tx2"/>
                </a:solidFill>
              </a:rPr>
              <a:t>Project structure</a:t>
            </a:r>
            <a:endParaRPr lang="en-US" sz="1600" dirty="0"/>
          </a:p>
        </p:txBody>
      </p:sp>
      <p:sp>
        <p:nvSpPr>
          <p:cNvPr id="28" name="Text 21"/>
          <p:cNvSpPr txBox="1"/>
          <p:nvPr/>
        </p:nvSpPr>
        <p:spPr>
          <a:xfrm>
            <a:off x="7029450" y="3566160"/>
            <a:ext cx="1428750" cy="685800"/>
          </a:xfrm>
          <a:prstGeom prst="rect">
            <a:avLst/>
          </a:prstGeom>
          <a:noFill/>
          <a:ln/>
        </p:spPr>
        <p:txBody>
          <a:bodyPr wrap="square" lIns="0" tIns="0" rIns="0" bIns="0" rtlCol="0" anchor="t"/>
          <a:lstStyle/>
          <a:p>
            <a:pPr indent="0" marL="0">
              <a:buNone/>
            </a:pPr>
            <a:r>
              <a:rPr lang="en-US" sz="1300" dirty="0">
                <a:solidFill>
                  <a:schemeClr val="tx1"/>
                </a:solidFill>
              </a:rPr>
              <a:t>Every generated file and folder, and what it is for</a:t>
            </a:r>
            <a:endParaRPr lang="en-US" sz="1300" dirty="0"/>
          </a:p>
        </p:txBody>
      </p:sp>
      <p:sp>
        <p:nvSpPr>
          <p:cNvPr id="25" name="Slide Number Placeholder 0"/>
          <p:cNvSpPr>
            <a:spLocks noGrp="1"/>
          </p:cNvSpPr>
          <p:nvPr>
            <p:ph type="sldNum" sz="quarter" idx="4294967295"/>
          </p:nvPr>
        </p:nvSpPr>
        <p:spPr>
          <a:xfrm>
            <a:off x="8229600" y="4773168"/>
            <a:ext cx="457200" cy="237744"/>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4748B"/>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457200" y="228600"/>
            <a:ext cx="8229600" cy="256032"/>
          </a:xfrm>
          <a:prstGeom prst="rect">
            <a:avLst/>
          </a:prstGeom>
          <a:noFill/>
          <a:ln/>
        </p:spPr>
        <p:txBody>
          <a:bodyPr wrap="square" lIns="0" tIns="0" rIns="0" bIns="0" rtlCol="0" anchor="ctr"/>
          <a:lstStyle/>
          <a:p>
            <a:pPr indent="0" marL="0">
              <a:buNone/>
            </a:pPr>
            <a:r>
              <a:rPr lang="en-US" sz="1100" b="1" spc="200" kern="0" dirty="0">
                <a:solidFill>
                  <a:schemeClr val="accent1"/>
                </a:solidFill>
              </a:rPr>
              <a:t>PART 1 · INSTALLATION</a:t>
            </a:r>
            <a:endParaRPr lang="en-US" sz="1100" dirty="0"/>
          </a:p>
        </p:txBody>
      </p:sp>
      <p:sp>
        <p:nvSpPr>
          <p:cNvPr id="3" name="Text 0"/>
          <p:cNvSpPr/>
          <p:nvPr>
            <p:ph idx="101" type="title" hasCustomPrompt="1"/>
          </p:nvPr>
        </p:nvSpPr>
        <p:spPr>
          <a:xfrm>
            <a:off x="457200" y="502920"/>
            <a:ext cx="8229600" cy="566928"/>
          </a:xfrm>
          <a:prstGeom prst="rect">
            <a:avLst/>
          </a:prstGeom>
          <a:noFill/>
          <a:ln/>
        </p:spPr>
        <p:txBody>
          <a:bodyPr wrap="square" lIns="0" tIns="0" rIns="0" bIns="0" rtlCol="0" anchor="ctr"/>
          <a:lstStyle/>
          <a:p>
            <a:pPr indent="0" marL="0">
              <a:buNone/>
            </a:pPr>
            <a:r>
              <a:rPr lang="en-US" sz="2800" b="1" dirty="0">
                <a:solidFill>
                  <a:schemeClr val="tx2"/>
                </a:solidFill>
              </a:rPr>
              <a:t>What you need before installing</a:t>
            </a:r>
            <a:endParaRPr lang="en-US" sz="2800" dirty="0"/>
          </a:p>
        </p:txBody>
      </p:sp>
      <p:sp>
        <p:nvSpPr>
          <p:cNvPr id="5" name="card"/>
          <p:cNvSpPr/>
          <p:nvPr/>
        </p:nvSpPr>
        <p:spPr>
          <a:xfrm>
            <a:off x="457200" y="1280160"/>
            <a:ext cx="3977640" cy="3291840"/>
          </a:xfrm>
          <a:prstGeom prst="roundRect">
            <a:avLst>
              <a:gd name="adj" fmla="val 2222"/>
            </a:avLst>
          </a:prstGeom>
          <a:solidFill>
            <a:schemeClr val="bg2"/>
          </a:solidFill>
          <a:ln w="12700">
            <a:solidFill>
              <a:schemeClr val="bg2"/>
            </a:solidFill>
            <a:prstDash val="solid"/>
          </a:ln>
        </p:spPr>
      </p:sp>
      <p:sp>
        <p:nvSpPr>
          <p:cNvPr id="6" name="icon-circle"/>
          <p:cNvSpPr/>
          <p:nvPr/>
        </p:nvSpPr>
        <p:spPr>
          <a:xfrm>
            <a:off x="685800" y="1481328"/>
            <a:ext cx="502920" cy="502920"/>
          </a:xfrm>
          <a:prstGeom prst="ellipse">
            <a:avLst/>
          </a:prstGeom>
          <a:solidFill>
            <a:schemeClr val="accent1"/>
          </a:solidFill>
          <a:ln w="12700">
            <a:solidFill>
              <a:schemeClr val="accent1"/>
            </a:solidFill>
            <a:prstDash val="solid"/>
          </a:ln>
        </p:spPr>
      </p:sp>
      <p:pic>
        <p:nvPicPr>
          <p:cNvPr id="7" name="icon" descr="preencoded.png">    </p:cNvPr>
          <p:cNvPicPr>
            <a:picLocks noChangeAspect="1"/>
          </p:cNvPicPr>
          <p:nvPr/>
        </p:nvPicPr>
        <p:blipFill>
          <a:blip r:embed="rId1"/>
          <a:stretch>
            <a:fillRect/>
          </a:stretch>
        </p:blipFill>
        <p:spPr>
          <a:xfrm>
            <a:off x="811530" y="1607058"/>
            <a:ext cx="251460" cy="251460"/>
          </a:xfrm>
          <a:prstGeom prst="rect">
            <a:avLst/>
          </a:prstGeom>
        </p:spPr>
      </p:pic>
      <p:sp>
        <p:nvSpPr>
          <p:cNvPr id="8" name="Text 4"/>
          <p:cNvSpPr txBox="1"/>
          <p:nvPr/>
        </p:nvSpPr>
        <p:spPr>
          <a:xfrm>
            <a:off x="1325880" y="1481328"/>
            <a:ext cx="2743200" cy="502920"/>
          </a:xfrm>
          <a:prstGeom prst="rect">
            <a:avLst/>
          </a:prstGeom>
          <a:noFill/>
          <a:ln/>
        </p:spPr>
        <p:txBody>
          <a:bodyPr wrap="square" lIns="0" tIns="0" rIns="0" bIns="0" rtlCol="0" anchor="ctr"/>
          <a:lstStyle/>
          <a:p>
            <a:pPr indent="0" marL="0">
              <a:buNone/>
            </a:pPr>
            <a:r>
              <a:rPr lang="en-US" sz="1800" b="1" dirty="0">
                <a:solidFill>
                  <a:schemeClr val="tx2"/>
                </a:solidFill>
              </a:rPr>
              <a:t>Windows</a:t>
            </a:r>
            <a:endParaRPr lang="en-US" sz="1800" dirty="0"/>
          </a:p>
        </p:txBody>
      </p:sp>
      <p:sp>
        <p:nvSpPr>
          <p:cNvPr id="9" name="Text 5"/>
          <p:cNvSpPr txBox="1"/>
          <p:nvPr/>
        </p:nvSpPr>
        <p:spPr>
          <a:xfrm>
            <a:off x="685800" y="2148840"/>
            <a:ext cx="3520440" cy="2286000"/>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chemeClr val="tx1"/>
                </a:solidFill>
              </a:rPr>
              <a:t>Windows 10 or 11, 64-bit</a:t>
            </a:r>
            <a:endParaRPr lang="en-US" sz="1300" dirty="0"/>
          </a:p>
          <a:p>
            <a:pPr marL="342900" indent="-342900">
              <a:spcAft>
                <a:spcPts val="500"/>
              </a:spcAft>
              <a:buSzPct val="100000"/>
              <a:buChar char="•"/>
            </a:pPr>
            <a:r>
              <a:rPr lang="en-US" sz="1300" dirty="0">
                <a:solidFill>
                  <a:schemeClr val="tx1"/>
                </a:solidFill>
              </a:rPr>
              <a:t>Git for Windows (git-scm.com)</a:t>
            </a:r>
            <a:endParaRPr lang="en-US" sz="1300" dirty="0"/>
          </a:p>
          <a:p>
            <a:pPr marL="342900" indent="-342900">
              <a:spcAft>
                <a:spcPts val="500"/>
              </a:spcAft>
              <a:buSzPct val="100000"/>
              <a:buChar char="•"/>
            </a:pPr>
            <a:r>
              <a:rPr lang="en-US" sz="1300" dirty="0">
                <a:solidFill>
                  <a:schemeClr val="tx1"/>
                </a:solidFill>
              </a:rPr>
              <a:t>VS Code or Android Studio with the Flutter &amp; Dart plugins</a:t>
            </a:r>
            <a:endParaRPr lang="en-US" sz="1300" dirty="0"/>
          </a:p>
          <a:p>
            <a:pPr marL="342900" indent="-342900">
              <a:spcAft>
                <a:spcPts val="500"/>
              </a:spcAft>
              <a:buSzPct val="100000"/>
              <a:buChar char="•"/>
            </a:pPr>
            <a:r>
              <a:rPr lang="en-US" sz="1300" dirty="0">
                <a:solidFill>
                  <a:schemeClr val="tx1"/>
                </a:solidFill>
              </a:rPr>
              <a:t>Android Studio for the Android SDK and emulator</a:t>
            </a:r>
            <a:endParaRPr lang="en-US" sz="1300" dirty="0"/>
          </a:p>
          <a:p>
            <a:pPr marL="342900" indent="-342900">
              <a:spcAft>
                <a:spcPts val="500"/>
              </a:spcAft>
              <a:buSzPct val="100000"/>
              <a:buChar char="•"/>
            </a:pPr>
            <a:r>
              <a:rPr lang="en-US" sz="1300" dirty="0">
                <a:solidFill>
                  <a:schemeClr val="tx1"/>
                </a:solidFill>
              </a:rPr>
              <a:t>Optional: Visual Studio with "Desktop development with C++" for Windows desktop apps</a:t>
            </a:r>
            <a:endParaRPr lang="en-US" sz="1300" dirty="0"/>
          </a:p>
        </p:txBody>
      </p:sp>
      <p:sp>
        <p:nvSpPr>
          <p:cNvPr id="10" name="card"/>
          <p:cNvSpPr/>
          <p:nvPr/>
        </p:nvSpPr>
        <p:spPr>
          <a:xfrm>
            <a:off x="4709160" y="1280160"/>
            <a:ext cx="3977640" cy="3291840"/>
          </a:xfrm>
          <a:prstGeom prst="roundRect">
            <a:avLst>
              <a:gd name="adj" fmla="val 2222"/>
            </a:avLst>
          </a:prstGeom>
          <a:solidFill>
            <a:schemeClr val="bg2"/>
          </a:solidFill>
          <a:ln w="12700">
            <a:solidFill>
              <a:schemeClr val="bg2"/>
            </a:solidFill>
            <a:prstDash val="solid"/>
          </a:ln>
        </p:spPr>
      </p:sp>
      <p:sp>
        <p:nvSpPr>
          <p:cNvPr id="11" name="icon-circle"/>
          <p:cNvSpPr/>
          <p:nvPr/>
        </p:nvSpPr>
        <p:spPr>
          <a:xfrm>
            <a:off x="4937760" y="1481328"/>
            <a:ext cx="502920" cy="502920"/>
          </a:xfrm>
          <a:prstGeom prst="ellipse">
            <a:avLst/>
          </a:prstGeom>
          <a:solidFill>
            <a:schemeClr val="accent1"/>
          </a:solidFill>
          <a:ln w="12700">
            <a:solidFill>
              <a:schemeClr val="accent1"/>
            </a:solidFill>
            <a:prstDash val="solid"/>
          </a:ln>
        </p:spPr>
      </p:sp>
      <p:pic>
        <p:nvPicPr>
          <p:cNvPr id="12" name="icon" descr="preencoded.png">    </p:cNvPr>
          <p:cNvPicPr>
            <a:picLocks noChangeAspect="1"/>
          </p:cNvPicPr>
          <p:nvPr/>
        </p:nvPicPr>
        <p:blipFill>
          <a:blip r:embed="rId2"/>
          <a:stretch>
            <a:fillRect/>
          </a:stretch>
        </p:blipFill>
        <p:spPr>
          <a:xfrm>
            <a:off x="5063490" y="1607058"/>
            <a:ext cx="251460" cy="251460"/>
          </a:xfrm>
          <a:prstGeom prst="rect">
            <a:avLst/>
          </a:prstGeom>
        </p:spPr>
      </p:pic>
      <p:sp>
        <p:nvSpPr>
          <p:cNvPr id="13" name="Text 8"/>
          <p:cNvSpPr txBox="1"/>
          <p:nvPr/>
        </p:nvSpPr>
        <p:spPr>
          <a:xfrm>
            <a:off x="5577840" y="1481328"/>
            <a:ext cx="2743200" cy="502920"/>
          </a:xfrm>
          <a:prstGeom prst="rect">
            <a:avLst/>
          </a:prstGeom>
          <a:noFill/>
          <a:ln/>
        </p:spPr>
        <p:txBody>
          <a:bodyPr wrap="square" lIns="0" tIns="0" rIns="0" bIns="0" rtlCol="0" anchor="ctr"/>
          <a:lstStyle/>
          <a:p>
            <a:pPr indent="0" marL="0">
              <a:buNone/>
            </a:pPr>
            <a:r>
              <a:rPr lang="en-US" sz="1800" b="1" dirty="0">
                <a:solidFill>
                  <a:schemeClr val="tx2"/>
                </a:solidFill>
              </a:rPr>
              <a:t>macOS</a:t>
            </a:r>
            <a:endParaRPr lang="en-US" sz="1800" dirty="0"/>
          </a:p>
        </p:txBody>
      </p:sp>
      <p:sp>
        <p:nvSpPr>
          <p:cNvPr id="14" name="Text 9"/>
          <p:cNvSpPr txBox="1"/>
          <p:nvPr/>
        </p:nvSpPr>
        <p:spPr>
          <a:xfrm>
            <a:off x="4937760" y="2148840"/>
            <a:ext cx="3520440" cy="2286000"/>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chemeClr val="tx1"/>
                </a:solidFill>
              </a:rPr>
              <a:t>A macOS version supported by the current Flutter release</a:t>
            </a:r>
            <a:endParaRPr lang="en-US" sz="1300" dirty="0"/>
          </a:p>
          <a:p>
            <a:pPr marL="342900" indent="-342900">
              <a:spcAft>
                <a:spcPts val="500"/>
              </a:spcAft>
              <a:buSzPct val="100000"/>
              <a:buChar char="•"/>
            </a:pPr>
            <a:r>
              <a:rPr lang="en-US" sz="1300" dirty="0">
                <a:solidFill>
                  <a:schemeClr val="tx1"/>
                </a:solidFill>
              </a:rPr>
              <a:t>Xcode command-line tools; full Xcode (App Store) for iOS</a:t>
            </a:r>
            <a:endParaRPr lang="en-US" sz="1300" dirty="0"/>
          </a:p>
          <a:p>
            <a:pPr marL="342900" indent="-342900">
              <a:spcAft>
                <a:spcPts val="500"/>
              </a:spcAft>
              <a:buSzPct val="100000"/>
              <a:buChar char="•"/>
            </a:pPr>
            <a:r>
              <a:rPr lang="en-US" sz="1300" dirty="0">
                <a:solidFill>
                  <a:schemeClr val="tx1"/>
                </a:solidFill>
              </a:rPr>
              <a:t>CocoaPods for plugins on iOS / macOS</a:t>
            </a:r>
            <a:endParaRPr lang="en-US" sz="1300" dirty="0"/>
          </a:p>
          <a:p>
            <a:pPr marL="342900" indent="-342900">
              <a:spcAft>
                <a:spcPts val="500"/>
              </a:spcAft>
              <a:buSzPct val="100000"/>
              <a:buChar char="•"/>
            </a:pPr>
            <a:r>
              <a:rPr lang="en-US" sz="1300" dirty="0">
                <a:solidFill>
                  <a:schemeClr val="tx1"/>
                </a:solidFill>
              </a:rPr>
              <a:t>Rosetta 2 on Apple-silicon Macs</a:t>
            </a:r>
            <a:endParaRPr lang="en-US" sz="1300" dirty="0"/>
          </a:p>
          <a:p>
            <a:pPr marL="342900" indent="-342900">
              <a:spcAft>
                <a:spcPts val="500"/>
              </a:spcAft>
              <a:buSzPct val="100000"/>
              <a:buChar char="•"/>
            </a:pPr>
            <a:r>
              <a:rPr lang="en-US" sz="1300" dirty="0">
                <a:solidFill>
                  <a:schemeClr val="tx1"/>
                </a:solidFill>
              </a:rPr>
              <a:t>Android Studio + VS Code (Flutter &amp; Dart plugins)</a:t>
            </a:r>
            <a:endParaRPr lang="en-US" sz="1300" dirty="0"/>
          </a:p>
        </p:txBody>
      </p:sp>
      <p:sp>
        <p:nvSpPr>
          <p:cNvPr id="25" name="Slide Number Placeholder 0"/>
          <p:cNvSpPr>
            <a:spLocks noGrp="1"/>
          </p:cNvSpPr>
          <p:nvPr>
            <p:ph type="sldNum" sz="quarter" idx="4294967295"/>
          </p:nvPr>
        </p:nvSpPr>
        <p:spPr>
          <a:xfrm>
            <a:off x="8229600" y="4773168"/>
            <a:ext cx="457200" cy="237744"/>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4748B"/>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457200" y="228600"/>
            <a:ext cx="8229600" cy="256032"/>
          </a:xfrm>
          <a:prstGeom prst="rect">
            <a:avLst/>
          </a:prstGeom>
          <a:noFill/>
          <a:ln/>
        </p:spPr>
        <p:txBody>
          <a:bodyPr wrap="square" lIns="0" tIns="0" rIns="0" bIns="0" rtlCol="0" anchor="ctr"/>
          <a:lstStyle/>
          <a:p>
            <a:pPr indent="0" marL="0">
              <a:buNone/>
            </a:pPr>
            <a:r>
              <a:rPr lang="en-US" sz="1100" b="1" spc="200" kern="0" dirty="0">
                <a:solidFill>
                  <a:schemeClr val="accent1"/>
                </a:solidFill>
              </a:rPr>
              <a:t>PART 1 · WINDOWS</a:t>
            </a:r>
            <a:endParaRPr lang="en-US" sz="1100" dirty="0"/>
          </a:p>
        </p:txBody>
      </p:sp>
      <p:sp>
        <p:nvSpPr>
          <p:cNvPr id="3" name="Text 0"/>
          <p:cNvSpPr/>
          <p:nvPr>
            <p:ph idx="101" type="title" hasCustomPrompt="1"/>
          </p:nvPr>
        </p:nvSpPr>
        <p:spPr>
          <a:xfrm>
            <a:off x="457200" y="502920"/>
            <a:ext cx="8229600" cy="566928"/>
          </a:xfrm>
          <a:prstGeom prst="rect">
            <a:avLst/>
          </a:prstGeom>
          <a:noFill/>
          <a:ln/>
        </p:spPr>
        <p:txBody>
          <a:bodyPr wrap="square" lIns="0" tIns="0" rIns="0" bIns="0" rtlCol="0" anchor="ctr"/>
          <a:lstStyle/>
          <a:p>
            <a:pPr indent="0" marL="0">
              <a:buNone/>
            </a:pPr>
            <a:r>
              <a:rPr lang="en-US" sz="2800" b="1" dirty="0">
                <a:solidFill>
                  <a:schemeClr val="tx2"/>
                </a:solidFill>
              </a:rPr>
              <a:t>Installing Flutter on Windows</a:t>
            </a:r>
            <a:endParaRPr lang="en-US" sz="2800" dirty="0"/>
          </a:p>
        </p:txBody>
      </p:sp>
      <p:sp>
        <p:nvSpPr>
          <p:cNvPr id="5" name="card"/>
          <p:cNvSpPr/>
          <p:nvPr/>
        </p:nvSpPr>
        <p:spPr>
          <a:xfrm>
            <a:off x="457200" y="1280160"/>
            <a:ext cx="2560320" cy="1508760"/>
          </a:xfrm>
          <a:prstGeom prst="roundRect">
            <a:avLst>
              <a:gd name="adj" fmla="val 4848"/>
            </a:avLst>
          </a:prstGeom>
          <a:solidFill>
            <a:schemeClr val="bg2"/>
          </a:solidFill>
          <a:ln w="12700">
            <a:solidFill>
              <a:schemeClr val="bg2"/>
            </a:solidFill>
            <a:prstDash val="solid"/>
          </a:ln>
        </p:spPr>
      </p:sp>
      <p:sp>
        <p:nvSpPr>
          <p:cNvPr id="6" name="badge"/>
          <p:cNvSpPr/>
          <p:nvPr/>
        </p:nvSpPr>
        <p:spPr>
          <a:xfrm>
            <a:off x="621792" y="1444752"/>
            <a:ext cx="411480" cy="411480"/>
          </a:xfrm>
          <a:prstGeom prst="ellipse">
            <a:avLst/>
          </a:prstGeom>
          <a:solidFill>
            <a:schemeClr val="accent1"/>
          </a:solidFill>
          <a:ln w="12700">
            <a:solidFill>
              <a:schemeClr val="accent1"/>
            </a:solidFill>
            <a:prstDash val="solid"/>
          </a:ln>
        </p:spPr>
      </p:sp>
      <p:sp>
        <p:nvSpPr>
          <p:cNvPr id="7" name="Text 4"/>
          <p:cNvSpPr txBox="1"/>
          <p:nvPr/>
        </p:nvSpPr>
        <p:spPr>
          <a:xfrm>
            <a:off x="621792" y="1444752"/>
            <a:ext cx="411480" cy="41148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8" name="Text 5"/>
          <p:cNvSpPr txBox="1"/>
          <p:nvPr/>
        </p:nvSpPr>
        <p:spPr>
          <a:xfrm>
            <a:off x="1143000" y="1444752"/>
            <a:ext cx="1737360" cy="411480"/>
          </a:xfrm>
          <a:prstGeom prst="rect">
            <a:avLst/>
          </a:prstGeom>
          <a:noFill/>
          <a:ln/>
        </p:spPr>
        <p:txBody>
          <a:bodyPr wrap="square" lIns="0" tIns="0" rIns="0" bIns="0" rtlCol="0" anchor="ctr"/>
          <a:lstStyle/>
          <a:p>
            <a:pPr indent="0" marL="0">
              <a:buNone/>
            </a:pPr>
            <a:r>
              <a:rPr lang="en-US" sz="1400" b="1" dirty="0">
                <a:solidFill>
                  <a:schemeClr val="tx2"/>
                </a:solidFill>
              </a:rPr>
              <a:t>Install Git</a:t>
            </a:r>
            <a:endParaRPr lang="en-US" sz="1400" dirty="0"/>
          </a:p>
        </p:txBody>
      </p:sp>
      <p:sp>
        <p:nvSpPr>
          <p:cNvPr id="9" name="Text 6"/>
          <p:cNvSpPr txBox="1"/>
          <p:nvPr/>
        </p:nvSpPr>
        <p:spPr>
          <a:xfrm>
            <a:off x="621792" y="1965960"/>
            <a:ext cx="2231136" cy="704088"/>
          </a:xfrm>
          <a:prstGeom prst="rect">
            <a:avLst/>
          </a:prstGeom>
          <a:noFill/>
          <a:ln/>
        </p:spPr>
        <p:txBody>
          <a:bodyPr wrap="square" lIns="0" tIns="0" rIns="0" bIns="0" rtlCol="0" anchor="t"/>
          <a:lstStyle/>
          <a:p>
            <a:pPr indent="0" marL="0">
              <a:buNone/>
            </a:pPr>
            <a:r>
              <a:rPr lang="en-US" sz="1200" dirty="0">
                <a:solidFill>
                  <a:schemeClr val="tx1"/>
                </a:solidFill>
              </a:rPr>
              <a:t>Download Git for Windows from git-scm.com and keep the "Git from the command line" option.</a:t>
            </a:r>
            <a:endParaRPr lang="en-US" sz="1200" dirty="0"/>
          </a:p>
        </p:txBody>
      </p:sp>
      <p:sp>
        <p:nvSpPr>
          <p:cNvPr id="10" name="card"/>
          <p:cNvSpPr/>
          <p:nvPr/>
        </p:nvSpPr>
        <p:spPr>
          <a:xfrm>
            <a:off x="3291840" y="1280160"/>
            <a:ext cx="2560320" cy="1508760"/>
          </a:xfrm>
          <a:prstGeom prst="roundRect">
            <a:avLst>
              <a:gd name="adj" fmla="val 4848"/>
            </a:avLst>
          </a:prstGeom>
          <a:solidFill>
            <a:schemeClr val="bg2"/>
          </a:solidFill>
          <a:ln w="12700">
            <a:solidFill>
              <a:schemeClr val="bg2"/>
            </a:solidFill>
            <a:prstDash val="solid"/>
          </a:ln>
        </p:spPr>
      </p:sp>
      <p:sp>
        <p:nvSpPr>
          <p:cNvPr id="11" name="badge"/>
          <p:cNvSpPr/>
          <p:nvPr/>
        </p:nvSpPr>
        <p:spPr>
          <a:xfrm>
            <a:off x="3456432" y="1444752"/>
            <a:ext cx="411480" cy="411480"/>
          </a:xfrm>
          <a:prstGeom prst="ellipse">
            <a:avLst/>
          </a:prstGeom>
          <a:solidFill>
            <a:schemeClr val="accent1"/>
          </a:solidFill>
          <a:ln w="12700">
            <a:solidFill>
              <a:schemeClr val="accent1"/>
            </a:solidFill>
            <a:prstDash val="solid"/>
          </a:ln>
        </p:spPr>
      </p:sp>
      <p:sp>
        <p:nvSpPr>
          <p:cNvPr id="12" name="Text 9"/>
          <p:cNvSpPr txBox="1"/>
          <p:nvPr/>
        </p:nvSpPr>
        <p:spPr>
          <a:xfrm>
            <a:off x="3456432" y="1444752"/>
            <a:ext cx="411480" cy="41148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3" name="Text 10"/>
          <p:cNvSpPr txBox="1"/>
          <p:nvPr/>
        </p:nvSpPr>
        <p:spPr>
          <a:xfrm>
            <a:off x="3977640" y="1444752"/>
            <a:ext cx="1737360" cy="411480"/>
          </a:xfrm>
          <a:prstGeom prst="rect">
            <a:avLst/>
          </a:prstGeom>
          <a:noFill/>
          <a:ln/>
        </p:spPr>
        <p:txBody>
          <a:bodyPr wrap="square" lIns="0" tIns="0" rIns="0" bIns="0" rtlCol="0" anchor="ctr"/>
          <a:lstStyle/>
          <a:p>
            <a:pPr indent="0" marL="0">
              <a:buNone/>
            </a:pPr>
            <a:r>
              <a:rPr lang="en-US" sz="1400" b="1" dirty="0">
                <a:solidFill>
                  <a:schemeClr val="tx2"/>
                </a:solidFill>
              </a:rPr>
              <a:t>Download the SDK</a:t>
            </a:r>
            <a:endParaRPr lang="en-US" sz="1400" dirty="0"/>
          </a:p>
        </p:txBody>
      </p:sp>
      <p:sp>
        <p:nvSpPr>
          <p:cNvPr id="14" name="Text 11"/>
          <p:cNvSpPr txBox="1"/>
          <p:nvPr/>
        </p:nvSpPr>
        <p:spPr>
          <a:xfrm>
            <a:off x="3456432" y="1965960"/>
            <a:ext cx="2231136" cy="704088"/>
          </a:xfrm>
          <a:prstGeom prst="rect">
            <a:avLst/>
          </a:prstGeom>
          <a:noFill/>
          <a:ln/>
        </p:spPr>
        <p:txBody>
          <a:bodyPr wrap="square" lIns="0" tIns="0" rIns="0" bIns="0" rtlCol="0" anchor="t"/>
          <a:lstStyle/>
          <a:p>
            <a:pPr indent="0" marL="0">
              <a:buNone/>
            </a:pPr>
            <a:r>
              <a:rPr lang="en-US" sz="1200" dirty="0">
                <a:solidFill>
                  <a:schemeClr val="tx1"/>
                </a:solidFill>
              </a:rPr>
              <a:t>docs.flutter.dev → Install → Windows → download the latest stable flutter_windows_…zip.</a:t>
            </a:r>
            <a:endParaRPr lang="en-US" sz="1200" dirty="0"/>
          </a:p>
        </p:txBody>
      </p:sp>
      <p:sp>
        <p:nvSpPr>
          <p:cNvPr id="15" name="card"/>
          <p:cNvSpPr/>
          <p:nvPr/>
        </p:nvSpPr>
        <p:spPr>
          <a:xfrm>
            <a:off x="6126480" y="1280160"/>
            <a:ext cx="2560320" cy="1508760"/>
          </a:xfrm>
          <a:prstGeom prst="roundRect">
            <a:avLst>
              <a:gd name="adj" fmla="val 4848"/>
            </a:avLst>
          </a:prstGeom>
          <a:solidFill>
            <a:schemeClr val="bg2"/>
          </a:solidFill>
          <a:ln w="12700">
            <a:solidFill>
              <a:schemeClr val="bg2"/>
            </a:solidFill>
            <a:prstDash val="solid"/>
          </a:ln>
        </p:spPr>
      </p:sp>
      <p:sp>
        <p:nvSpPr>
          <p:cNvPr id="16" name="badge"/>
          <p:cNvSpPr/>
          <p:nvPr/>
        </p:nvSpPr>
        <p:spPr>
          <a:xfrm>
            <a:off x="6291072" y="1444752"/>
            <a:ext cx="411480" cy="411480"/>
          </a:xfrm>
          <a:prstGeom prst="ellipse">
            <a:avLst/>
          </a:prstGeom>
          <a:solidFill>
            <a:schemeClr val="accent1"/>
          </a:solidFill>
          <a:ln w="12700">
            <a:solidFill>
              <a:schemeClr val="accent1"/>
            </a:solidFill>
            <a:prstDash val="solid"/>
          </a:ln>
        </p:spPr>
      </p:sp>
      <p:sp>
        <p:nvSpPr>
          <p:cNvPr id="17" name="Text 14"/>
          <p:cNvSpPr txBox="1"/>
          <p:nvPr/>
        </p:nvSpPr>
        <p:spPr>
          <a:xfrm>
            <a:off x="6291072" y="1444752"/>
            <a:ext cx="411480" cy="41148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8" name="Text 15"/>
          <p:cNvSpPr txBox="1"/>
          <p:nvPr/>
        </p:nvSpPr>
        <p:spPr>
          <a:xfrm>
            <a:off x="6812280" y="1444752"/>
            <a:ext cx="1737360" cy="411480"/>
          </a:xfrm>
          <a:prstGeom prst="rect">
            <a:avLst/>
          </a:prstGeom>
          <a:noFill/>
          <a:ln/>
        </p:spPr>
        <p:txBody>
          <a:bodyPr wrap="square" lIns="0" tIns="0" rIns="0" bIns="0" rtlCol="0" anchor="ctr"/>
          <a:lstStyle/>
          <a:p>
            <a:pPr indent="0" marL="0">
              <a:buNone/>
            </a:pPr>
            <a:r>
              <a:rPr lang="en-US" sz="1400" b="1" dirty="0">
                <a:solidFill>
                  <a:schemeClr val="tx2"/>
                </a:solidFill>
              </a:rPr>
              <a:t>Extract it</a:t>
            </a:r>
            <a:endParaRPr lang="en-US" sz="1400" dirty="0"/>
          </a:p>
        </p:txBody>
      </p:sp>
      <p:sp>
        <p:nvSpPr>
          <p:cNvPr id="19" name="Text 16"/>
          <p:cNvSpPr txBox="1"/>
          <p:nvPr/>
        </p:nvSpPr>
        <p:spPr>
          <a:xfrm>
            <a:off x="6291072" y="1965960"/>
            <a:ext cx="2231136" cy="704088"/>
          </a:xfrm>
          <a:prstGeom prst="rect">
            <a:avLst/>
          </a:prstGeom>
          <a:noFill/>
          <a:ln/>
        </p:spPr>
        <p:txBody>
          <a:bodyPr wrap="square" lIns="0" tIns="0" rIns="0" bIns="0" rtlCol="0" anchor="t"/>
          <a:lstStyle/>
          <a:p>
            <a:pPr indent="0" marL="0">
              <a:buNone/>
            </a:pPr>
            <a:r>
              <a:rPr lang="en-US" sz="1200" dirty="0">
                <a:solidFill>
                  <a:schemeClr val="tx1"/>
                </a:solidFill>
              </a:rPr>
              <a:t>Unzip to %USERPROFILE%\develop\flutter. Avoid C:\Program Files and paths with spaces.</a:t>
            </a:r>
            <a:endParaRPr lang="en-US" sz="1200" dirty="0"/>
          </a:p>
        </p:txBody>
      </p:sp>
      <p:sp>
        <p:nvSpPr>
          <p:cNvPr id="20" name="card"/>
          <p:cNvSpPr/>
          <p:nvPr/>
        </p:nvSpPr>
        <p:spPr>
          <a:xfrm>
            <a:off x="457200" y="3063240"/>
            <a:ext cx="2560320" cy="1508760"/>
          </a:xfrm>
          <a:prstGeom prst="roundRect">
            <a:avLst>
              <a:gd name="adj" fmla="val 4848"/>
            </a:avLst>
          </a:prstGeom>
          <a:solidFill>
            <a:schemeClr val="bg2"/>
          </a:solidFill>
          <a:ln w="12700">
            <a:solidFill>
              <a:schemeClr val="bg2"/>
            </a:solidFill>
            <a:prstDash val="solid"/>
          </a:ln>
        </p:spPr>
      </p:sp>
      <p:sp>
        <p:nvSpPr>
          <p:cNvPr id="21" name="badge"/>
          <p:cNvSpPr/>
          <p:nvPr/>
        </p:nvSpPr>
        <p:spPr>
          <a:xfrm>
            <a:off x="621792" y="3227832"/>
            <a:ext cx="411480" cy="411480"/>
          </a:xfrm>
          <a:prstGeom prst="ellipse">
            <a:avLst/>
          </a:prstGeom>
          <a:solidFill>
            <a:schemeClr val="accent1"/>
          </a:solidFill>
          <a:ln w="12700">
            <a:solidFill>
              <a:schemeClr val="accent1"/>
            </a:solidFill>
            <a:prstDash val="solid"/>
          </a:ln>
        </p:spPr>
      </p:sp>
      <p:sp>
        <p:nvSpPr>
          <p:cNvPr id="22" name="Text 19"/>
          <p:cNvSpPr txBox="1"/>
          <p:nvPr/>
        </p:nvSpPr>
        <p:spPr>
          <a:xfrm>
            <a:off x="621792" y="3227832"/>
            <a:ext cx="411480" cy="41148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3" name="Text 20"/>
          <p:cNvSpPr txBox="1"/>
          <p:nvPr/>
        </p:nvSpPr>
        <p:spPr>
          <a:xfrm>
            <a:off x="1143000" y="3227832"/>
            <a:ext cx="1737360" cy="411480"/>
          </a:xfrm>
          <a:prstGeom prst="rect">
            <a:avLst/>
          </a:prstGeom>
          <a:noFill/>
          <a:ln/>
        </p:spPr>
        <p:txBody>
          <a:bodyPr wrap="square" lIns="0" tIns="0" rIns="0" bIns="0" rtlCol="0" anchor="ctr"/>
          <a:lstStyle/>
          <a:p>
            <a:pPr indent="0" marL="0">
              <a:buNone/>
            </a:pPr>
            <a:r>
              <a:rPr lang="en-US" sz="1400" b="1" dirty="0">
                <a:solidFill>
                  <a:schemeClr val="tx2"/>
                </a:solidFill>
              </a:rPr>
              <a:t>Update PATH</a:t>
            </a:r>
            <a:endParaRPr lang="en-US" sz="1400" dirty="0"/>
          </a:p>
        </p:txBody>
      </p:sp>
      <p:sp>
        <p:nvSpPr>
          <p:cNvPr id="24" name="Text 21"/>
          <p:cNvSpPr txBox="1"/>
          <p:nvPr/>
        </p:nvSpPr>
        <p:spPr>
          <a:xfrm>
            <a:off x="621792" y="3749040"/>
            <a:ext cx="2231136" cy="704088"/>
          </a:xfrm>
          <a:prstGeom prst="rect">
            <a:avLst/>
          </a:prstGeom>
          <a:noFill/>
          <a:ln/>
        </p:spPr>
        <p:txBody>
          <a:bodyPr wrap="square" lIns="0" tIns="0" rIns="0" bIns="0" rtlCol="0" anchor="t"/>
          <a:lstStyle/>
          <a:p>
            <a:pPr indent="0" marL="0">
              <a:buNone/>
            </a:pPr>
            <a:r>
              <a:rPr lang="en-US" sz="1200" dirty="0">
                <a:solidFill>
                  <a:schemeClr val="tx1"/>
                </a:solidFill>
              </a:rPr>
              <a:t>Add …\develop\flutter\bin to the user Path environment variable.</a:t>
            </a:r>
            <a:endParaRPr lang="en-US" sz="1200" dirty="0"/>
          </a:p>
        </p:txBody>
      </p:sp>
      <p:sp>
        <p:nvSpPr>
          <p:cNvPr id="25" name="card"/>
          <p:cNvSpPr/>
          <p:nvPr/>
        </p:nvSpPr>
        <p:spPr>
          <a:xfrm>
            <a:off x="3291840" y="3063240"/>
            <a:ext cx="2560320" cy="1508760"/>
          </a:xfrm>
          <a:prstGeom prst="roundRect">
            <a:avLst>
              <a:gd name="adj" fmla="val 4848"/>
            </a:avLst>
          </a:prstGeom>
          <a:solidFill>
            <a:schemeClr val="bg2"/>
          </a:solidFill>
          <a:ln w="12700">
            <a:solidFill>
              <a:schemeClr val="bg2"/>
            </a:solidFill>
            <a:prstDash val="solid"/>
          </a:ln>
        </p:spPr>
      </p:sp>
      <p:sp>
        <p:nvSpPr>
          <p:cNvPr id="26" name="badge"/>
          <p:cNvSpPr/>
          <p:nvPr/>
        </p:nvSpPr>
        <p:spPr>
          <a:xfrm>
            <a:off x="3456432" y="3227832"/>
            <a:ext cx="411480" cy="411480"/>
          </a:xfrm>
          <a:prstGeom prst="ellipse">
            <a:avLst/>
          </a:prstGeom>
          <a:solidFill>
            <a:schemeClr val="accent1"/>
          </a:solidFill>
          <a:ln w="12700">
            <a:solidFill>
              <a:schemeClr val="accent1"/>
            </a:solidFill>
            <a:prstDash val="solid"/>
          </a:ln>
        </p:spPr>
      </p:sp>
      <p:sp>
        <p:nvSpPr>
          <p:cNvPr id="27" name="Text 24"/>
          <p:cNvSpPr txBox="1"/>
          <p:nvPr/>
        </p:nvSpPr>
        <p:spPr>
          <a:xfrm>
            <a:off x="3456432" y="3227832"/>
            <a:ext cx="411480" cy="411480"/>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28" name="Text 25"/>
          <p:cNvSpPr txBox="1"/>
          <p:nvPr/>
        </p:nvSpPr>
        <p:spPr>
          <a:xfrm>
            <a:off x="3977640" y="3227832"/>
            <a:ext cx="1737360" cy="411480"/>
          </a:xfrm>
          <a:prstGeom prst="rect">
            <a:avLst/>
          </a:prstGeom>
          <a:noFill/>
          <a:ln/>
        </p:spPr>
        <p:txBody>
          <a:bodyPr wrap="square" lIns="0" tIns="0" rIns="0" bIns="0" rtlCol="0" anchor="ctr"/>
          <a:lstStyle/>
          <a:p>
            <a:pPr indent="0" marL="0">
              <a:buNone/>
            </a:pPr>
            <a:r>
              <a:rPr lang="en-US" sz="1400" b="1" dirty="0">
                <a:solidFill>
                  <a:schemeClr val="tx2"/>
                </a:solidFill>
              </a:rPr>
              <a:t>Verify</a:t>
            </a:r>
            <a:endParaRPr lang="en-US" sz="1400" dirty="0"/>
          </a:p>
        </p:txBody>
      </p:sp>
      <p:sp>
        <p:nvSpPr>
          <p:cNvPr id="29" name="Text 26"/>
          <p:cNvSpPr txBox="1"/>
          <p:nvPr/>
        </p:nvSpPr>
        <p:spPr>
          <a:xfrm>
            <a:off x="3456432" y="3749040"/>
            <a:ext cx="2231136" cy="704088"/>
          </a:xfrm>
          <a:prstGeom prst="rect">
            <a:avLst/>
          </a:prstGeom>
          <a:noFill/>
          <a:ln/>
        </p:spPr>
        <p:txBody>
          <a:bodyPr wrap="square" lIns="0" tIns="0" rIns="0" bIns="0" rtlCol="0" anchor="t"/>
          <a:lstStyle/>
          <a:p>
            <a:pPr indent="0" marL="0">
              <a:buNone/>
            </a:pPr>
            <a:r>
              <a:rPr lang="en-US" sz="1200" dirty="0">
                <a:solidFill>
                  <a:schemeClr val="tx1"/>
                </a:solidFill>
              </a:rPr>
              <a:t>Open a NEW terminal and run flutter --version, then flutter doctor.</a:t>
            </a:r>
            <a:endParaRPr lang="en-US" sz="1200" dirty="0"/>
          </a:p>
        </p:txBody>
      </p:sp>
      <p:sp>
        <p:nvSpPr>
          <p:cNvPr id="30" name="card"/>
          <p:cNvSpPr/>
          <p:nvPr/>
        </p:nvSpPr>
        <p:spPr>
          <a:xfrm>
            <a:off x="6126480" y="3063240"/>
            <a:ext cx="2560320" cy="1508760"/>
          </a:xfrm>
          <a:prstGeom prst="roundRect">
            <a:avLst>
              <a:gd name="adj" fmla="val 4848"/>
            </a:avLst>
          </a:prstGeom>
          <a:solidFill>
            <a:schemeClr val="bg2"/>
          </a:solidFill>
          <a:ln w="12700">
            <a:solidFill>
              <a:schemeClr val="bg2"/>
            </a:solidFill>
            <a:prstDash val="solid"/>
          </a:ln>
        </p:spPr>
      </p:sp>
      <p:sp>
        <p:nvSpPr>
          <p:cNvPr id="31" name="badge"/>
          <p:cNvSpPr/>
          <p:nvPr/>
        </p:nvSpPr>
        <p:spPr>
          <a:xfrm>
            <a:off x="6291072" y="3227832"/>
            <a:ext cx="411480" cy="411480"/>
          </a:xfrm>
          <a:prstGeom prst="ellipse">
            <a:avLst/>
          </a:prstGeom>
          <a:solidFill>
            <a:schemeClr val="accent1"/>
          </a:solidFill>
          <a:ln w="12700">
            <a:solidFill>
              <a:schemeClr val="accent1"/>
            </a:solidFill>
            <a:prstDash val="solid"/>
          </a:ln>
        </p:spPr>
      </p:sp>
      <p:sp>
        <p:nvSpPr>
          <p:cNvPr id="32" name="Text 29"/>
          <p:cNvSpPr txBox="1"/>
          <p:nvPr/>
        </p:nvSpPr>
        <p:spPr>
          <a:xfrm>
            <a:off x="6291072" y="3227832"/>
            <a:ext cx="411480" cy="411480"/>
          </a:xfrm>
          <a:prstGeom prst="rect">
            <a:avLst/>
          </a:prstGeom>
          <a:noFill/>
          <a:ln/>
        </p:spPr>
        <p:txBody>
          <a:bodyPr wrap="square" lIns="0" tIns="0" rIns="0" bIns="0" rtlCol="0" anchor="ctr"/>
          <a:lstStyle/>
          <a:p>
            <a:pPr algn="ctr" indent="0" marL="0">
              <a:buNone/>
            </a:pPr>
            <a:r>
              <a:rPr lang="en-US" sz="1600" b="1" dirty="0">
                <a:solidFill>
                  <a:schemeClr val="bg1"/>
                </a:solidFill>
              </a:rPr>
              <a:t>6</a:t>
            </a:r>
            <a:endParaRPr lang="en-US" sz="1600" dirty="0"/>
          </a:p>
        </p:txBody>
      </p:sp>
      <p:sp>
        <p:nvSpPr>
          <p:cNvPr id="33" name="Text 30"/>
          <p:cNvSpPr txBox="1"/>
          <p:nvPr/>
        </p:nvSpPr>
        <p:spPr>
          <a:xfrm>
            <a:off x="6812280" y="3227832"/>
            <a:ext cx="1737360" cy="411480"/>
          </a:xfrm>
          <a:prstGeom prst="rect">
            <a:avLst/>
          </a:prstGeom>
          <a:noFill/>
          <a:ln/>
        </p:spPr>
        <p:txBody>
          <a:bodyPr wrap="square" lIns="0" tIns="0" rIns="0" bIns="0" rtlCol="0" anchor="ctr"/>
          <a:lstStyle/>
          <a:p>
            <a:pPr indent="0" marL="0">
              <a:buNone/>
            </a:pPr>
            <a:r>
              <a:rPr lang="en-US" sz="1400" b="1" dirty="0">
                <a:solidFill>
                  <a:schemeClr val="tx2"/>
                </a:solidFill>
              </a:rPr>
              <a:t>Set up Android</a:t>
            </a:r>
            <a:endParaRPr lang="en-US" sz="1400" dirty="0"/>
          </a:p>
        </p:txBody>
      </p:sp>
      <p:sp>
        <p:nvSpPr>
          <p:cNvPr id="34" name="Text 31"/>
          <p:cNvSpPr txBox="1"/>
          <p:nvPr/>
        </p:nvSpPr>
        <p:spPr>
          <a:xfrm>
            <a:off x="6291072" y="3749040"/>
            <a:ext cx="2231136" cy="704088"/>
          </a:xfrm>
          <a:prstGeom prst="rect">
            <a:avLst/>
          </a:prstGeom>
          <a:noFill/>
          <a:ln/>
        </p:spPr>
        <p:txBody>
          <a:bodyPr wrap="square" lIns="0" tIns="0" rIns="0" bIns="0" rtlCol="0" anchor="t"/>
          <a:lstStyle/>
          <a:p>
            <a:pPr indent="0" marL="0">
              <a:buNone/>
            </a:pPr>
            <a:r>
              <a:rPr lang="en-US" sz="1200" dirty="0">
                <a:solidFill>
                  <a:schemeClr val="tx1"/>
                </a:solidFill>
              </a:rPr>
              <a:t>Install Android Studio, the SDK tools, and accept licences (see Android setup slide).</a:t>
            </a:r>
            <a:endParaRPr lang="en-US" sz="1200" dirty="0"/>
          </a:p>
        </p:txBody>
      </p:sp>
      <p:sp>
        <p:nvSpPr>
          <p:cNvPr id="25" name="Slide Number Placeholder 0"/>
          <p:cNvSpPr>
            <a:spLocks noGrp="1"/>
          </p:cNvSpPr>
          <p:nvPr>
            <p:ph type="sldNum" sz="quarter" idx="4294967295"/>
          </p:nvPr>
        </p:nvSpPr>
        <p:spPr>
          <a:xfrm>
            <a:off x="8229600" y="4773168"/>
            <a:ext cx="457200" cy="237744"/>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4748B"/>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457200" y="228600"/>
            <a:ext cx="8229600" cy="256032"/>
          </a:xfrm>
          <a:prstGeom prst="rect">
            <a:avLst/>
          </a:prstGeom>
          <a:noFill/>
          <a:ln/>
        </p:spPr>
        <p:txBody>
          <a:bodyPr wrap="square" lIns="0" tIns="0" rIns="0" bIns="0" rtlCol="0" anchor="ctr"/>
          <a:lstStyle/>
          <a:p>
            <a:pPr indent="0" marL="0">
              <a:buNone/>
            </a:pPr>
            <a:r>
              <a:rPr lang="en-US" sz="1100" b="1" spc="200" kern="0" dirty="0">
                <a:solidFill>
                  <a:schemeClr val="accent1"/>
                </a:solidFill>
              </a:rPr>
              <a:t>PART 1 · WINDOWS</a:t>
            </a:r>
            <a:endParaRPr lang="en-US" sz="1100" dirty="0"/>
          </a:p>
        </p:txBody>
      </p:sp>
      <p:sp>
        <p:nvSpPr>
          <p:cNvPr id="3" name="Text 0"/>
          <p:cNvSpPr/>
          <p:nvPr>
            <p:ph idx="101" type="title" hasCustomPrompt="1"/>
          </p:nvPr>
        </p:nvSpPr>
        <p:spPr>
          <a:xfrm>
            <a:off x="457200" y="502920"/>
            <a:ext cx="8229600" cy="566928"/>
          </a:xfrm>
          <a:prstGeom prst="rect">
            <a:avLst/>
          </a:prstGeom>
          <a:noFill/>
          <a:ln/>
        </p:spPr>
        <p:txBody>
          <a:bodyPr wrap="square" lIns="0" tIns="0" rIns="0" bIns="0" rtlCol="0" anchor="ctr"/>
          <a:lstStyle/>
          <a:p>
            <a:pPr indent="0" marL="0">
              <a:buNone/>
            </a:pPr>
            <a:r>
              <a:rPr lang="en-US" sz="2800" b="1" dirty="0">
                <a:solidFill>
                  <a:schemeClr val="tx2"/>
                </a:solidFill>
              </a:rPr>
              <a:t>Windows: add Flutter to PATH and verify</a:t>
            </a:r>
            <a:endParaRPr lang="en-US" sz="2800" dirty="0"/>
          </a:p>
        </p:txBody>
      </p:sp>
      <p:sp>
        <p:nvSpPr>
          <p:cNvPr id="5" name="card"/>
          <p:cNvSpPr/>
          <p:nvPr/>
        </p:nvSpPr>
        <p:spPr>
          <a:xfrm>
            <a:off x="457200" y="1280160"/>
            <a:ext cx="3931920" cy="3291840"/>
          </a:xfrm>
          <a:prstGeom prst="roundRect">
            <a:avLst>
              <a:gd name="adj" fmla="val 2222"/>
            </a:avLst>
          </a:prstGeom>
          <a:solidFill>
            <a:schemeClr val="bg2"/>
          </a:solidFill>
          <a:ln w="12700">
            <a:solidFill>
              <a:schemeClr val="bg2"/>
            </a:solidFill>
            <a:prstDash val="solid"/>
          </a:ln>
        </p:spPr>
      </p:sp>
      <p:sp>
        <p:nvSpPr>
          <p:cNvPr id="6" name="Text 3"/>
          <p:cNvSpPr txBox="1"/>
          <p:nvPr/>
        </p:nvSpPr>
        <p:spPr>
          <a:xfrm>
            <a:off x="685800" y="1417320"/>
            <a:ext cx="3474720" cy="365760"/>
          </a:xfrm>
          <a:prstGeom prst="rect">
            <a:avLst/>
          </a:prstGeom>
          <a:noFill/>
          <a:ln/>
        </p:spPr>
        <p:txBody>
          <a:bodyPr wrap="square" lIns="0" tIns="0" rIns="0" bIns="0" rtlCol="0" anchor="ctr"/>
          <a:lstStyle/>
          <a:p>
            <a:pPr indent="0" marL="0">
              <a:buNone/>
            </a:pPr>
            <a:r>
              <a:rPr lang="en-US" sz="1500" b="1" dirty="0">
                <a:solidFill>
                  <a:schemeClr val="tx2"/>
                </a:solidFill>
              </a:rPr>
              <a:t>Using the Settings dialog</a:t>
            </a:r>
            <a:endParaRPr lang="en-US" sz="1500" dirty="0"/>
          </a:p>
        </p:txBody>
      </p:sp>
      <p:sp>
        <p:nvSpPr>
          <p:cNvPr id="7" name="Text 4"/>
          <p:cNvSpPr txBox="1"/>
          <p:nvPr/>
        </p:nvSpPr>
        <p:spPr>
          <a:xfrm>
            <a:off x="685800" y="1828800"/>
            <a:ext cx="3520440" cy="2560320"/>
          </a:xfrm>
          <a:prstGeom prst="rect">
            <a:avLst/>
          </a:prstGeom>
          <a:noFill/>
          <a:ln/>
        </p:spPr>
        <p:txBody>
          <a:bodyPr wrap="square" lIns="0" tIns="0" rIns="0" bIns="0" rtlCol="0" anchor="t"/>
          <a:lstStyle/>
          <a:p>
            <a:pPr marL="342900" indent="-342900">
              <a:spcAft>
                <a:spcPts val="600"/>
              </a:spcAft>
              <a:buSzPct val="100000"/>
              <a:buFont typeface="+mj-lt"/>
              <a:buAutoNum type="arabicPeriod" startAt="1"/>
            </a:pPr>
            <a:r>
              <a:rPr lang="en-US" sz="1300" dirty="0">
                <a:solidFill>
                  <a:schemeClr val="tx1"/>
                </a:solidFill>
              </a:rPr>
              <a:t>Press Win + Pause → Advanced system settings (or search "Edit environment variables for your account")</a:t>
            </a:r>
            <a:endParaRPr lang="en-US" sz="1300" dirty="0"/>
          </a:p>
          <a:p>
            <a:pPr marL="342900" indent="-342900">
              <a:spcAft>
                <a:spcPts val="600"/>
              </a:spcAft>
              <a:buSzPct val="100000"/>
              <a:buFont typeface="+mj-lt"/>
              <a:buAutoNum type="arabicPeriod" startAt="1"/>
            </a:pPr>
            <a:r>
              <a:rPr lang="en-US" sz="1300" dirty="0">
                <a:solidFill>
                  <a:schemeClr val="tx1"/>
                </a:solidFill>
              </a:rPr>
              <a:t>Environment Variables… → User variables → Path → Edit</a:t>
            </a:r>
            <a:endParaRPr lang="en-US" sz="1300" dirty="0"/>
          </a:p>
          <a:p>
            <a:pPr marL="342900" indent="-342900">
              <a:spcAft>
                <a:spcPts val="600"/>
              </a:spcAft>
              <a:buSzPct val="100000"/>
              <a:buFont typeface="+mj-lt"/>
              <a:buAutoNum type="arabicPeriod" startAt="1"/>
            </a:pPr>
            <a:r>
              <a:rPr lang="en-US" sz="1300" dirty="0">
                <a:solidFill>
                  <a:schemeClr val="tx1"/>
                </a:solidFill>
              </a:rPr>
              <a:t>New → %USERPROFILE%\develop\flutter\bin → OK</a:t>
            </a:r>
            <a:endParaRPr lang="en-US" sz="1300" dirty="0"/>
          </a:p>
          <a:p>
            <a:pPr marL="342900" indent="-342900">
              <a:spcAft>
                <a:spcPts val="600"/>
              </a:spcAft>
              <a:buSzPct val="100000"/>
              <a:buFont typeface="+mj-lt"/>
              <a:buAutoNum type="arabicPeriod" startAt="1"/>
            </a:pPr>
            <a:r>
              <a:rPr lang="en-US" sz="1300" dirty="0">
                <a:solidFill>
                  <a:schemeClr val="tx1"/>
                </a:solidFill>
              </a:rPr>
              <a:t>Close and reopen every terminal and VS Code</a:t>
            </a:r>
            <a:endParaRPr lang="en-US" sz="1300" dirty="0"/>
          </a:p>
        </p:txBody>
      </p:sp>
      <p:sp>
        <p:nvSpPr>
          <p:cNvPr id="8" name="code-block"/>
          <p:cNvSpPr/>
          <p:nvPr/>
        </p:nvSpPr>
        <p:spPr>
          <a:xfrm>
            <a:off x="4663440" y="1280160"/>
            <a:ext cx="4023360" cy="3291840"/>
          </a:xfrm>
          <a:prstGeom prst="roundRect">
            <a:avLst>
              <a:gd name="adj" fmla="val 2222"/>
            </a:avLst>
          </a:prstGeom>
          <a:solidFill>
            <a:schemeClr val="tx2"/>
          </a:solidFill>
          <a:ln w="12700">
            <a:solidFill>
              <a:schemeClr val="tx2"/>
            </a:solidFill>
            <a:prstDash val="solid"/>
          </a:ln>
        </p:spPr>
      </p:sp>
      <p:sp>
        <p:nvSpPr>
          <p:cNvPr id="9" name="Text 6"/>
          <p:cNvSpPr txBox="1"/>
          <p:nvPr/>
        </p:nvSpPr>
        <p:spPr>
          <a:xfrm>
            <a:off x="4864608" y="1389888"/>
            <a:ext cx="3621024" cy="228600"/>
          </a:xfrm>
          <a:prstGeom prst="rect">
            <a:avLst/>
          </a:prstGeom>
          <a:noFill/>
          <a:ln/>
        </p:spPr>
        <p:txBody>
          <a:bodyPr wrap="square" lIns="0" tIns="0" rIns="0" bIns="0" rtlCol="0" anchor="ctr"/>
          <a:lstStyle/>
          <a:p>
            <a:pPr indent="0" marL="0">
              <a:buNone/>
            </a:pPr>
            <a:r>
              <a:rPr lang="en-US" sz="950" b="1" spc="150" kern="0" dirty="0">
                <a:solidFill>
                  <a:schemeClr val="accent2"/>
                </a:solidFill>
              </a:rPr>
              <a:t>POWERSHELL</a:t>
            </a:r>
            <a:endParaRPr lang="en-US" sz="950" dirty="0"/>
          </a:p>
        </p:txBody>
      </p:sp>
      <p:sp>
        <p:nvSpPr>
          <p:cNvPr id="10" name="Text 7"/>
          <p:cNvSpPr txBox="1"/>
          <p:nvPr/>
        </p:nvSpPr>
        <p:spPr>
          <a:xfrm>
            <a:off x="4864608" y="1691640"/>
            <a:ext cx="3621024" cy="2770632"/>
          </a:xfrm>
          <a:prstGeom prst="rect">
            <a:avLst/>
          </a:prstGeom>
          <a:noFill/>
          <a:ln/>
        </p:spPr>
        <p:txBody>
          <a:bodyPr wrap="square" lIns="0" tIns="0" rIns="0" bIns="0" rtlCol="0" anchor="t"/>
          <a:lstStyle/>
          <a:p>
            <a:pPr indent="0" marL="0">
              <a:buNone/>
            </a:pPr>
            <a:r>
              <a:rPr lang="en-US" sz="1100" dirty="0">
                <a:solidFill>
                  <a:schemeClr val="accent2"/>
                </a:solidFill>
                <a:latin typeface="Courier New" pitchFamily="34" charset="0"/>
                <a:ea typeface="Courier New" pitchFamily="34" charset="-122"/>
                <a:cs typeface="Courier New" pitchFamily="34" charset="-120"/>
              </a:rPr>
              <a:t># Extract the SDK (PowerShell)</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cd $env:USERPROFILE\Downloads</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Expand-Archive flutter_windows_*.zip `</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-Destination $env:USERPROFILE\develop</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chemeClr val="accent2"/>
                </a:solidFill>
                <a:latin typeface="Courier New" pitchFamily="34" charset="0"/>
                <a:ea typeface="Courier New" pitchFamily="34" charset="-122"/>
                <a:cs typeface="Courier New" pitchFamily="34" charset="-120"/>
              </a:rPr>
              <a:t># In a NEW terminal, verify</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flutter --version</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flutter doctor</a:t>
            </a:r>
            <a:endParaRPr lang="en-US" sz="1100" dirty="0"/>
          </a:p>
        </p:txBody>
      </p:sp>
      <p:sp>
        <p:nvSpPr>
          <p:cNvPr id="25" name="Slide Number Placeholder 0"/>
          <p:cNvSpPr>
            <a:spLocks noGrp="1"/>
          </p:cNvSpPr>
          <p:nvPr>
            <p:ph type="sldNum" sz="quarter" idx="4294967295"/>
          </p:nvPr>
        </p:nvSpPr>
        <p:spPr>
          <a:xfrm>
            <a:off x="8229600" y="4773168"/>
            <a:ext cx="457200" cy="237744"/>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4748B"/>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457200" y="228600"/>
            <a:ext cx="8229600" cy="256032"/>
          </a:xfrm>
          <a:prstGeom prst="rect">
            <a:avLst/>
          </a:prstGeom>
          <a:noFill/>
          <a:ln/>
        </p:spPr>
        <p:txBody>
          <a:bodyPr wrap="square" lIns="0" tIns="0" rIns="0" bIns="0" rtlCol="0" anchor="ctr"/>
          <a:lstStyle/>
          <a:p>
            <a:pPr indent="0" marL="0">
              <a:buNone/>
            </a:pPr>
            <a:r>
              <a:rPr lang="en-US" sz="1100" b="1" spc="200" kern="0" dirty="0">
                <a:solidFill>
                  <a:schemeClr val="accent1"/>
                </a:solidFill>
              </a:rPr>
              <a:t>PART 1 · macOS</a:t>
            </a:r>
            <a:endParaRPr lang="en-US" sz="1100" dirty="0"/>
          </a:p>
        </p:txBody>
      </p:sp>
      <p:sp>
        <p:nvSpPr>
          <p:cNvPr id="3" name="Text 0"/>
          <p:cNvSpPr/>
          <p:nvPr>
            <p:ph idx="101" type="title" hasCustomPrompt="1"/>
          </p:nvPr>
        </p:nvSpPr>
        <p:spPr>
          <a:xfrm>
            <a:off x="457200" y="502920"/>
            <a:ext cx="8229600" cy="566928"/>
          </a:xfrm>
          <a:prstGeom prst="rect">
            <a:avLst/>
          </a:prstGeom>
          <a:noFill/>
          <a:ln/>
        </p:spPr>
        <p:txBody>
          <a:bodyPr wrap="square" lIns="0" tIns="0" rIns="0" bIns="0" rtlCol="0" anchor="ctr"/>
          <a:lstStyle/>
          <a:p>
            <a:pPr indent="0" marL="0">
              <a:buNone/>
            </a:pPr>
            <a:r>
              <a:rPr lang="en-US" sz="2800" b="1" dirty="0">
                <a:solidFill>
                  <a:schemeClr val="tx2"/>
                </a:solidFill>
              </a:rPr>
              <a:t>Installing Flutter on macOS</a:t>
            </a:r>
            <a:endParaRPr lang="en-US" sz="2800" dirty="0"/>
          </a:p>
        </p:txBody>
      </p:sp>
      <p:sp>
        <p:nvSpPr>
          <p:cNvPr id="5" name="card"/>
          <p:cNvSpPr/>
          <p:nvPr/>
        </p:nvSpPr>
        <p:spPr>
          <a:xfrm>
            <a:off x="457200" y="1280160"/>
            <a:ext cx="2560320" cy="1508760"/>
          </a:xfrm>
          <a:prstGeom prst="roundRect">
            <a:avLst>
              <a:gd name="adj" fmla="val 4848"/>
            </a:avLst>
          </a:prstGeom>
          <a:solidFill>
            <a:schemeClr val="bg2"/>
          </a:solidFill>
          <a:ln w="12700">
            <a:solidFill>
              <a:schemeClr val="bg2"/>
            </a:solidFill>
            <a:prstDash val="solid"/>
          </a:ln>
        </p:spPr>
      </p:sp>
      <p:sp>
        <p:nvSpPr>
          <p:cNvPr id="6" name="badge"/>
          <p:cNvSpPr/>
          <p:nvPr/>
        </p:nvSpPr>
        <p:spPr>
          <a:xfrm>
            <a:off x="621792" y="1444752"/>
            <a:ext cx="411480" cy="411480"/>
          </a:xfrm>
          <a:prstGeom prst="ellipse">
            <a:avLst/>
          </a:prstGeom>
          <a:solidFill>
            <a:schemeClr val="accent1"/>
          </a:solidFill>
          <a:ln w="12700">
            <a:solidFill>
              <a:schemeClr val="accent1"/>
            </a:solidFill>
            <a:prstDash val="solid"/>
          </a:ln>
        </p:spPr>
      </p:sp>
      <p:sp>
        <p:nvSpPr>
          <p:cNvPr id="7" name="Text 4"/>
          <p:cNvSpPr txBox="1"/>
          <p:nvPr/>
        </p:nvSpPr>
        <p:spPr>
          <a:xfrm>
            <a:off x="621792" y="1444752"/>
            <a:ext cx="411480" cy="41148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8" name="Text 5"/>
          <p:cNvSpPr txBox="1"/>
          <p:nvPr/>
        </p:nvSpPr>
        <p:spPr>
          <a:xfrm>
            <a:off x="1143000" y="1444752"/>
            <a:ext cx="1737360" cy="411480"/>
          </a:xfrm>
          <a:prstGeom prst="rect">
            <a:avLst/>
          </a:prstGeom>
          <a:noFill/>
          <a:ln/>
        </p:spPr>
        <p:txBody>
          <a:bodyPr wrap="square" lIns="0" tIns="0" rIns="0" bIns="0" rtlCol="0" anchor="ctr"/>
          <a:lstStyle/>
          <a:p>
            <a:pPr indent="0" marL="0">
              <a:buNone/>
            </a:pPr>
            <a:r>
              <a:rPr lang="en-US" sz="1400" b="1" dirty="0">
                <a:solidFill>
                  <a:schemeClr val="tx2"/>
                </a:solidFill>
              </a:rPr>
              <a:t>Command-line tools</a:t>
            </a:r>
            <a:endParaRPr lang="en-US" sz="1400" dirty="0"/>
          </a:p>
        </p:txBody>
      </p:sp>
      <p:sp>
        <p:nvSpPr>
          <p:cNvPr id="9" name="Text 6"/>
          <p:cNvSpPr txBox="1"/>
          <p:nvPr/>
        </p:nvSpPr>
        <p:spPr>
          <a:xfrm>
            <a:off x="621792" y="1965960"/>
            <a:ext cx="2231136" cy="704088"/>
          </a:xfrm>
          <a:prstGeom prst="rect">
            <a:avLst/>
          </a:prstGeom>
          <a:noFill/>
          <a:ln/>
        </p:spPr>
        <p:txBody>
          <a:bodyPr wrap="square" lIns="0" tIns="0" rIns="0" bIns="0" rtlCol="0" anchor="t"/>
          <a:lstStyle/>
          <a:p>
            <a:pPr indent="0" marL="0">
              <a:buNone/>
            </a:pPr>
            <a:r>
              <a:rPr lang="en-US" sz="1200" dirty="0">
                <a:solidFill>
                  <a:schemeClr val="tx1"/>
                </a:solidFill>
              </a:rPr>
              <a:t>Run xcode-select --install in Terminal (gives you git, too).</a:t>
            </a:r>
            <a:endParaRPr lang="en-US" sz="1200" dirty="0"/>
          </a:p>
        </p:txBody>
      </p:sp>
      <p:sp>
        <p:nvSpPr>
          <p:cNvPr id="10" name="card"/>
          <p:cNvSpPr/>
          <p:nvPr/>
        </p:nvSpPr>
        <p:spPr>
          <a:xfrm>
            <a:off x="3291840" y="1280160"/>
            <a:ext cx="2560320" cy="1508760"/>
          </a:xfrm>
          <a:prstGeom prst="roundRect">
            <a:avLst>
              <a:gd name="adj" fmla="val 4848"/>
            </a:avLst>
          </a:prstGeom>
          <a:solidFill>
            <a:schemeClr val="bg2"/>
          </a:solidFill>
          <a:ln w="12700">
            <a:solidFill>
              <a:schemeClr val="bg2"/>
            </a:solidFill>
            <a:prstDash val="solid"/>
          </a:ln>
        </p:spPr>
      </p:sp>
      <p:sp>
        <p:nvSpPr>
          <p:cNvPr id="11" name="badge"/>
          <p:cNvSpPr/>
          <p:nvPr/>
        </p:nvSpPr>
        <p:spPr>
          <a:xfrm>
            <a:off x="3456432" y="1444752"/>
            <a:ext cx="411480" cy="411480"/>
          </a:xfrm>
          <a:prstGeom prst="ellipse">
            <a:avLst/>
          </a:prstGeom>
          <a:solidFill>
            <a:schemeClr val="accent1"/>
          </a:solidFill>
          <a:ln w="12700">
            <a:solidFill>
              <a:schemeClr val="accent1"/>
            </a:solidFill>
            <a:prstDash val="solid"/>
          </a:ln>
        </p:spPr>
      </p:sp>
      <p:sp>
        <p:nvSpPr>
          <p:cNvPr id="12" name="Text 9"/>
          <p:cNvSpPr txBox="1"/>
          <p:nvPr/>
        </p:nvSpPr>
        <p:spPr>
          <a:xfrm>
            <a:off x="3456432" y="1444752"/>
            <a:ext cx="411480" cy="41148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3" name="Text 10"/>
          <p:cNvSpPr txBox="1"/>
          <p:nvPr/>
        </p:nvSpPr>
        <p:spPr>
          <a:xfrm>
            <a:off x="3977640" y="1444752"/>
            <a:ext cx="1737360" cy="411480"/>
          </a:xfrm>
          <a:prstGeom prst="rect">
            <a:avLst/>
          </a:prstGeom>
          <a:noFill/>
          <a:ln/>
        </p:spPr>
        <p:txBody>
          <a:bodyPr wrap="square" lIns="0" tIns="0" rIns="0" bIns="0" rtlCol="0" anchor="ctr"/>
          <a:lstStyle/>
          <a:p>
            <a:pPr indent="0" marL="0">
              <a:buNone/>
            </a:pPr>
            <a:r>
              <a:rPr lang="en-US" sz="1400" b="1" dirty="0">
                <a:solidFill>
                  <a:schemeClr val="tx2"/>
                </a:solidFill>
              </a:rPr>
              <a:t>Rosetta 2</a:t>
            </a:r>
            <a:endParaRPr lang="en-US" sz="1400" dirty="0"/>
          </a:p>
        </p:txBody>
      </p:sp>
      <p:sp>
        <p:nvSpPr>
          <p:cNvPr id="14" name="Text 11"/>
          <p:cNvSpPr txBox="1"/>
          <p:nvPr/>
        </p:nvSpPr>
        <p:spPr>
          <a:xfrm>
            <a:off x="3456432" y="1965960"/>
            <a:ext cx="2231136" cy="704088"/>
          </a:xfrm>
          <a:prstGeom prst="rect">
            <a:avLst/>
          </a:prstGeom>
          <a:noFill/>
          <a:ln/>
        </p:spPr>
        <p:txBody>
          <a:bodyPr wrap="square" lIns="0" tIns="0" rIns="0" bIns="0" rtlCol="0" anchor="t"/>
          <a:lstStyle/>
          <a:p>
            <a:pPr indent="0" marL="0">
              <a:buNone/>
            </a:pPr>
            <a:r>
              <a:rPr lang="en-US" sz="1200" dirty="0">
                <a:solidFill>
                  <a:schemeClr val="tx1"/>
                </a:solidFill>
              </a:rPr>
              <a:t>Apple silicon only: sudo softwareupdate --install-rosetta --agree-to-license</a:t>
            </a:r>
            <a:endParaRPr lang="en-US" sz="1200" dirty="0"/>
          </a:p>
        </p:txBody>
      </p:sp>
      <p:sp>
        <p:nvSpPr>
          <p:cNvPr id="15" name="card"/>
          <p:cNvSpPr/>
          <p:nvPr/>
        </p:nvSpPr>
        <p:spPr>
          <a:xfrm>
            <a:off x="6126480" y="1280160"/>
            <a:ext cx="2560320" cy="1508760"/>
          </a:xfrm>
          <a:prstGeom prst="roundRect">
            <a:avLst>
              <a:gd name="adj" fmla="val 4848"/>
            </a:avLst>
          </a:prstGeom>
          <a:solidFill>
            <a:schemeClr val="bg2"/>
          </a:solidFill>
          <a:ln w="12700">
            <a:solidFill>
              <a:schemeClr val="bg2"/>
            </a:solidFill>
            <a:prstDash val="solid"/>
          </a:ln>
        </p:spPr>
      </p:sp>
      <p:sp>
        <p:nvSpPr>
          <p:cNvPr id="16" name="badge"/>
          <p:cNvSpPr/>
          <p:nvPr/>
        </p:nvSpPr>
        <p:spPr>
          <a:xfrm>
            <a:off x="6291072" y="1444752"/>
            <a:ext cx="411480" cy="411480"/>
          </a:xfrm>
          <a:prstGeom prst="ellipse">
            <a:avLst/>
          </a:prstGeom>
          <a:solidFill>
            <a:schemeClr val="accent1"/>
          </a:solidFill>
          <a:ln w="12700">
            <a:solidFill>
              <a:schemeClr val="accent1"/>
            </a:solidFill>
            <a:prstDash val="solid"/>
          </a:ln>
        </p:spPr>
      </p:sp>
      <p:sp>
        <p:nvSpPr>
          <p:cNvPr id="17" name="Text 14"/>
          <p:cNvSpPr txBox="1"/>
          <p:nvPr/>
        </p:nvSpPr>
        <p:spPr>
          <a:xfrm>
            <a:off x="6291072" y="1444752"/>
            <a:ext cx="411480" cy="41148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8" name="Text 15"/>
          <p:cNvSpPr txBox="1"/>
          <p:nvPr/>
        </p:nvSpPr>
        <p:spPr>
          <a:xfrm>
            <a:off x="6812280" y="1444752"/>
            <a:ext cx="1737360" cy="411480"/>
          </a:xfrm>
          <a:prstGeom prst="rect">
            <a:avLst/>
          </a:prstGeom>
          <a:noFill/>
          <a:ln/>
        </p:spPr>
        <p:txBody>
          <a:bodyPr wrap="square" lIns="0" tIns="0" rIns="0" bIns="0" rtlCol="0" anchor="ctr"/>
          <a:lstStyle/>
          <a:p>
            <a:pPr indent="0" marL="0">
              <a:buNone/>
            </a:pPr>
            <a:r>
              <a:rPr lang="en-US" sz="1400" b="1" dirty="0">
                <a:solidFill>
                  <a:schemeClr val="tx2"/>
                </a:solidFill>
              </a:rPr>
              <a:t>Download the SDK</a:t>
            </a:r>
            <a:endParaRPr lang="en-US" sz="1400" dirty="0"/>
          </a:p>
        </p:txBody>
      </p:sp>
      <p:sp>
        <p:nvSpPr>
          <p:cNvPr id="19" name="Text 16"/>
          <p:cNvSpPr txBox="1"/>
          <p:nvPr/>
        </p:nvSpPr>
        <p:spPr>
          <a:xfrm>
            <a:off x="6291072" y="1965960"/>
            <a:ext cx="2231136" cy="704088"/>
          </a:xfrm>
          <a:prstGeom prst="rect">
            <a:avLst/>
          </a:prstGeom>
          <a:noFill/>
          <a:ln/>
        </p:spPr>
        <p:txBody>
          <a:bodyPr wrap="square" lIns="0" tIns="0" rIns="0" bIns="0" rtlCol="0" anchor="t"/>
          <a:lstStyle/>
          <a:p>
            <a:pPr indent="0" marL="0">
              <a:buNone/>
            </a:pPr>
            <a:r>
              <a:rPr lang="en-US" sz="1200" dirty="0">
                <a:solidFill>
                  <a:schemeClr val="tx1"/>
                </a:solidFill>
              </a:rPr>
              <a:t>docs.flutter.dev → Install → macOS → pick the Apple silicon or Intel zip.</a:t>
            </a:r>
            <a:endParaRPr lang="en-US" sz="1200" dirty="0"/>
          </a:p>
        </p:txBody>
      </p:sp>
      <p:sp>
        <p:nvSpPr>
          <p:cNvPr id="20" name="card"/>
          <p:cNvSpPr/>
          <p:nvPr/>
        </p:nvSpPr>
        <p:spPr>
          <a:xfrm>
            <a:off x="457200" y="3063240"/>
            <a:ext cx="2560320" cy="1508760"/>
          </a:xfrm>
          <a:prstGeom prst="roundRect">
            <a:avLst>
              <a:gd name="adj" fmla="val 4848"/>
            </a:avLst>
          </a:prstGeom>
          <a:solidFill>
            <a:schemeClr val="bg2"/>
          </a:solidFill>
          <a:ln w="12700">
            <a:solidFill>
              <a:schemeClr val="bg2"/>
            </a:solidFill>
            <a:prstDash val="solid"/>
          </a:ln>
        </p:spPr>
      </p:sp>
      <p:sp>
        <p:nvSpPr>
          <p:cNvPr id="21" name="badge"/>
          <p:cNvSpPr/>
          <p:nvPr/>
        </p:nvSpPr>
        <p:spPr>
          <a:xfrm>
            <a:off x="621792" y="3227832"/>
            <a:ext cx="411480" cy="411480"/>
          </a:xfrm>
          <a:prstGeom prst="ellipse">
            <a:avLst/>
          </a:prstGeom>
          <a:solidFill>
            <a:schemeClr val="accent1"/>
          </a:solidFill>
          <a:ln w="12700">
            <a:solidFill>
              <a:schemeClr val="accent1"/>
            </a:solidFill>
            <a:prstDash val="solid"/>
          </a:ln>
        </p:spPr>
      </p:sp>
      <p:sp>
        <p:nvSpPr>
          <p:cNvPr id="22" name="Text 19"/>
          <p:cNvSpPr txBox="1"/>
          <p:nvPr/>
        </p:nvSpPr>
        <p:spPr>
          <a:xfrm>
            <a:off x="621792" y="3227832"/>
            <a:ext cx="411480" cy="41148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3" name="Text 20"/>
          <p:cNvSpPr txBox="1"/>
          <p:nvPr/>
        </p:nvSpPr>
        <p:spPr>
          <a:xfrm>
            <a:off x="1143000" y="3227832"/>
            <a:ext cx="1737360" cy="411480"/>
          </a:xfrm>
          <a:prstGeom prst="rect">
            <a:avLst/>
          </a:prstGeom>
          <a:noFill/>
          <a:ln/>
        </p:spPr>
        <p:txBody>
          <a:bodyPr wrap="square" lIns="0" tIns="0" rIns="0" bIns="0" rtlCol="0" anchor="ctr"/>
          <a:lstStyle/>
          <a:p>
            <a:pPr indent="0" marL="0">
              <a:buNone/>
            </a:pPr>
            <a:r>
              <a:rPr lang="en-US" sz="1400" b="1" dirty="0">
                <a:solidFill>
                  <a:schemeClr val="tx2"/>
                </a:solidFill>
              </a:rPr>
              <a:t>Extract it</a:t>
            </a:r>
            <a:endParaRPr lang="en-US" sz="1400" dirty="0"/>
          </a:p>
        </p:txBody>
      </p:sp>
      <p:sp>
        <p:nvSpPr>
          <p:cNvPr id="24" name="Text 21"/>
          <p:cNvSpPr txBox="1"/>
          <p:nvPr/>
        </p:nvSpPr>
        <p:spPr>
          <a:xfrm>
            <a:off x="621792" y="3749040"/>
            <a:ext cx="2231136" cy="704088"/>
          </a:xfrm>
          <a:prstGeom prst="rect">
            <a:avLst/>
          </a:prstGeom>
          <a:noFill/>
          <a:ln/>
        </p:spPr>
        <p:txBody>
          <a:bodyPr wrap="square" lIns="0" tIns="0" rIns="0" bIns="0" rtlCol="0" anchor="t"/>
          <a:lstStyle/>
          <a:p>
            <a:pPr indent="0" marL="0">
              <a:buNone/>
            </a:pPr>
            <a:r>
              <a:rPr lang="en-US" sz="1200" dirty="0">
                <a:solidFill>
                  <a:schemeClr val="tx1"/>
                </a:solidFill>
              </a:rPr>
              <a:t>Unzip into ~/develop so the SDK sits at ~/develop/flutter.</a:t>
            </a:r>
            <a:endParaRPr lang="en-US" sz="1200" dirty="0"/>
          </a:p>
        </p:txBody>
      </p:sp>
      <p:sp>
        <p:nvSpPr>
          <p:cNvPr id="25" name="card"/>
          <p:cNvSpPr/>
          <p:nvPr/>
        </p:nvSpPr>
        <p:spPr>
          <a:xfrm>
            <a:off x="3291840" y="3063240"/>
            <a:ext cx="2560320" cy="1508760"/>
          </a:xfrm>
          <a:prstGeom prst="roundRect">
            <a:avLst>
              <a:gd name="adj" fmla="val 4848"/>
            </a:avLst>
          </a:prstGeom>
          <a:solidFill>
            <a:schemeClr val="bg2"/>
          </a:solidFill>
          <a:ln w="12700">
            <a:solidFill>
              <a:schemeClr val="bg2"/>
            </a:solidFill>
            <a:prstDash val="solid"/>
          </a:ln>
        </p:spPr>
      </p:sp>
      <p:sp>
        <p:nvSpPr>
          <p:cNvPr id="26" name="badge"/>
          <p:cNvSpPr/>
          <p:nvPr/>
        </p:nvSpPr>
        <p:spPr>
          <a:xfrm>
            <a:off x="3456432" y="3227832"/>
            <a:ext cx="411480" cy="411480"/>
          </a:xfrm>
          <a:prstGeom prst="ellipse">
            <a:avLst/>
          </a:prstGeom>
          <a:solidFill>
            <a:schemeClr val="accent1"/>
          </a:solidFill>
          <a:ln w="12700">
            <a:solidFill>
              <a:schemeClr val="accent1"/>
            </a:solidFill>
            <a:prstDash val="solid"/>
          </a:ln>
        </p:spPr>
      </p:sp>
      <p:sp>
        <p:nvSpPr>
          <p:cNvPr id="27" name="Text 24"/>
          <p:cNvSpPr txBox="1"/>
          <p:nvPr/>
        </p:nvSpPr>
        <p:spPr>
          <a:xfrm>
            <a:off x="3456432" y="3227832"/>
            <a:ext cx="411480" cy="411480"/>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28" name="Text 25"/>
          <p:cNvSpPr txBox="1"/>
          <p:nvPr/>
        </p:nvSpPr>
        <p:spPr>
          <a:xfrm>
            <a:off x="3977640" y="3227832"/>
            <a:ext cx="1737360" cy="411480"/>
          </a:xfrm>
          <a:prstGeom prst="rect">
            <a:avLst/>
          </a:prstGeom>
          <a:noFill/>
          <a:ln/>
        </p:spPr>
        <p:txBody>
          <a:bodyPr wrap="square" lIns="0" tIns="0" rIns="0" bIns="0" rtlCol="0" anchor="ctr"/>
          <a:lstStyle/>
          <a:p>
            <a:pPr indent="0" marL="0">
              <a:buNone/>
            </a:pPr>
            <a:r>
              <a:rPr lang="en-US" sz="1400" b="1" dirty="0">
                <a:solidFill>
                  <a:schemeClr val="tx2"/>
                </a:solidFill>
              </a:rPr>
              <a:t>Update PATH</a:t>
            </a:r>
            <a:endParaRPr lang="en-US" sz="1400" dirty="0"/>
          </a:p>
        </p:txBody>
      </p:sp>
      <p:sp>
        <p:nvSpPr>
          <p:cNvPr id="29" name="Text 26"/>
          <p:cNvSpPr txBox="1"/>
          <p:nvPr/>
        </p:nvSpPr>
        <p:spPr>
          <a:xfrm>
            <a:off x="3456432" y="3749040"/>
            <a:ext cx="2231136" cy="704088"/>
          </a:xfrm>
          <a:prstGeom prst="rect">
            <a:avLst/>
          </a:prstGeom>
          <a:noFill/>
          <a:ln/>
        </p:spPr>
        <p:txBody>
          <a:bodyPr wrap="square" lIns="0" tIns="0" rIns="0" bIns="0" rtlCol="0" anchor="t"/>
          <a:lstStyle/>
          <a:p>
            <a:pPr indent="0" marL="0">
              <a:buNone/>
            </a:pPr>
            <a:r>
              <a:rPr lang="en-US" sz="1200" dirty="0">
                <a:solidFill>
                  <a:schemeClr val="tx1"/>
                </a:solidFill>
              </a:rPr>
              <a:t>Add the flutter/bin folder to PATH in ~/.zshrc, then reload the shell.</a:t>
            </a:r>
            <a:endParaRPr lang="en-US" sz="1200" dirty="0"/>
          </a:p>
        </p:txBody>
      </p:sp>
      <p:sp>
        <p:nvSpPr>
          <p:cNvPr id="30" name="card"/>
          <p:cNvSpPr/>
          <p:nvPr/>
        </p:nvSpPr>
        <p:spPr>
          <a:xfrm>
            <a:off x="6126480" y="3063240"/>
            <a:ext cx="2560320" cy="1508760"/>
          </a:xfrm>
          <a:prstGeom prst="roundRect">
            <a:avLst>
              <a:gd name="adj" fmla="val 4848"/>
            </a:avLst>
          </a:prstGeom>
          <a:solidFill>
            <a:schemeClr val="bg2"/>
          </a:solidFill>
          <a:ln w="12700">
            <a:solidFill>
              <a:schemeClr val="bg2"/>
            </a:solidFill>
            <a:prstDash val="solid"/>
          </a:ln>
        </p:spPr>
      </p:sp>
      <p:sp>
        <p:nvSpPr>
          <p:cNvPr id="31" name="badge"/>
          <p:cNvSpPr/>
          <p:nvPr/>
        </p:nvSpPr>
        <p:spPr>
          <a:xfrm>
            <a:off x="6291072" y="3227832"/>
            <a:ext cx="411480" cy="411480"/>
          </a:xfrm>
          <a:prstGeom prst="ellipse">
            <a:avLst/>
          </a:prstGeom>
          <a:solidFill>
            <a:schemeClr val="accent1"/>
          </a:solidFill>
          <a:ln w="12700">
            <a:solidFill>
              <a:schemeClr val="accent1"/>
            </a:solidFill>
            <a:prstDash val="solid"/>
          </a:ln>
        </p:spPr>
      </p:sp>
      <p:sp>
        <p:nvSpPr>
          <p:cNvPr id="32" name="Text 29"/>
          <p:cNvSpPr txBox="1"/>
          <p:nvPr/>
        </p:nvSpPr>
        <p:spPr>
          <a:xfrm>
            <a:off x="6291072" y="3227832"/>
            <a:ext cx="411480" cy="411480"/>
          </a:xfrm>
          <a:prstGeom prst="rect">
            <a:avLst/>
          </a:prstGeom>
          <a:noFill/>
          <a:ln/>
        </p:spPr>
        <p:txBody>
          <a:bodyPr wrap="square" lIns="0" tIns="0" rIns="0" bIns="0" rtlCol="0" anchor="ctr"/>
          <a:lstStyle/>
          <a:p>
            <a:pPr algn="ctr" indent="0" marL="0">
              <a:buNone/>
            </a:pPr>
            <a:r>
              <a:rPr lang="en-US" sz="1600" b="1" dirty="0">
                <a:solidFill>
                  <a:schemeClr val="bg1"/>
                </a:solidFill>
              </a:rPr>
              <a:t>6</a:t>
            </a:r>
            <a:endParaRPr lang="en-US" sz="1600" dirty="0"/>
          </a:p>
        </p:txBody>
      </p:sp>
      <p:sp>
        <p:nvSpPr>
          <p:cNvPr id="33" name="Text 30"/>
          <p:cNvSpPr txBox="1"/>
          <p:nvPr/>
        </p:nvSpPr>
        <p:spPr>
          <a:xfrm>
            <a:off x="6812280" y="3227832"/>
            <a:ext cx="1737360" cy="411480"/>
          </a:xfrm>
          <a:prstGeom prst="rect">
            <a:avLst/>
          </a:prstGeom>
          <a:noFill/>
          <a:ln/>
        </p:spPr>
        <p:txBody>
          <a:bodyPr wrap="square" lIns="0" tIns="0" rIns="0" bIns="0" rtlCol="0" anchor="ctr"/>
          <a:lstStyle/>
          <a:p>
            <a:pPr indent="0" marL="0">
              <a:buNone/>
            </a:pPr>
            <a:r>
              <a:rPr lang="en-US" sz="1400" b="1" dirty="0">
                <a:solidFill>
                  <a:schemeClr val="tx2"/>
                </a:solidFill>
              </a:rPr>
              <a:t>Xcode &amp; CocoaPods</a:t>
            </a:r>
            <a:endParaRPr lang="en-US" sz="1400" dirty="0"/>
          </a:p>
        </p:txBody>
      </p:sp>
      <p:sp>
        <p:nvSpPr>
          <p:cNvPr id="34" name="Text 31"/>
          <p:cNvSpPr txBox="1"/>
          <p:nvPr/>
        </p:nvSpPr>
        <p:spPr>
          <a:xfrm>
            <a:off x="6291072" y="3749040"/>
            <a:ext cx="2231136" cy="704088"/>
          </a:xfrm>
          <a:prstGeom prst="rect">
            <a:avLst/>
          </a:prstGeom>
          <a:noFill/>
          <a:ln/>
        </p:spPr>
        <p:txBody>
          <a:bodyPr wrap="square" lIns="0" tIns="0" rIns="0" bIns="0" rtlCol="0" anchor="t"/>
          <a:lstStyle/>
          <a:p>
            <a:pPr indent="0" marL="0">
              <a:buNone/>
            </a:pPr>
            <a:r>
              <a:rPr lang="en-US" sz="1200" dirty="0">
                <a:solidFill>
                  <a:schemeClr val="tx1"/>
                </a:solidFill>
              </a:rPr>
              <a:t>Install Xcode for iOS, accept its licence, install CocoaPods, run flutter doctor.</a:t>
            </a:r>
            <a:endParaRPr lang="en-US" sz="1200" dirty="0"/>
          </a:p>
        </p:txBody>
      </p:sp>
      <p:sp>
        <p:nvSpPr>
          <p:cNvPr id="25" name="Slide Number Placeholder 0"/>
          <p:cNvSpPr>
            <a:spLocks noGrp="1"/>
          </p:cNvSpPr>
          <p:nvPr>
            <p:ph type="sldNum" sz="quarter" idx="4294967295"/>
          </p:nvPr>
        </p:nvSpPr>
        <p:spPr>
          <a:xfrm>
            <a:off x="8229600" y="4773168"/>
            <a:ext cx="457200" cy="237744"/>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4748B"/>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457200" y="228600"/>
            <a:ext cx="8229600" cy="256032"/>
          </a:xfrm>
          <a:prstGeom prst="rect">
            <a:avLst/>
          </a:prstGeom>
          <a:noFill/>
          <a:ln/>
        </p:spPr>
        <p:txBody>
          <a:bodyPr wrap="square" lIns="0" tIns="0" rIns="0" bIns="0" rtlCol="0" anchor="ctr"/>
          <a:lstStyle/>
          <a:p>
            <a:pPr indent="0" marL="0">
              <a:buNone/>
            </a:pPr>
            <a:r>
              <a:rPr lang="en-US" sz="1100" b="1" spc="200" kern="0" dirty="0">
                <a:solidFill>
                  <a:schemeClr val="accent1"/>
                </a:solidFill>
              </a:rPr>
              <a:t>PART 1 · macOS</a:t>
            </a:r>
            <a:endParaRPr lang="en-US" sz="1100" dirty="0"/>
          </a:p>
        </p:txBody>
      </p:sp>
      <p:sp>
        <p:nvSpPr>
          <p:cNvPr id="3" name="Text 0"/>
          <p:cNvSpPr/>
          <p:nvPr>
            <p:ph idx="101" type="title" hasCustomPrompt="1"/>
          </p:nvPr>
        </p:nvSpPr>
        <p:spPr>
          <a:xfrm>
            <a:off x="457200" y="502920"/>
            <a:ext cx="8229600" cy="566928"/>
          </a:xfrm>
          <a:prstGeom prst="rect">
            <a:avLst/>
          </a:prstGeom>
          <a:noFill/>
          <a:ln/>
        </p:spPr>
        <p:txBody>
          <a:bodyPr wrap="square" lIns="0" tIns="0" rIns="0" bIns="0" rtlCol="0" anchor="ctr"/>
          <a:lstStyle/>
          <a:p>
            <a:pPr indent="0" marL="0">
              <a:buNone/>
            </a:pPr>
            <a:r>
              <a:rPr lang="en-US" sz="2800" b="1" dirty="0">
                <a:solidFill>
                  <a:schemeClr val="tx2"/>
                </a:solidFill>
              </a:rPr>
              <a:t>macOS: terminal commands</a:t>
            </a:r>
            <a:endParaRPr lang="en-US" sz="2800" dirty="0"/>
          </a:p>
        </p:txBody>
      </p:sp>
      <p:sp>
        <p:nvSpPr>
          <p:cNvPr id="5" name="code-block"/>
          <p:cNvSpPr/>
          <p:nvPr/>
        </p:nvSpPr>
        <p:spPr>
          <a:xfrm>
            <a:off x="457200" y="1280160"/>
            <a:ext cx="4023360" cy="3291840"/>
          </a:xfrm>
          <a:prstGeom prst="roundRect">
            <a:avLst>
              <a:gd name="adj" fmla="val 2222"/>
            </a:avLst>
          </a:prstGeom>
          <a:solidFill>
            <a:schemeClr val="tx2"/>
          </a:solidFill>
          <a:ln w="12700">
            <a:solidFill>
              <a:schemeClr val="tx2"/>
            </a:solidFill>
            <a:prstDash val="solid"/>
          </a:ln>
        </p:spPr>
      </p:sp>
      <p:sp>
        <p:nvSpPr>
          <p:cNvPr id="6" name="Text 3"/>
          <p:cNvSpPr txBox="1"/>
          <p:nvPr/>
        </p:nvSpPr>
        <p:spPr>
          <a:xfrm>
            <a:off x="658368" y="1389888"/>
            <a:ext cx="3621024" cy="228600"/>
          </a:xfrm>
          <a:prstGeom prst="rect">
            <a:avLst/>
          </a:prstGeom>
          <a:noFill/>
          <a:ln/>
        </p:spPr>
        <p:txBody>
          <a:bodyPr wrap="square" lIns="0" tIns="0" rIns="0" bIns="0" rtlCol="0" anchor="ctr"/>
          <a:lstStyle/>
          <a:p>
            <a:pPr indent="0" marL="0">
              <a:buNone/>
            </a:pPr>
            <a:r>
              <a:rPr lang="en-US" sz="950" b="1" spc="150" kern="0" dirty="0">
                <a:solidFill>
                  <a:schemeClr val="accent2"/>
                </a:solidFill>
              </a:rPr>
              <a:t>INSTALL THE SDK</a:t>
            </a:r>
            <a:endParaRPr lang="en-US" sz="950" dirty="0"/>
          </a:p>
        </p:txBody>
      </p:sp>
      <p:sp>
        <p:nvSpPr>
          <p:cNvPr id="7" name="Text 4"/>
          <p:cNvSpPr txBox="1"/>
          <p:nvPr/>
        </p:nvSpPr>
        <p:spPr>
          <a:xfrm>
            <a:off x="658368" y="1691640"/>
            <a:ext cx="3621024" cy="2770632"/>
          </a:xfrm>
          <a:prstGeom prst="rect">
            <a:avLst/>
          </a:prstGeom>
          <a:noFill/>
          <a:ln/>
        </p:spPr>
        <p:txBody>
          <a:bodyPr wrap="square" lIns="0" tIns="0" rIns="0" bIns="0" rtlCol="0" anchor="t"/>
          <a:lstStyle/>
          <a:p>
            <a:pPr indent="0" marL="0">
              <a:buNone/>
            </a:pPr>
            <a:r>
              <a:rPr lang="en-US" sz="1000" dirty="0">
                <a:solidFill>
                  <a:schemeClr val="accent2"/>
                </a:solidFill>
                <a:latin typeface="Courier New" pitchFamily="34" charset="0"/>
                <a:ea typeface="Courier New" pitchFamily="34" charset="-122"/>
                <a:cs typeface="Courier New" pitchFamily="34" charset="-120"/>
              </a:rPr>
              <a:t># 1. Command-line tools</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xcode-select --install</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chemeClr val="accent2"/>
                </a:solidFill>
                <a:latin typeface="Courier New" pitchFamily="34" charset="0"/>
                <a:ea typeface="Courier New" pitchFamily="34" charset="-122"/>
                <a:cs typeface="Courier New" pitchFamily="34" charset="-120"/>
              </a:rPr>
              <a:t># 2. Extract the SDK into ~/develop</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mkdir -p ~/develop &amp;&amp; cd ~/develop</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unzip ~/Downloads/flutter_macos_*.zip</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chemeClr val="accent2"/>
                </a:solidFill>
                <a:latin typeface="Courier New" pitchFamily="34" charset="0"/>
                <a:ea typeface="Courier New" pitchFamily="34" charset="-122"/>
                <a:cs typeface="Courier New" pitchFamily="34" charset="-120"/>
              </a:rPr>
              <a:t># 3. Add this line to ~/.zshrc</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export PATH="$HOME/develop/flutter/bin:$PATH"</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chemeClr val="accent2"/>
                </a:solidFill>
                <a:latin typeface="Courier New" pitchFamily="34" charset="0"/>
                <a:ea typeface="Courier New" pitchFamily="34" charset="-122"/>
                <a:cs typeface="Courier New" pitchFamily="34" charset="-120"/>
              </a:rPr>
              <a:t># 4. Reload and verify</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source ~/.zshrc &amp;&amp; flutter doctor</a:t>
            </a:r>
            <a:endParaRPr lang="en-US" sz="1000" dirty="0"/>
          </a:p>
        </p:txBody>
      </p:sp>
      <p:sp>
        <p:nvSpPr>
          <p:cNvPr id="8" name="code-block"/>
          <p:cNvSpPr/>
          <p:nvPr/>
        </p:nvSpPr>
        <p:spPr>
          <a:xfrm>
            <a:off x="4663440" y="1280160"/>
            <a:ext cx="4023360" cy="3291840"/>
          </a:xfrm>
          <a:prstGeom prst="roundRect">
            <a:avLst>
              <a:gd name="adj" fmla="val 2222"/>
            </a:avLst>
          </a:prstGeom>
          <a:solidFill>
            <a:schemeClr val="tx2"/>
          </a:solidFill>
          <a:ln w="12700">
            <a:solidFill>
              <a:schemeClr val="tx2"/>
            </a:solidFill>
            <a:prstDash val="solid"/>
          </a:ln>
        </p:spPr>
      </p:sp>
      <p:sp>
        <p:nvSpPr>
          <p:cNvPr id="9" name="Text 6"/>
          <p:cNvSpPr txBox="1"/>
          <p:nvPr/>
        </p:nvSpPr>
        <p:spPr>
          <a:xfrm>
            <a:off x="4864608" y="1389888"/>
            <a:ext cx="3621024" cy="228600"/>
          </a:xfrm>
          <a:prstGeom prst="rect">
            <a:avLst/>
          </a:prstGeom>
          <a:noFill/>
          <a:ln/>
        </p:spPr>
        <p:txBody>
          <a:bodyPr wrap="square" lIns="0" tIns="0" rIns="0" bIns="0" rtlCol="0" anchor="ctr"/>
          <a:lstStyle/>
          <a:p>
            <a:pPr indent="0" marL="0">
              <a:buNone/>
            </a:pPr>
            <a:r>
              <a:rPr lang="en-US" sz="950" b="1" spc="150" kern="0" dirty="0">
                <a:solidFill>
                  <a:schemeClr val="accent2"/>
                </a:solidFill>
              </a:rPr>
              <a:t>IOS / MACOS TOOLING</a:t>
            </a:r>
            <a:endParaRPr lang="en-US" sz="950" dirty="0"/>
          </a:p>
        </p:txBody>
      </p:sp>
      <p:sp>
        <p:nvSpPr>
          <p:cNvPr id="10" name="Text 7"/>
          <p:cNvSpPr txBox="1"/>
          <p:nvPr/>
        </p:nvSpPr>
        <p:spPr>
          <a:xfrm>
            <a:off x="4864608" y="1691640"/>
            <a:ext cx="3621024" cy="2770632"/>
          </a:xfrm>
          <a:prstGeom prst="rect">
            <a:avLst/>
          </a:prstGeom>
          <a:noFill/>
          <a:ln/>
        </p:spPr>
        <p:txBody>
          <a:bodyPr wrap="square" lIns="0" tIns="0" rIns="0" bIns="0" rtlCol="0" anchor="t"/>
          <a:lstStyle/>
          <a:p>
            <a:pPr indent="0" marL="0">
              <a:buNone/>
            </a:pPr>
            <a:r>
              <a:rPr lang="en-US" sz="1000" dirty="0">
                <a:solidFill>
                  <a:schemeClr val="accent2"/>
                </a:solidFill>
                <a:latin typeface="Courier New" pitchFamily="34" charset="0"/>
                <a:ea typeface="Courier New" pitchFamily="34" charset="-122"/>
                <a:cs typeface="Courier New" pitchFamily="34" charset="-120"/>
              </a:rPr>
              <a:t># Use full Xcode, finish first launch</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sudo xcode-select -s \</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  /Applications/Xcode.app/Contents/Developer</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sudo xcodebuild -runFirstLaunch</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sudo xcodebuild -license accept</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chemeClr val="accent2"/>
                </a:solidFill>
                <a:latin typeface="Courier New" pitchFamily="34" charset="0"/>
                <a:ea typeface="Courier New" pitchFamily="34" charset="-122"/>
                <a:cs typeface="Courier New" pitchFamily="34" charset="-120"/>
              </a:rPr>
              <a:t># CocoaPods (needed by plugins)</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sudo gem install cocoapods</a:t>
            </a:r>
            <a:endParaRPr lang="en-US" sz="1000" dirty="0"/>
          </a:p>
          <a:p>
            <a:pPr indent="0" marL="0">
              <a:buNone/>
            </a:pPr>
            <a:r>
              <a:rPr lang="en-US" sz="1000" dirty="0">
                <a:solidFill>
                  <a:schemeClr val="accent2"/>
                </a:solidFill>
                <a:latin typeface="Courier New" pitchFamily="34" charset="0"/>
                <a:ea typeface="Courier New" pitchFamily="34" charset="-122"/>
                <a:cs typeface="Courier New" pitchFamily="34" charset="-120"/>
              </a:rPr>
              <a:t>#   or: brew install cocoapods</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chemeClr val="accent2"/>
                </a:solidFill>
                <a:latin typeface="Courier New" pitchFamily="34" charset="0"/>
                <a:ea typeface="Courier New" pitchFamily="34" charset="-122"/>
                <a:cs typeface="Courier New" pitchFamily="34" charset="-120"/>
              </a:rPr>
              <a:t># Open the iOS Simulator</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open -a Simulator</a:t>
            </a:r>
            <a:endParaRPr lang="en-US" sz="1000" dirty="0"/>
          </a:p>
        </p:txBody>
      </p:sp>
      <p:sp>
        <p:nvSpPr>
          <p:cNvPr id="25" name="Slide Number Placeholder 0"/>
          <p:cNvSpPr>
            <a:spLocks noGrp="1"/>
          </p:cNvSpPr>
          <p:nvPr>
            <p:ph type="sldNum" sz="quarter" idx="4294967295"/>
          </p:nvPr>
        </p:nvSpPr>
        <p:spPr>
          <a:xfrm>
            <a:off x="8229600" y="4773168"/>
            <a:ext cx="457200" cy="237744"/>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4748B"/>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457200" y="228600"/>
            <a:ext cx="8229600" cy="256032"/>
          </a:xfrm>
          <a:prstGeom prst="rect">
            <a:avLst/>
          </a:prstGeom>
          <a:noFill/>
          <a:ln/>
        </p:spPr>
        <p:txBody>
          <a:bodyPr wrap="square" lIns="0" tIns="0" rIns="0" bIns="0" rtlCol="0" anchor="ctr"/>
          <a:lstStyle/>
          <a:p>
            <a:pPr indent="0" marL="0">
              <a:buNone/>
            </a:pPr>
            <a:r>
              <a:rPr lang="en-US" sz="1100" b="1" spc="200" kern="0" dirty="0">
                <a:solidFill>
                  <a:schemeClr val="accent1"/>
                </a:solidFill>
              </a:rPr>
              <a:t>PART 1 · BOTH PLATFORMS</a:t>
            </a:r>
            <a:endParaRPr lang="en-US" sz="1100" dirty="0"/>
          </a:p>
        </p:txBody>
      </p:sp>
      <p:sp>
        <p:nvSpPr>
          <p:cNvPr id="3" name="Text 0"/>
          <p:cNvSpPr/>
          <p:nvPr>
            <p:ph idx="101" type="title" hasCustomPrompt="1"/>
          </p:nvPr>
        </p:nvSpPr>
        <p:spPr>
          <a:xfrm>
            <a:off x="457200" y="502920"/>
            <a:ext cx="8229600" cy="566928"/>
          </a:xfrm>
          <a:prstGeom prst="rect">
            <a:avLst/>
          </a:prstGeom>
          <a:noFill/>
          <a:ln/>
        </p:spPr>
        <p:txBody>
          <a:bodyPr wrap="square" lIns="0" tIns="0" rIns="0" bIns="0" rtlCol="0" anchor="ctr"/>
          <a:lstStyle/>
          <a:p>
            <a:pPr indent="0" marL="0">
              <a:buNone/>
            </a:pPr>
            <a:r>
              <a:rPr lang="en-US" sz="2800" b="1" dirty="0">
                <a:solidFill>
                  <a:schemeClr val="tx2"/>
                </a:solidFill>
              </a:rPr>
              <a:t>Android setup (Windows and macOS)</a:t>
            </a:r>
            <a:endParaRPr lang="en-US" sz="2800" dirty="0"/>
          </a:p>
        </p:txBody>
      </p:sp>
      <p:sp>
        <p:nvSpPr>
          <p:cNvPr id="5" name="card"/>
          <p:cNvSpPr/>
          <p:nvPr/>
        </p:nvSpPr>
        <p:spPr>
          <a:xfrm>
            <a:off x="457200" y="1280160"/>
            <a:ext cx="4572000" cy="731520"/>
          </a:xfrm>
          <a:prstGeom prst="roundRect">
            <a:avLst>
              <a:gd name="adj" fmla="val 10000"/>
            </a:avLst>
          </a:prstGeom>
          <a:solidFill>
            <a:schemeClr val="bg2"/>
          </a:solidFill>
          <a:ln w="12700">
            <a:solidFill>
              <a:schemeClr val="bg2"/>
            </a:solidFill>
            <a:prstDash val="solid"/>
          </a:ln>
        </p:spPr>
      </p:sp>
      <p:sp>
        <p:nvSpPr>
          <p:cNvPr id="6" name="badge"/>
          <p:cNvSpPr/>
          <p:nvPr/>
        </p:nvSpPr>
        <p:spPr>
          <a:xfrm>
            <a:off x="621792" y="1417320"/>
            <a:ext cx="457200" cy="457200"/>
          </a:xfrm>
          <a:prstGeom prst="ellipse">
            <a:avLst/>
          </a:prstGeom>
          <a:solidFill>
            <a:schemeClr val="accent3"/>
          </a:solidFill>
          <a:ln w="12700">
            <a:solidFill>
              <a:schemeClr val="accent3"/>
            </a:solidFill>
            <a:prstDash val="solid"/>
          </a:ln>
        </p:spPr>
      </p:sp>
      <p:sp>
        <p:nvSpPr>
          <p:cNvPr id="7" name="Text 4"/>
          <p:cNvSpPr txBox="1"/>
          <p:nvPr/>
        </p:nvSpPr>
        <p:spPr>
          <a:xfrm>
            <a:off x="621792" y="141732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8" name="Text 5"/>
          <p:cNvSpPr txBox="1"/>
          <p:nvPr/>
        </p:nvSpPr>
        <p:spPr>
          <a:xfrm>
            <a:off x="1234440" y="1335024"/>
            <a:ext cx="3657600" cy="621792"/>
          </a:xfrm>
          <a:prstGeom prst="rect">
            <a:avLst/>
          </a:prstGeom>
          <a:noFill/>
          <a:ln/>
        </p:spPr>
        <p:txBody>
          <a:bodyPr wrap="square" lIns="0" tIns="0" rIns="0" bIns="0" rtlCol="0" anchor="ctr"/>
          <a:lstStyle/>
          <a:p>
            <a:pPr indent="0" marL="0">
              <a:buNone/>
            </a:pPr>
            <a:r>
              <a:rPr lang="en-US" sz="1300" b="1" dirty="0">
                <a:solidFill>
                  <a:schemeClr val="tx2"/>
                </a:solidFill>
              </a:rPr>
              <a:t>Install Android Studio</a:t>
            </a:r>
            <a:endParaRPr lang="en-US" sz="1300" dirty="0"/>
          </a:p>
          <a:p>
            <a:pPr indent="0" marL="0">
              <a:buNone/>
            </a:pPr>
            <a:r>
              <a:rPr lang="en-US" sz="1150" dirty="0">
                <a:solidFill>
                  <a:schemeClr val="tx1"/>
                </a:solidFill>
              </a:rPr>
              <a:t>From developer.android.com/studio; the setup wizard installs the Android SDK. Add the Flutter plugin (it brings Dart).</a:t>
            </a:r>
            <a:endParaRPr lang="en-US" sz="1300" dirty="0"/>
          </a:p>
        </p:txBody>
      </p:sp>
      <p:sp>
        <p:nvSpPr>
          <p:cNvPr id="9" name="card"/>
          <p:cNvSpPr/>
          <p:nvPr/>
        </p:nvSpPr>
        <p:spPr>
          <a:xfrm>
            <a:off x="457200" y="2121408"/>
            <a:ext cx="4572000" cy="731520"/>
          </a:xfrm>
          <a:prstGeom prst="roundRect">
            <a:avLst>
              <a:gd name="adj" fmla="val 10000"/>
            </a:avLst>
          </a:prstGeom>
          <a:solidFill>
            <a:schemeClr val="bg2"/>
          </a:solidFill>
          <a:ln w="12700">
            <a:solidFill>
              <a:schemeClr val="bg2"/>
            </a:solidFill>
            <a:prstDash val="solid"/>
          </a:ln>
        </p:spPr>
      </p:sp>
      <p:sp>
        <p:nvSpPr>
          <p:cNvPr id="10" name="badge"/>
          <p:cNvSpPr/>
          <p:nvPr/>
        </p:nvSpPr>
        <p:spPr>
          <a:xfrm>
            <a:off x="621792" y="2258568"/>
            <a:ext cx="457200" cy="457200"/>
          </a:xfrm>
          <a:prstGeom prst="ellipse">
            <a:avLst/>
          </a:prstGeom>
          <a:solidFill>
            <a:schemeClr val="accent3"/>
          </a:solidFill>
          <a:ln w="12700">
            <a:solidFill>
              <a:schemeClr val="accent3"/>
            </a:solidFill>
            <a:prstDash val="solid"/>
          </a:ln>
        </p:spPr>
      </p:sp>
      <p:sp>
        <p:nvSpPr>
          <p:cNvPr id="11" name="Text 8"/>
          <p:cNvSpPr txBox="1"/>
          <p:nvPr/>
        </p:nvSpPr>
        <p:spPr>
          <a:xfrm>
            <a:off x="621792" y="2258568"/>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2" name="Text 9"/>
          <p:cNvSpPr txBox="1"/>
          <p:nvPr/>
        </p:nvSpPr>
        <p:spPr>
          <a:xfrm>
            <a:off x="1234440" y="2176272"/>
            <a:ext cx="3657600" cy="621792"/>
          </a:xfrm>
          <a:prstGeom prst="rect">
            <a:avLst/>
          </a:prstGeom>
          <a:noFill/>
          <a:ln/>
        </p:spPr>
        <p:txBody>
          <a:bodyPr wrap="square" lIns="0" tIns="0" rIns="0" bIns="0" rtlCol="0" anchor="ctr"/>
          <a:lstStyle/>
          <a:p>
            <a:pPr indent="0" marL="0">
              <a:buNone/>
            </a:pPr>
            <a:r>
              <a:rPr lang="en-US" sz="1300" b="1" dirty="0">
                <a:solidFill>
                  <a:schemeClr val="tx2"/>
                </a:solidFill>
              </a:rPr>
              <a:t>SDK Manager → SDK Tools</a:t>
            </a:r>
            <a:endParaRPr lang="en-US" sz="1300" dirty="0"/>
          </a:p>
          <a:p>
            <a:pPr indent="0" marL="0">
              <a:buNone/>
            </a:pPr>
            <a:r>
              <a:rPr lang="en-US" sz="1150" dirty="0">
                <a:solidFill>
                  <a:schemeClr val="tx1"/>
                </a:solidFill>
              </a:rPr>
              <a:t>Tick Android SDK Command-line Tools, Build-Tools, Platform-Tools and Emulator.</a:t>
            </a:r>
            <a:endParaRPr lang="en-US" sz="1300" dirty="0"/>
          </a:p>
        </p:txBody>
      </p:sp>
      <p:sp>
        <p:nvSpPr>
          <p:cNvPr id="13" name="card"/>
          <p:cNvSpPr/>
          <p:nvPr/>
        </p:nvSpPr>
        <p:spPr>
          <a:xfrm>
            <a:off x="457200" y="2962656"/>
            <a:ext cx="4572000" cy="731520"/>
          </a:xfrm>
          <a:prstGeom prst="roundRect">
            <a:avLst>
              <a:gd name="adj" fmla="val 10000"/>
            </a:avLst>
          </a:prstGeom>
          <a:solidFill>
            <a:schemeClr val="bg2"/>
          </a:solidFill>
          <a:ln w="12700">
            <a:solidFill>
              <a:schemeClr val="bg2"/>
            </a:solidFill>
            <a:prstDash val="solid"/>
          </a:ln>
        </p:spPr>
      </p:sp>
      <p:sp>
        <p:nvSpPr>
          <p:cNvPr id="14" name="badge"/>
          <p:cNvSpPr/>
          <p:nvPr/>
        </p:nvSpPr>
        <p:spPr>
          <a:xfrm>
            <a:off x="621792" y="3099816"/>
            <a:ext cx="457200" cy="457200"/>
          </a:xfrm>
          <a:prstGeom prst="ellipse">
            <a:avLst/>
          </a:prstGeom>
          <a:solidFill>
            <a:schemeClr val="accent3"/>
          </a:solidFill>
          <a:ln w="12700">
            <a:solidFill>
              <a:schemeClr val="accent3"/>
            </a:solidFill>
            <a:prstDash val="solid"/>
          </a:ln>
        </p:spPr>
      </p:sp>
      <p:sp>
        <p:nvSpPr>
          <p:cNvPr id="15" name="Text 12"/>
          <p:cNvSpPr txBox="1"/>
          <p:nvPr/>
        </p:nvSpPr>
        <p:spPr>
          <a:xfrm>
            <a:off x="621792" y="3099816"/>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6" name="Text 13"/>
          <p:cNvSpPr txBox="1"/>
          <p:nvPr/>
        </p:nvSpPr>
        <p:spPr>
          <a:xfrm>
            <a:off x="1234440" y="3017520"/>
            <a:ext cx="3657600" cy="621792"/>
          </a:xfrm>
          <a:prstGeom prst="rect">
            <a:avLst/>
          </a:prstGeom>
          <a:noFill/>
          <a:ln/>
        </p:spPr>
        <p:txBody>
          <a:bodyPr wrap="square" lIns="0" tIns="0" rIns="0" bIns="0" rtlCol="0" anchor="ctr"/>
          <a:lstStyle/>
          <a:p>
            <a:pPr indent="0" marL="0">
              <a:buNone/>
            </a:pPr>
            <a:r>
              <a:rPr lang="en-US" sz="1300" b="1" dirty="0">
                <a:solidFill>
                  <a:schemeClr val="tx2"/>
                </a:solidFill>
              </a:rPr>
              <a:t>Accept licences</a:t>
            </a:r>
            <a:endParaRPr lang="en-US" sz="1300" dirty="0"/>
          </a:p>
          <a:p>
            <a:pPr indent="0" marL="0">
              <a:buNone/>
            </a:pPr>
            <a:r>
              <a:rPr lang="en-US" sz="1150" dirty="0">
                <a:solidFill>
                  <a:schemeClr val="tx1"/>
                </a:solidFill>
              </a:rPr>
              <a:t>Run flutter doctor --android-licenses and answer y to each.</a:t>
            </a:r>
            <a:endParaRPr lang="en-US" sz="1300" dirty="0"/>
          </a:p>
        </p:txBody>
      </p:sp>
      <p:sp>
        <p:nvSpPr>
          <p:cNvPr id="17" name="card"/>
          <p:cNvSpPr/>
          <p:nvPr/>
        </p:nvSpPr>
        <p:spPr>
          <a:xfrm>
            <a:off x="457200" y="3803904"/>
            <a:ext cx="4572000" cy="731520"/>
          </a:xfrm>
          <a:prstGeom prst="roundRect">
            <a:avLst>
              <a:gd name="adj" fmla="val 10000"/>
            </a:avLst>
          </a:prstGeom>
          <a:solidFill>
            <a:schemeClr val="bg2"/>
          </a:solidFill>
          <a:ln w="12700">
            <a:solidFill>
              <a:schemeClr val="bg2"/>
            </a:solidFill>
            <a:prstDash val="solid"/>
          </a:ln>
        </p:spPr>
      </p:sp>
      <p:sp>
        <p:nvSpPr>
          <p:cNvPr id="18" name="badge"/>
          <p:cNvSpPr/>
          <p:nvPr/>
        </p:nvSpPr>
        <p:spPr>
          <a:xfrm>
            <a:off x="621792" y="3941064"/>
            <a:ext cx="457200" cy="457200"/>
          </a:xfrm>
          <a:prstGeom prst="ellipse">
            <a:avLst/>
          </a:prstGeom>
          <a:solidFill>
            <a:schemeClr val="accent3"/>
          </a:solidFill>
          <a:ln w="12700">
            <a:solidFill>
              <a:schemeClr val="accent3"/>
            </a:solidFill>
            <a:prstDash val="solid"/>
          </a:ln>
        </p:spPr>
      </p:sp>
      <p:sp>
        <p:nvSpPr>
          <p:cNvPr id="19" name="Text 16"/>
          <p:cNvSpPr txBox="1"/>
          <p:nvPr/>
        </p:nvSpPr>
        <p:spPr>
          <a:xfrm>
            <a:off x="621792" y="3941064"/>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0" name="Text 17"/>
          <p:cNvSpPr txBox="1"/>
          <p:nvPr/>
        </p:nvSpPr>
        <p:spPr>
          <a:xfrm>
            <a:off x="1234440" y="3858768"/>
            <a:ext cx="3657600" cy="621792"/>
          </a:xfrm>
          <a:prstGeom prst="rect">
            <a:avLst/>
          </a:prstGeom>
          <a:noFill/>
          <a:ln/>
        </p:spPr>
        <p:txBody>
          <a:bodyPr wrap="square" lIns="0" tIns="0" rIns="0" bIns="0" rtlCol="0" anchor="ctr"/>
          <a:lstStyle/>
          <a:p>
            <a:pPr indent="0" marL="0">
              <a:buNone/>
            </a:pPr>
            <a:r>
              <a:rPr lang="en-US" sz="1300" b="1" dirty="0">
                <a:solidFill>
                  <a:schemeClr val="tx2"/>
                </a:solidFill>
              </a:rPr>
              <a:t>Create a device</a:t>
            </a:r>
            <a:endParaRPr lang="en-US" sz="1300" dirty="0"/>
          </a:p>
          <a:p>
            <a:pPr indent="0" marL="0">
              <a:buNone/>
            </a:pPr>
            <a:r>
              <a:rPr lang="en-US" sz="1150" dirty="0">
                <a:solidFill>
                  <a:schemeClr val="tx1"/>
                </a:solidFill>
              </a:rPr>
              <a:t>Device Manager → create a virtual device, or enable USB debugging on a phone.</a:t>
            </a:r>
            <a:endParaRPr lang="en-US" sz="1300" dirty="0"/>
          </a:p>
        </p:txBody>
      </p:sp>
      <p:sp>
        <p:nvSpPr>
          <p:cNvPr id="21" name="code-block"/>
          <p:cNvSpPr/>
          <p:nvPr/>
        </p:nvSpPr>
        <p:spPr>
          <a:xfrm>
            <a:off x="5303520" y="1280160"/>
            <a:ext cx="3383280" cy="2103120"/>
          </a:xfrm>
          <a:prstGeom prst="roundRect">
            <a:avLst>
              <a:gd name="adj" fmla="val 3478"/>
            </a:avLst>
          </a:prstGeom>
          <a:solidFill>
            <a:schemeClr val="tx2"/>
          </a:solidFill>
          <a:ln w="12700">
            <a:solidFill>
              <a:schemeClr val="tx2"/>
            </a:solidFill>
            <a:prstDash val="solid"/>
          </a:ln>
        </p:spPr>
      </p:sp>
      <p:sp>
        <p:nvSpPr>
          <p:cNvPr id="22" name="Text 19"/>
          <p:cNvSpPr txBox="1"/>
          <p:nvPr/>
        </p:nvSpPr>
        <p:spPr>
          <a:xfrm>
            <a:off x="5504688" y="1389888"/>
            <a:ext cx="2980944" cy="228600"/>
          </a:xfrm>
          <a:prstGeom prst="rect">
            <a:avLst/>
          </a:prstGeom>
          <a:noFill/>
          <a:ln/>
        </p:spPr>
        <p:txBody>
          <a:bodyPr wrap="square" lIns="0" tIns="0" rIns="0" bIns="0" rtlCol="0" anchor="ctr"/>
          <a:lstStyle/>
          <a:p>
            <a:pPr indent="0" marL="0">
              <a:buNone/>
            </a:pPr>
            <a:r>
              <a:rPr lang="en-US" sz="950" b="1" spc="150" kern="0" dirty="0">
                <a:solidFill>
                  <a:schemeClr val="accent2"/>
                </a:solidFill>
              </a:rPr>
              <a:t>COMMANDS</a:t>
            </a:r>
            <a:endParaRPr lang="en-US" sz="950" dirty="0"/>
          </a:p>
        </p:txBody>
      </p:sp>
      <p:sp>
        <p:nvSpPr>
          <p:cNvPr id="23" name="Text 20"/>
          <p:cNvSpPr txBox="1"/>
          <p:nvPr/>
        </p:nvSpPr>
        <p:spPr>
          <a:xfrm>
            <a:off x="5504688" y="1691640"/>
            <a:ext cx="2980944" cy="1581912"/>
          </a:xfrm>
          <a:prstGeom prst="rect">
            <a:avLst/>
          </a:prstGeom>
          <a:noFill/>
          <a:ln/>
        </p:spPr>
        <p:txBody>
          <a:bodyPr wrap="square" lIns="0" tIns="0" rIns="0" bIns="0" rtlCol="0" anchor="t"/>
          <a:lstStyle/>
          <a:p>
            <a:pPr indent="0" marL="0">
              <a:buNone/>
            </a:pPr>
            <a:r>
              <a:rPr lang="en-US" sz="1050" dirty="0">
                <a:solidFill>
                  <a:schemeClr val="bg1"/>
                </a:solidFill>
                <a:latin typeface="Courier New" pitchFamily="34" charset="0"/>
                <a:ea typeface="Courier New" pitchFamily="34" charset="-122"/>
                <a:cs typeface="Courier New" pitchFamily="34" charset="-120"/>
              </a:rPr>
              <a:t>flutter doctor --android-licenses</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 </a:t>
            </a:r>
            <a:endParaRPr lang="en-US" sz="1050" dirty="0"/>
          </a:p>
          <a:p>
            <a:pPr indent="0" marL="0">
              <a:buNone/>
            </a:pPr>
            <a:r>
              <a:rPr lang="en-US" sz="1050" dirty="0">
                <a:solidFill>
                  <a:schemeClr val="accent2"/>
                </a:solidFill>
                <a:latin typeface="Courier New" pitchFamily="34" charset="0"/>
                <a:ea typeface="Courier New" pitchFamily="34" charset="-122"/>
                <a:cs typeface="Courier New" pitchFamily="34" charset="-120"/>
              </a:rPr>
              <a:t># list / start emulators</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flutter emulators</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flutter emulators --launch &lt;id&gt;</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 </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flutter devices</a:t>
            </a:r>
            <a:endParaRPr lang="en-US" sz="1050" dirty="0"/>
          </a:p>
        </p:txBody>
      </p:sp>
      <p:sp>
        <p:nvSpPr>
          <p:cNvPr id="24" name="card"/>
          <p:cNvSpPr/>
          <p:nvPr/>
        </p:nvSpPr>
        <p:spPr>
          <a:xfrm>
            <a:off x="5303520" y="3611880"/>
            <a:ext cx="3383280" cy="960120"/>
          </a:xfrm>
          <a:prstGeom prst="roundRect">
            <a:avLst>
              <a:gd name="adj" fmla="val 7619"/>
            </a:avLst>
          </a:prstGeom>
          <a:solidFill>
            <a:schemeClr val="bg2"/>
          </a:solidFill>
          <a:ln w="12700">
            <a:solidFill>
              <a:schemeClr val="bg2"/>
            </a:solidFill>
            <a:prstDash val="solid"/>
          </a:ln>
        </p:spPr>
      </p:sp>
      <p:sp>
        <p:nvSpPr>
          <p:cNvPr id="25" name="icon-circle"/>
          <p:cNvSpPr/>
          <p:nvPr/>
        </p:nvSpPr>
        <p:spPr>
          <a:xfrm>
            <a:off x="5468112" y="3822192"/>
            <a:ext cx="502920" cy="502920"/>
          </a:xfrm>
          <a:prstGeom prst="ellipse">
            <a:avLst/>
          </a:prstGeom>
          <a:solidFill>
            <a:schemeClr val="accent3"/>
          </a:solidFill>
          <a:ln w="12700">
            <a:solidFill>
              <a:schemeClr val="accent3"/>
            </a:solidFill>
            <a:prstDash val="solid"/>
          </a:ln>
        </p:spPr>
      </p:sp>
      <p:pic>
        <p:nvPicPr>
          <p:cNvPr id="26" name="icon" descr="preencoded.png">    </p:cNvPr>
          <p:cNvPicPr>
            <a:picLocks noChangeAspect="1"/>
          </p:cNvPicPr>
          <p:nvPr/>
        </p:nvPicPr>
        <p:blipFill>
          <a:blip r:embed="rId1"/>
          <a:stretch>
            <a:fillRect/>
          </a:stretch>
        </p:blipFill>
        <p:spPr>
          <a:xfrm>
            <a:off x="5593842" y="3947922"/>
            <a:ext cx="251460" cy="251460"/>
          </a:xfrm>
          <a:prstGeom prst="rect">
            <a:avLst/>
          </a:prstGeom>
        </p:spPr>
      </p:pic>
      <p:sp>
        <p:nvSpPr>
          <p:cNvPr id="27" name="Text 23"/>
          <p:cNvSpPr txBox="1"/>
          <p:nvPr/>
        </p:nvSpPr>
        <p:spPr>
          <a:xfrm>
            <a:off x="6108192" y="3685032"/>
            <a:ext cx="2468880" cy="822960"/>
          </a:xfrm>
          <a:prstGeom prst="rect">
            <a:avLst/>
          </a:prstGeom>
          <a:noFill/>
          <a:ln/>
        </p:spPr>
        <p:txBody>
          <a:bodyPr wrap="square" lIns="0" tIns="0" rIns="0" bIns="0" rtlCol="0" anchor="ctr"/>
          <a:lstStyle/>
          <a:p>
            <a:pPr indent="0" marL="0">
              <a:buNone/>
            </a:pPr>
            <a:r>
              <a:rPr lang="en-US" sz="1250" dirty="0">
                <a:solidFill>
                  <a:schemeClr val="tx1"/>
                </a:solidFill>
              </a:rPr>
              <a:t>Goal: flutter doctor shows a green tick for Android toolchain.</a:t>
            </a:r>
            <a:endParaRPr lang="en-US" sz="1250" dirty="0"/>
          </a:p>
        </p:txBody>
      </p:sp>
      <p:sp>
        <p:nvSpPr>
          <p:cNvPr id="25" name="Slide Number Placeholder 0"/>
          <p:cNvSpPr>
            <a:spLocks noGrp="1"/>
          </p:cNvSpPr>
          <p:nvPr>
            <p:ph type="sldNum" sz="quarter" idx="4294967295"/>
          </p:nvPr>
        </p:nvSpPr>
        <p:spPr>
          <a:xfrm>
            <a:off x="8229600" y="4773168"/>
            <a:ext cx="457200" cy="237744"/>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4748B"/>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457200" y="228600"/>
            <a:ext cx="8229600" cy="256032"/>
          </a:xfrm>
          <a:prstGeom prst="rect">
            <a:avLst/>
          </a:prstGeom>
          <a:noFill/>
          <a:ln/>
        </p:spPr>
        <p:txBody>
          <a:bodyPr wrap="square" lIns="0" tIns="0" rIns="0" bIns="0" rtlCol="0" anchor="ctr"/>
          <a:lstStyle/>
          <a:p>
            <a:pPr indent="0" marL="0">
              <a:buNone/>
            </a:pPr>
            <a:r>
              <a:rPr lang="en-US" sz="1100" b="1" spc="200" kern="0" dirty="0">
                <a:solidFill>
                  <a:schemeClr val="accent1"/>
                </a:solidFill>
              </a:rPr>
              <a:t>PART 1 · VERIFY</a:t>
            </a:r>
            <a:endParaRPr lang="en-US" sz="1100" dirty="0"/>
          </a:p>
        </p:txBody>
      </p:sp>
      <p:sp>
        <p:nvSpPr>
          <p:cNvPr id="3" name="Text 0"/>
          <p:cNvSpPr/>
          <p:nvPr>
            <p:ph idx="101" type="title" hasCustomPrompt="1"/>
          </p:nvPr>
        </p:nvSpPr>
        <p:spPr>
          <a:xfrm>
            <a:off x="457200" y="502920"/>
            <a:ext cx="8229600" cy="566928"/>
          </a:xfrm>
          <a:prstGeom prst="rect">
            <a:avLst/>
          </a:prstGeom>
          <a:noFill/>
          <a:ln/>
        </p:spPr>
        <p:txBody>
          <a:bodyPr wrap="square" lIns="0" tIns="0" rIns="0" bIns="0" rtlCol="0" anchor="ctr"/>
          <a:lstStyle/>
          <a:p>
            <a:pPr indent="0" marL="0">
              <a:buNone/>
            </a:pPr>
            <a:r>
              <a:rPr lang="en-US" sz="2800" b="1" dirty="0">
                <a:solidFill>
                  <a:schemeClr val="tx2"/>
                </a:solidFill>
              </a:rPr>
              <a:t>Check your setup with flutter doctor</a:t>
            </a:r>
            <a:endParaRPr lang="en-US" sz="2800" dirty="0"/>
          </a:p>
        </p:txBody>
      </p:sp>
      <p:sp>
        <p:nvSpPr>
          <p:cNvPr id="5" name="code-block"/>
          <p:cNvSpPr/>
          <p:nvPr/>
        </p:nvSpPr>
        <p:spPr>
          <a:xfrm>
            <a:off x="457200" y="1280160"/>
            <a:ext cx="5029200" cy="3291840"/>
          </a:xfrm>
          <a:prstGeom prst="roundRect">
            <a:avLst>
              <a:gd name="adj" fmla="val 2222"/>
            </a:avLst>
          </a:prstGeom>
          <a:solidFill>
            <a:schemeClr val="tx2"/>
          </a:solidFill>
          <a:ln w="12700">
            <a:solidFill>
              <a:schemeClr val="tx2"/>
            </a:solidFill>
            <a:prstDash val="solid"/>
          </a:ln>
        </p:spPr>
      </p:sp>
      <p:sp>
        <p:nvSpPr>
          <p:cNvPr id="6" name="Text 3"/>
          <p:cNvSpPr txBox="1"/>
          <p:nvPr/>
        </p:nvSpPr>
        <p:spPr>
          <a:xfrm>
            <a:off x="658368" y="1389888"/>
            <a:ext cx="4626864" cy="228600"/>
          </a:xfrm>
          <a:prstGeom prst="rect">
            <a:avLst/>
          </a:prstGeom>
          <a:noFill/>
          <a:ln/>
        </p:spPr>
        <p:txBody>
          <a:bodyPr wrap="square" lIns="0" tIns="0" rIns="0" bIns="0" rtlCol="0" anchor="ctr"/>
          <a:lstStyle/>
          <a:p>
            <a:pPr indent="0" marL="0">
              <a:buNone/>
            </a:pPr>
            <a:r>
              <a:rPr lang="en-US" sz="950" b="1" spc="150" kern="0" dirty="0">
                <a:solidFill>
                  <a:schemeClr val="accent2"/>
                </a:solidFill>
              </a:rPr>
              <a:t>SAMPLE OUTPUT (WINDOWS)</a:t>
            </a:r>
            <a:endParaRPr lang="en-US" sz="950" dirty="0"/>
          </a:p>
        </p:txBody>
      </p:sp>
      <p:sp>
        <p:nvSpPr>
          <p:cNvPr id="7" name="Text 4"/>
          <p:cNvSpPr txBox="1"/>
          <p:nvPr/>
        </p:nvSpPr>
        <p:spPr>
          <a:xfrm>
            <a:off x="658368" y="1691640"/>
            <a:ext cx="4626864" cy="2770632"/>
          </a:xfrm>
          <a:prstGeom prst="rect">
            <a:avLst/>
          </a:prstGeom>
          <a:noFill/>
          <a:ln/>
        </p:spPr>
        <p:txBody>
          <a:bodyPr wrap="square" lIns="0" tIns="0" rIns="0" bIns="0" rtlCol="0" anchor="t"/>
          <a:lstStyle/>
          <a:p>
            <a:pPr indent="0" marL="0">
              <a:buNone/>
            </a:pPr>
            <a:r>
              <a:rPr lang="en-US" sz="950" dirty="0">
                <a:solidFill>
                  <a:schemeClr val="bg1"/>
                </a:solidFill>
                <a:latin typeface="Courier New" pitchFamily="34" charset="0"/>
                <a:ea typeface="Courier New" pitchFamily="34" charset="-122"/>
                <a:cs typeface="Courier New" pitchFamily="34" charset="-120"/>
              </a:rPr>
              <a:t>&gt; flutter doctor</a:t>
            </a:r>
            <a:endParaRPr lang="en-US" sz="950" dirty="0"/>
          </a:p>
          <a:p>
            <a:pPr indent="0" marL="0">
              <a:buNone/>
            </a:pPr>
            <a:r>
              <a:rPr lang="en-US" sz="950" dirty="0">
                <a:solidFill>
                  <a:schemeClr val="bg1"/>
                </a:solidFill>
                <a:latin typeface="Courier New" pitchFamily="34" charset="0"/>
                <a:ea typeface="Courier New" pitchFamily="34" charset="-122"/>
                <a:cs typeface="Courier New" pitchFamily="34" charset="-120"/>
              </a:rPr>
              <a:t>Doctor summary (to see all details, run flutter doctor -v):</a:t>
            </a:r>
            <a:endParaRPr lang="en-US" sz="950" dirty="0"/>
          </a:p>
          <a:p>
            <a:pPr indent="0" marL="0">
              <a:buNone/>
            </a:pPr>
            <a:r>
              <a:rPr lang="en-US" sz="950" dirty="0">
                <a:solidFill>
                  <a:schemeClr val="bg1"/>
                </a:solidFill>
                <a:latin typeface="Courier New" pitchFamily="34" charset="0"/>
                <a:ea typeface="Courier New" pitchFamily="34" charset="-122"/>
                <a:cs typeface="Courier New" pitchFamily="34" charset="-120"/>
              </a:rPr>
              <a:t>[✓] Flutter (Channel stable, 3.x.x, on Microsoft Windows)</a:t>
            </a:r>
            <a:endParaRPr lang="en-US" sz="950" dirty="0"/>
          </a:p>
          <a:p>
            <a:pPr indent="0" marL="0">
              <a:buNone/>
            </a:pPr>
            <a:r>
              <a:rPr lang="en-US" sz="950" dirty="0">
                <a:solidFill>
                  <a:schemeClr val="bg1"/>
                </a:solidFill>
                <a:latin typeface="Courier New" pitchFamily="34" charset="0"/>
                <a:ea typeface="Courier New" pitchFamily="34" charset="-122"/>
                <a:cs typeface="Courier New" pitchFamily="34" charset="-120"/>
              </a:rPr>
              <a:t>[✓] Windows Version</a:t>
            </a:r>
            <a:endParaRPr lang="en-US" sz="950" dirty="0"/>
          </a:p>
          <a:p>
            <a:pPr indent="0" marL="0">
              <a:buNone/>
            </a:pPr>
            <a:r>
              <a:rPr lang="en-US" sz="950" dirty="0">
                <a:solidFill>
                  <a:schemeClr val="bg1"/>
                </a:solidFill>
                <a:latin typeface="Courier New" pitchFamily="34" charset="0"/>
                <a:ea typeface="Courier New" pitchFamily="34" charset="-122"/>
                <a:cs typeface="Courier New" pitchFamily="34" charset="-120"/>
              </a:rPr>
              <a:t>[✓] Android toolchain - develop for Android devices</a:t>
            </a:r>
            <a:endParaRPr lang="en-US" sz="950" dirty="0"/>
          </a:p>
          <a:p>
            <a:pPr indent="0" marL="0">
              <a:buNone/>
            </a:pPr>
            <a:r>
              <a:rPr lang="en-US" sz="950" dirty="0">
                <a:solidFill>
                  <a:schemeClr val="bg1"/>
                </a:solidFill>
                <a:latin typeface="Courier New" pitchFamily="34" charset="0"/>
                <a:ea typeface="Courier New" pitchFamily="34" charset="-122"/>
                <a:cs typeface="Courier New" pitchFamily="34" charset="-120"/>
              </a:rPr>
              <a:t>[✓] Chrome - develop for the web</a:t>
            </a:r>
            <a:endParaRPr lang="en-US" sz="950" dirty="0"/>
          </a:p>
          <a:p>
            <a:pPr indent="0" marL="0">
              <a:buNone/>
            </a:pPr>
            <a:r>
              <a:rPr lang="en-US" sz="950" dirty="0">
                <a:solidFill>
                  <a:schemeClr val="bg1"/>
                </a:solidFill>
                <a:latin typeface="Courier New" pitchFamily="34" charset="0"/>
                <a:ea typeface="Courier New" pitchFamily="34" charset="-122"/>
                <a:cs typeface="Courier New" pitchFamily="34" charset="-120"/>
              </a:rPr>
              <a:t>[✗] Visual Studio - develop Windows apps</a:t>
            </a:r>
            <a:endParaRPr lang="en-US" sz="950" dirty="0"/>
          </a:p>
          <a:p>
            <a:pPr indent="0" marL="0">
              <a:buNone/>
            </a:pPr>
            <a:r>
              <a:rPr lang="en-US" sz="950" dirty="0">
                <a:solidFill>
                  <a:schemeClr val="bg1"/>
                </a:solidFill>
                <a:latin typeface="Courier New" pitchFamily="34" charset="0"/>
                <a:ea typeface="Courier New" pitchFamily="34" charset="-122"/>
                <a:cs typeface="Courier New" pitchFamily="34" charset="-120"/>
              </a:rPr>
              <a:t>    ✗ Visual Studio not installed</a:t>
            </a:r>
            <a:endParaRPr lang="en-US" sz="950" dirty="0"/>
          </a:p>
          <a:p>
            <a:pPr indent="0" marL="0">
              <a:buNone/>
            </a:pPr>
            <a:r>
              <a:rPr lang="en-US" sz="950" dirty="0">
                <a:solidFill>
                  <a:schemeClr val="bg1"/>
                </a:solidFill>
                <a:latin typeface="Courier New" pitchFamily="34" charset="0"/>
                <a:ea typeface="Courier New" pitchFamily="34" charset="-122"/>
                <a:cs typeface="Courier New" pitchFamily="34" charset="-120"/>
              </a:rPr>
              <a:t>[✓] Android Studio</a:t>
            </a:r>
            <a:endParaRPr lang="en-US" sz="950" dirty="0"/>
          </a:p>
          <a:p>
            <a:pPr indent="0" marL="0">
              <a:buNone/>
            </a:pPr>
            <a:r>
              <a:rPr lang="en-US" sz="950" dirty="0">
                <a:solidFill>
                  <a:schemeClr val="bg1"/>
                </a:solidFill>
                <a:latin typeface="Courier New" pitchFamily="34" charset="0"/>
                <a:ea typeface="Courier New" pitchFamily="34" charset="-122"/>
                <a:cs typeface="Courier New" pitchFamily="34" charset="-120"/>
              </a:rPr>
              <a:t>[✓] VS Code</a:t>
            </a:r>
            <a:endParaRPr lang="en-US" sz="950" dirty="0"/>
          </a:p>
          <a:p>
            <a:pPr indent="0" marL="0">
              <a:buNone/>
            </a:pPr>
            <a:r>
              <a:rPr lang="en-US" sz="950" dirty="0">
                <a:solidFill>
                  <a:schemeClr val="bg1"/>
                </a:solidFill>
                <a:latin typeface="Courier New" pitchFamily="34" charset="0"/>
                <a:ea typeface="Courier New" pitchFamily="34" charset="-122"/>
                <a:cs typeface="Courier New" pitchFamily="34" charset="-120"/>
              </a:rPr>
              <a:t>[✓] Connected device (3 available)</a:t>
            </a:r>
            <a:endParaRPr lang="en-US" sz="950" dirty="0"/>
          </a:p>
          <a:p>
            <a:pPr indent="0" marL="0">
              <a:buNone/>
            </a:pPr>
            <a:r>
              <a:rPr lang="en-US" sz="950" dirty="0">
                <a:solidFill>
                  <a:schemeClr val="bg1"/>
                </a:solidFill>
                <a:latin typeface="Courier New" pitchFamily="34" charset="0"/>
                <a:ea typeface="Courier New" pitchFamily="34" charset="-122"/>
                <a:cs typeface="Courier New" pitchFamily="34" charset="-120"/>
              </a:rPr>
              <a:t>[✓] Network resources</a:t>
            </a:r>
            <a:endParaRPr lang="en-US" sz="950" dirty="0"/>
          </a:p>
          <a:p>
            <a:pPr indent="0" marL="0">
              <a:buNone/>
            </a:pPr>
            <a:r>
              <a:rPr lang="en-US" sz="950" dirty="0">
                <a:solidFill>
                  <a:schemeClr val="bg1"/>
                </a:solidFill>
                <a:latin typeface="Courier New" pitchFamily="34" charset="0"/>
                <a:ea typeface="Courier New" pitchFamily="34" charset="-122"/>
                <a:cs typeface="Courier New" pitchFamily="34" charset="-120"/>
              </a:rPr>
              <a:t> </a:t>
            </a:r>
            <a:endParaRPr lang="en-US" sz="950" dirty="0"/>
          </a:p>
          <a:p>
            <a:pPr indent="0" marL="0">
              <a:buNone/>
            </a:pPr>
            <a:r>
              <a:rPr lang="en-US" sz="950" dirty="0">
                <a:solidFill>
                  <a:schemeClr val="bg1"/>
                </a:solidFill>
                <a:latin typeface="Courier New" pitchFamily="34" charset="0"/>
                <a:ea typeface="Courier New" pitchFamily="34" charset="-122"/>
                <a:cs typeface="Courier New" pitchFamily="34" charset="-120"/>
              </a:rPr>
              <a:t>! Doctor found issues in 1 category.</a:t>
            </a:r>
            <a:endParaRPr lang="en-US" sz="950" dirty="0"/>
          </a:p>
        </p:txBody>
      </p:sp>
      <p:sp>
        <p:nvSpPr>
          <p:cNvPr id="8" name="icon-circle"/>
          <p:cNvSpPr/>
          <p:nvPr/>
        </p:nvSpPr>
        <p:spPr>
          <a:xfrm>
            <a:off x="5806440" y="1371600"/>
            <a:ext cx="548640" cy="548640"/>
          </a:xfrm>
          <a:prstGeom prst="ellipse">
            <a:avLst/>
          </a:prstGeom>
          <a:solidFill>
            <a:schemeClr val="accent3"/>
          </a:solidFill>
          <a:ln w="12700">
            <a:solidFill>
              <a:schemeClr val="accent3"/>
            </a:solidFill>
            <a:prstDash val="solid"/>
          </a:ln>
        </p:spPr>
      </p:sp>
      <p:pic>
        <p:nvPicPr>
          <p:cNvPr id="9" name="icon" descr="preencoded.png">    </p:cNvPr>
          <p:cNvPicPr>
            <a:picLocks noChangeAspect="1"/>
          </p:cNvPicPr>
          <p:nvPr/>
        </p:nvPicPr>
        <p:blipFill>
          <a:blip r:embed="rId1"/>
          <a:stretch>
            <a:fillRect/>
          </a:stretch>
        </p:blipFill>
        <p:spPr>
          <a:xfrm>
            <a:off x="5943600" y="1508760"/>
            <a:ext cx="274320" cy="274320"/>
          </a:xfrm>
          <a:prstGeom prst="rect">
            <a:avLst/>
          </a:prstGeom>
        </p:spPr>
      </p:pic>
      <p:sp>
        <p:nvSpPr>
          <p:cNvPr id="10" name="Text 6"/>
          <p:cNvSpPr txBox="1"/>
          <p:nvPr/>
        </p:nvSpPr>
        <p:spPr>
          <a:xfrm>
            <a:off x="6537960" y="1280160"/>
            <a:ext cx="2148840" cy="731520"/>
          </a:xfrm>
          <a:prstGeom prst="rect">
            <a:avLst/>
          </a:prstGeom>
          <a:noFill/>
          <a:ln/>
        </p:spPr>
        <p:txBody>
          <a:bodyPr wrap="square" lIns="0" tIns="0" rIns="0" bIns="0" rtlCol="0" anchor="ctr"/>
          <a:lstStyle/>
          <a:p>
            <a:pPr indent="0" marL="0">
              <a:buNone/>
            </a:pPr>
            <a:r>
              <a:rPr lang="en-US" sz="1500" b="1" dirty="0">
                <a:solidFill>
                  <a:schemeClr val="tx2"/>
                </a:solidFill>
              </a:rPr>
              <a:t>Ready</a:t>
            </a:r>
            <a:endParaRPr lang="en-US" sz="1500" dirty="0"/>
          </a:p>
          <a:p>
            <a:pPr indent="0" marL="0">
              <a:buNone/>
            </a:pPr>
            <a:r>
              <a:rPr lang="en-US" sz="1250" dirty="0">
                <a:solidFill>
                  <a:schemeClr val="tx1"/>
                </a:solidFill>
              </a:rPr>
              <a:t>Component is installed and configured.</a:t>
            </a:r>
            <a:endParaRPr lang="en-US" sz="1500" dirty="0"/>
          </a:p>
        </p:txBody>
      </p:sp>
      <p:sp>
        <p:nvSpPr>
          <p:cNvPr id="11" name="icon-circle"/>
          <p:cNvSpPr/>
          <p:nvPr/>
        </p:nvSpPr>
        <p:spPr>
          <a:xfrm>
            <a:off x="5806440" y="2286000"/>
            <a:ext cx="548640" cy="548640"/>
          </a:xfrm>
          <a:prstGeom prst="ellipse">
            <a:avLst/>
          </a:prstGeom>
          <a:solidFill>
            <a:schemeClr val="accent4"/>
          </a:solidFill>
          <a:ln w="12700">
            <a:solidFill>
              <a:schemeClr val="accent4"/>
            </a:solidFill>
            <a:prstDash val="solid"/>
          </a:ln>
        </p:spPr>
      </p:sp>
      <p:pic>
        <p:nvPicPr>
          <p:cNvPr id="12" name="icon" descr="preencoded.png">    </p:cNvPr>
          <p:cNvPicPr>
            <a:picLocks noChangeAspect="1"/>
          </p:cNvPicPr>
          <p:nvPr/>
        </p:nvPicPr>
        <p:blipFill>
          <a:blip r:embed="rId2"/>
          <a:stretch>
            <a:fillRect/>
          </a:stretch>
        </p:blipFill>
        <p:spPr>
          <a:xfrm>
            <a:off x="5943600" y="2423160"/>
            <a:ext cx="274320" cy="274320"/>
          </a:xfrm>
          <a:prstGeom prst="rect">
            <a:avLst/>
          </a:prstGeom>
        </p:spPr>
      </p:pic>
      <p:sp>
        <p:nvSpPr>
          <p:cNvPr id="13" name="Text 8"/>
          <p:cNvSpPr txBox="1"/>
          <p:nvPr/>
        </p:nvSpPr>
        <p:spPr>
          <a:xfrm>
            <a:off x="6537960" y="2194560"/>
            <a:ext cx="2148840" cy="731520"/>
          </a:xfrm>
          <a:prstGeom prst="rect">
            <a:avLst/>
          </a:prstGeom>
          <a:noFill/>
          <a:ln/>
        </p:spPr>
        <p:txBody>
          <a:bodyPr wrap="square" lIns="0" tIns="0" rIns="0" bIns="0" rtlCol="0" anchor="ctr"/>
          <a:lstStyle/>
          <a:p>
            <a:pPr indent="0" marL="0">
              <a:buNone/>
            </a:pPr>
            <a:r>
              <a:rPr lang="en-US" sz="1500" b="1" dirty="0">
                <a:solidFill>
                  <a:schemeClr val="tx2"/>
                </a:solidFill>
              </a:rPr>
              <a:t>Warning</a:t>
            </a:r>
            <a:endParaRPr lang="en-US" sz="1500" dirty="0"/>
          </a:p>
          <a:p>
            <a:pPr indent="0" marL="0">
              <a:buNone/>
            </a:pPr>
            <a:r>
              <a:rPr lang="en-US" sz="1250" dirty="0">
                <a:solidFill>
                  <a:schemeClr val="tx1"/>
                </a:solidFill>
              </a:rPr>
              <a:t>Works, but something needs attention.</a:t>
            </a:r>
            <a:endParaRPr lang="en-US" sz="1500" dirty="0"/>
          </a:p>
        </p:txBody>
      </p:sp>
      <p:sp>
        <p:nvSpPr>
          <p:cNvPr id="14" name="icon-circle"/>
          <p:cNvSpPr/>
          <p:nvPr/>
        </p:nvSpPr>
        <p:spPr>
          <a:xfrm>
            <a:off x="5806440" y="3200400"/>
            <a:ext cx="548640" cy="548640"/>
          </a:xfrm>
          <a:prstGeom prst="ellipse">
            <a:avLst/>
          </a:prstGeom>
          <a:solidFill>
            <a:schemeClr val="accent5"/>
          </a:solidFill>
          <a:ln w="12700">
            <a:solidFill>
              <a:schemeClr val="accent5"/>
            </a:solidFill>
            <a:prstDash val="solid"/>
          </a:ln>
        </p:spPr>
      </p:sp>
      <p:pic>
        <p:nvPicPr>
          <p:cNvPr id="15" name="icon" descr="preencoded.png">    </p:cNvPr>
          <p:cNvPicPr>
            <a:picLocks noChangeAspect="1"/>
          </p:cNvPicPr>
          <p:nvPr/>
        </p:nvPicPr>
        <p:blipFill>
          <a:blip r:embed="rId3"/>
          <a:stretch>
            <a:fillRect/>
          </a:stretch>
        </p:blipFill>
        <p:spPr>
          <a:xfrm>
            <a:off x="5943600" y="3337560"/>
            <a:ext cx="274320" cy="274320"/>
          </a:xfrm>
          <a:prstGeom prst="rect">
            <a:avLst/>
          </a:prstGeom>
        </p:spPr>
      </p:pic>
      <p:sp>
        <p:nvSpPr>
          <p:cNvPr id="16" name="Text 10"/>
          <p:cNvSpPr txBox="1"/>
          <p:nvPr/>
        </p:nvSpPr>
        <p:spPr>
          <a:xfrm>
            <a:off x="6537960" y="3108960"/>
            <a:ext cx="2148840" cy="731520"/>
          </a:xfrm>
          <a:prstGeom prst="rect">
            <a:avLst/>
          </a:prstGeom>
          <a:noFill/>
          <a:ln/>
        </p:spPr>
        <p:txBody>
          <a:bodyPr wrap="square" lIns="0" tIns="0" rIns="0" bIns="0" rtlCol="0" anchor="ctr"/>
          <a:lstStyle/>
          <a:p>
            <a:pPr indent="0" marL="0">
              <a:buNone/>
            </a:pPr>
            <a:r>
              <a:rPr lang="en-US" sz="1500" b="1" dirty="0">
                <a:solidFill>
                  <a:schemeClr val="tx2"/>
                </a:solidFill>
              </a:rPr>
              <a:t>Missing</a:t>
            </a:r>
            <a:endParaRPr lang="en-US" sz="1500" dirty="0"/>
          </a:p>
          <a:p>
            <a:pPr indent="0" marL="0">
              <a:buNone/>
            </a:pPr>
            <a:r>
              <a:rPr lang="en-US" sz="1250" dirty="0">
                <a:solidFill>
                  <a:schemeClr val="tx1"/>
                </a:solidFill>
              </a:rPr>
              <a:t>Fix only if you target that platform.</a:t>
            </a:r>
            <a:endParaRPr lang="en-US" sz="1500" dirty="0"/>
          </a:p>
        </p:txBody>
      </p:sp>
      <p:sp>
        <p:nvSpPr>
          <p:cNvPr id="17" name="Text 11"/>
          <p:cNvSpPr txBox="1"/>
          <p:nvPr/>
        </p:nvSpPr>
        <p:spPr>
          <a:xfrm>
            <a:off x="5806440" y="4069080"/>
            <a:ext cx="2880360" cy="457200"/>
          </a:xfrm>
          <a:prstGeom prst="rect">
            <a:avLst/>
          </a:prstGeom>
          <a:noFill/>
          <a:ln/>
        </p:spPr>
        <p:txBody>
          <a:bodyPr wrap="square" lIns="0" tIns="0" rIns="0" bIns="0" rtlCol="0" anchor="ctr"/>
          <a:lstStyle/>
          <a:p>
            <a:pPr indent="0" marL="0">
              <a:buNone/>
            </a:pPr>
            <a:r>
              <a:rPr lang="en-US" sz="1250" b="1" dirty="0">
                <a:solidFill>
                  <a:schemeClr val="accent1"/>
                </a:solidFill>
              </a:rPr>
              <a:t>Tip: </a:t>
            </a:r>
            <a:pPr indent="0" marL="0">
              <a:buNone/>
            </a:pPr>
            <a:r>
              <a:rPr lang="en-US" sz="1250" dirty="0">
                <a:solidFill>
                  <a:schemeClr val="tx1"/>
                </a:solidFill>
              </a:rPr>
              <a:t>run flutter doctor -v for the exact fix.</a:t>
            </a:r>
            <a:endParaRPr lang="en-US" sz="1250" dirty="0"/>
          </a:p>
        </p:txBody>
      </p:sp>
      <p:sp>
        <p:nvSpPr>
          <p:cNvPr id="25" name="Slide Number Placeholder 0"/>
          <p:cNvSpPr>
            <a:spLocks noGrp="1"/>
          </p:cNvSpPr>
          <p:nvPr>
            <p:ph type="sldNum" sz="quarter" idx="4294967295"/>
          </p:nvPr>
        </p:nvSpPr>
        <p:spPr>
          <a:xfrm>
            <a:off x="8229600" y="4773168"/>
            <a:ext cx="457200" cy="237744"/>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4748B"/>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457200" y="228600"/>
            <a:ext cx="8229600" cy="256032"/>
          </a:xfrm>
          <a:prstGeom prst="rect">
            <a:avLst/>
          </a:prstGeom>
          <a:noFill/>
          <a:ln/>
        </p:spPr>
        <p:txBody>
          <a:bodyPr wrap="square" lIns="0" tIns="0" rIns="0" bIns="0" rtlCol="0" anchor="ctr"/>
          <a:lstStyle/>
          <a:p>
            <a:pPr indent="0" marL="0">
              <a:buNone/>
            </a:pPr>
            <a:r>
              <a:rPr lang="en-US" sz="1100" b="1" spc="200" kern="0" dirty="0">
                <a:solidFill>
                  <a:schemeClr val="accent1"/>
                </a:solidFill>
              </a:rPr>
              <a:t>PART 2 · CREATE</a:t>
            </a:r>
            <a:endParaRPr lang="en-US" sz="1100" dirty="0"/>
          </a:p>
        </p:txBody>
      </p:sp>
      <p:sp>
        <p:nvSpPr>
          <p:cNvPr id="3" name="Text 0"/>
          <p:cNvSpPr/>
          <p:nvPr>
            <p:ph idx="101" type="title" hasCustomPrompt="1"/>
          </p:nvPr>
        </p:nvSpPr>
        <p:spPr>
          <a:xfrm>
            <a:off x="457200" y="502920"/>
            <a:ext cx="8229600" cy="566928"/>
          </a:xfrm>
          <a:prstGeom prst="rect">
            <a:avLst/>
          </a:prstGeom>
          <a:noFill/>
          <a:ln/>
        </p:spPr>
        <p:txBody>
          <a:bodyPr wrap="square" lIns="0" tIns="0" rIns="0" bIns="0" rtlCol="0" anchor="ctr"/>
          <a:lstStyle/>
          <a:p>
            <a:pPr indent="0" marL="0">
              <a:buNone/>
            </a:pPr>
            <a:r>
              <a:rPr lang="en-US" sz="2800" b="1" dirty="0">
                <a:solidFill>
                  <a:schemeClr val="tx2"/>
                </a:solidFill>
              </a:rPr>
              <a:t>Commands to create a Flutter project</a:t>
            </a:r>
            <a:endParaRPr lang="en-US" sz="28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8229600" cy="914400"/>
        </p:xfrm>
        <a:graphic>
          <a:graphicData uri="http://schemas.openxmlformats.org/drawingml/2006/table">
            <a:tbl>
              <a:tblPr/>
              <a:tblGrid>
                <a:gridCol w="4023360"/>
                <a:gridCol w="4206240"/>
              </a:tblGrid>
              <a:tr h="365760">
                <a:tc>
                  <a:txBody>
                    <a:bodyPr/>
                    <a:lstStyle/>
                    <a:p>
                      <a:pPr indent="0" marL="0">
                        <a:buNone/>
                      </a:pPr>
                      <a:r>
                        <a:rPr lang="en-US" sz="1300" b="1" dirty="0">
                          <a:solidFill>
                            <a:schemeClr val="bg1"/>
                          </a:solidFill>
                        </a:rPr>
                        <a:t>Command</a:t>
                      </a:r>
                      <a:endParaRPr lang="en-US" sz="1300" dirty="0"/>
                    </a:p>
                  </a:txBody>
                  <a:tcPr marL="91440" marR="91440" marT="27432" marB="27432" anchor="ctr">
                    <a:lnL w="6350" cap="flat" cmpd="sng" algn="ctr">
                      <a:solidFill>
                        <a:srgbClr val="D5E2EE"/>
                      </a:solidFill>
                      <a:prstDash val="solid"/>
                      <a:round/>
                      <a:headEnd type="none" w="med" len="med"/>
                      <a:tailEnd type="none" w="med" len="med"/>
                    </a:lnL>
                    <a:lnR w="6350" cap="flat" cmpd="sng" algn="ctr">
                      <a:solidFill>
                        <a:srgbClr val="D5E2EE"/>
                      </a:solidFill>
                      <a:prstDash val="solid"/>
                      <a:round/>
                      <a:headEnd type="none" w="med" len="med"/>
                      <a:tailEnd type="none" w="med" len="med"/>
                    </a:lnR>
                    <a:lnT w="6350" cap="flat" cmpd="sng" algn="ctr">
                      <a:solidFill>
                        <a:srgbClr val="D5E2EE"/>
                      </a:solidFill>
                      <a:prstDash val="solid"/>
                      <a:round/>
                      <a:headEnd type="none" w="med" len="med"/>
                      <a:tailEnd type="none" w="med" len="med"/>
                    </a:lnT>
                    <a:lnB w="6350" cap="flat" cmpd="sng" algn="ctr">
                      <a:solidFill>
                        <a:srgbClr val="D5E2EE"/>
                      </a:solidFill>
                      <a:prstDash val="solid"/>
                      <a:round/>
                      <a:headEnd type="none" w="med" len="med"/>
                      <a:tailEnd type="none" w="med" len="med"/>
                    </a:lnB>
                    <a:solidFill>
                      <a:schemeClr val="accent1"/>
                    </a:solidFill>
                  </a:tcPr>
                </a:tc>
                <a:tc>
                  <a:txBody>
                    <a:bodyPr/>
                    <a:lstStyle/>
                    <a:p>
                      <a:pPr indent="0" marL="0">
                        <a:buNone/>
                      </a:pPr>
                      <a:r>
                        <a:rPr lang="en-US" sz="1300" b="1" dirty="0">
                          <a:solidFill>
                            <a:schemeClr val="bg1"/>
                          </a:solidFill>
                        </a:rPr>
                        <a:t>What it does</a:t>
                      </a:r>
                      <a:endParaRPr lang="en-US" sz="1300" dirty="0"/>
                    </a:p>
                  </a:txBody>
                  <a:tcPr marL="91440" marR="91440" marT="27432" marB="27432" anchor="ctr">
                    <a:lnL w="6350" cap="flat" cmpd="sng" algn="ctr">
                      <a:solidFill>
                        <a:srgbClr val="D5E2EE"/>
                      </a:solidFill>
                      <a:prstDash val="solid"/>
                      <a:round/>
                      <a:headEnd type="none" w="med" len="med"/>
                      <a:tailEnd type="none" w="med" len="med"/>
                    </a:lnL>
                    <a:lnR w="6350" cap="flat" cmpd="sng" algn="ctr">
                      <a:solidFill>
                        <a:srgbClr val="D5E2EE"/>
                      </a:solidFill>
                      <a:prstDash val="solid"/>
                      <a:round/>
                      <a:headEnd type="none" w="med" len="med"/>
                      <a:tailEnd type="none" w="med" len="med"/>
                    </a:lnR>
                    <a:lnT w="6350" cap="flat" cmpd="sng" algn="ctr">
                      <a:solidFill>
                        <a:srgbClr val="D5E2EE"/>
                      </a:solidFill>
                      <a:prstDash val="solid"/>
                      <a:round/>
                      <a:headEnd type="none" w="med" len="med"/>
                      <a:tailEnd type="none" w="med" len="med"/>
                    </a:lnT>
                    <a:lnB w="6350" cap="flat" cmpd="sng" algn="ctr">
                      <a:solidFill>
                        <a:srgbClr val="D5E2EE"/>
                      </a:solidFill>
                      <a:prstDash val="solid"/>
                      <a:round/>
                      <a:headEnd type="none" w="med" len="med"/>
                      <a:tailEnd type="none" w="med" len="med"/>
                    </a:lnB>
                    <a:solidFill>
                      <a:schemeClr val="accent1"/>
                    </a:solidFill>
                  </a:tcPr>
                </a:tc>
              </a:tr>
              <a:tr h="365760">
                <a:tc>
                  <a:txBody>
                    <a:bodyPr/>
                    <a:lstStyle/>
                    <a:p>
                      <a:pPr indent="0" marL="0">
                        <a:buNone/>
                      </a:pPr>
                      <a:r>
                        <a:rPr lang="en-US" sz="1100" b="1" dirty="0">
                          <a:solidFill>
                            <a:schemeClr val="tx2"/>
                          </a:solidFill>
                          <a:latin typeface="Courier New" pitchFamily="34" charset="0"/>
                          <a:ea typeface="Courier New" pitchFamily="34" charset="-122"/>
                          <a:cs typeface="Courier New" pitchFamily="34" charset="-120"/>
                        </a:rPr>
                        <a:t>flutter create my_app</a:t>
                      </a:r>
                      <a:endParaRPr lang="en-US" sz="1100" dirty="0">
                        <a:latin typeface="Courier New" charset="0"/>
                        <a:ea typeface="Courier New" charset="0"/>
                        <a:cs typeface="Courier New" charset="0"/>
                      </a:endParaRPr>
                    </a:p>
                  </a:txBody>
                  <a:tcPr marL="91440" marR="91440" marT="27432" marB="27432" anchor="ctr">
                    <a:lnL w="6350" cap="flat" cmpd="sng" algn="ctr">
                      <a:solidFill>
                        <a:srgbClr val="D5E2EE"/>
                      </a:solidFill>
                      <a:prstDash val="solid"/>
                      <a:round/>
                      <a:headEnd type="none" w="med" len="med"/>
                      <a:tailEnd type="none" w="med" len="med"/>
                    </a:lnL>
                    <a:lnR w="6350" cap="flat" cmpd="sng" algn="ctr">
                      <a:solidFill>
                        <a:srgbClr val="D5E2EE"/>
                      </a:solidFill>
                      <a:prstDash val="solid"/>
                      <a:round/>
                      <a:headEnd type="none" w="med" len="med"/>
                      <a:tailEnd type="none" w="med" len="med"/>
                    </a:lnR>
                    <a:lnT w="6350" cap="flat" cmpd="sng" algn="ctr">
                      <a:solidFill>
                        <a:srgbClr val="D5E2EE"/>
                      </a:solidFill>
                      <a:prstDash val="solid"/>
                      <a:round/>
                      <a:headEnd type="none" w="med" len="med"/>
                      <a:tailEnd type="none" w="med" len="med"/>
                    </a:lnT>
                    <a:lnB w="6350" cap="flat" cmpd="sng" algn="ctr">
                      <a:solidFill>
                        <a:srgbClr val="D5E2EE"/>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New app from the default counter template</a:t>
                      </a:r>
                      <a:endParaRPr lang="en-US" sz="1300" dirty="0"/>
                    </a:p>
                  </a:txBody>
                  <a:tcPr marL="91440" marR="91440" marT="27432" marB="27432" anchor="ctr">
                    <a:lnL w="6350" cap="flat" cmpd="sng" algn="ctr">
                      <a:solidFill>
                        <a:srgbClr val="D5E2EE"/>
                      </a:solidFill>
                      <a:prstDash val="solid"/>
                      <a:round/>
                      <a:headEnd type="none" w="med" len="med"/>
                      <a:tailEnd type="none" w="med" len="med"/>
                    </a:lnL>
                    <a:lnR w="6350" cap="flat" cmpd="sng" algn="ctr">
                      <a:solidFill>
                        <a:srgbClr val="D5E2EE"/>
                      </a:solidFill>
                      <a:prstDash val="solid"/>
                      <a:round/>
                      <a:headEnd type="none" w="med" len="med"/>
                      <a:tailEnd type="none" w="med" len="med"/>
                    </a:lnR>
                    <a:lnT w="6350" cap="flat" cmpd="sng" algn="ctr">
                      <a:solidFill>
                        <a:srgbClr val="D5E2EE"/>
                      </a:solidFill>
                      <a:prstDash val="solid"/>
                      <a:round/>
                      <a:headEnd type="none" w="med" len="med"/>
                      <a:tailEnd type="none" w="med" len="med"/>
                    </a:lnT>
                    <a:lnB w="6350" cap="flat" cmpd="sng" algn="ctr">
                      <a:solidFill>
                        <a:srgbClr val="D5E2EE"/>
                      </a:solidFill>
                      <a:prstDash val="solid"/>
                      <a:round/>
                      <a:headEnd type="none" w="med" len="med"/>
                      <a:tailEnd type="none" w="med" len="med"/>
                    </a:lnB>
                    <a:solidFill>
                      <a:schemeClr val="bg2"/>
                    </a:solidFill>
                  </a:tcPr>
                </a:tc>
              </a:tr>
              <a:tr h="365760">
                <a:tc>
                  <a:txBody>
                    <a:bodyPr/>
                    <a:lstStyle/>
                    <a:p>
                      <a:pPr indent="0" marL="0">
                        <a:buNone/>
                      </a:pPr>
                      <a:r>
                        <a:rPr lang="en-US" sz="1100" b="1" dirty="0">
                          <a:solidFill>
                            <a:schemeClr val="tx2"/>
                          </a:solidFill>
                          <a:latin typeface="Courier New" pitchFamily="34" charset="0"/>
                          <a:ea typeface="Courier New" pitchFamily="34" charset="-122"/>
                          <a:cs typeface="Courier New" pitchFamily="34" charset="-120"/>
                        </a:rPr>
                        <a:t>flutter create --org com.college my_app</a:t>
                      </a:r>
                      <a:endParaRPr lang="en-US" sz="1100" dirty="0">
                        <a:latin typeface="Courier New" charset="0"/>
                        <a:ea typeface="Courier New" charset="0"/>
                        <a:cs typeface="Courier New" charset="0"/>
                      </a:endParaRPr>
                    </a:p>
                  </a:txBody>
                  <a:tcPr marL="91440" marR="91440" marT="27432" marB="27432" anchor="ctr">
                    <a:lnL w="6350" cap="flat" cmpd="sng" algn="ctr">
                      <a:solidFill>
                        <a:srgbClr val="D5E2EE"/>
                      </a:solidFill>
                      <a:prstDash val="solid"/>
                      <a:round/>
                      <a:headEnd type="none" w="med" len="med"/>
                      <a:tailEnd type="none" w="med" len="med"/>
                    </a:lnL>
                    <a:lnR w="6350" cap="flat" cmpd="sng" algn="ctr">
                      <a:solidFill>
                        <a:srgbClr val="D5E2EE"/>
                      </a:solidFill>
                      <a:prstDash val="solid"/>
                      <a:round/>
                      <a:headEnd type="none" w="med" len="med"/>
                      <a:tailEnd type="none" w="med" len="med"/>
                    </a:lnR>
                    <a:lnT w="6350" cap="flat" cmpd="sng" algn="ctr">
                      <a:solidFill>
                        <a:srgbClr val="D5E2EE"/>
                      </a:solidFill>
                      <a:prstDash val="solid"/>
                      <a:round/>
                      <a:headEnd type="none" w="med" len="med"/>
                      <a:tailEnd type="none" w="med" len="med"/>
                    </a:lnT>
                    <a:lnB w="6350" cap="flat" cmpd="sng" algn="ctr">
                      <a:solidFill>
                        <a:srgbClr val="D5E2EE"/>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Sets the package / bundle ID → com.college.my_app</a:t>
                      </a:r>
                      <a:endParaRPr lang="en-US" sz="1300" dirty="0"/>
                    </a:p>
                  </a:txBody>
                  <a:tcPr marL="91440" marR="91440" marT="27432" marB="27432" anchor="ctr">
                    <a:lnL w="6350" cap="flat" cmpd="sng" algn="ctr">
                      <a:solidFill>
                        <a:srgbClr val="D5E2EE"/>
                      </a:solidFill>
                      <a:prstDash val="solid"/>
                      <a:round/>
                      <a:headEnd type="none" w="med" len="med"/>
                      <a:tailEnd type="none" w="med" len="med"/>
                    </a:lnL>
                    <a:lnR w="6350" cap="flat" cmpd="sng" algn="ctr">
                      <a:solidFill>
                        <a:srgbClr val="D5E2EE"/>
                      </a:solidFill>
                      <a:prstDash val="solid"/>
                      <a:round/>
                      <a:headEnd type="none" w="med" len="med"/>
                      <a:tailEnd type="none" w="med" len="med"/>
                    </a:lnR>
                    <a:lnT w="6350" cap="flat" cmpd="sng" algn="ctr">
                      <a:solidFill>
                        <a:srgbClr val="D5E2EE"/>
                      </a:solidFill>
                      <a:prstDash val="solid"/>
                      <a:round/>
                      <a:headEnd type="none" w="med" len="med"/>
                      <a:tailEnd type="none" w="med" len="med"/>
                    </a:lnT>
                    <a:lnB w="6350" cap="flat" cmpd="sng" algn="ctr">
                      <a:solidFill>
                        <a:srgbClr val="D5E2EE"/>
                      </a:solidFill>
                      <a:prstDash val="solid"/>
                      <a:round/>
                      <a:headEnd type="none" w="med" len="med"/>
                      <a:tailEnd type="none" w="med" len="med"/>
                    </a:lnB>
                    <a:solidFill>
                      <a:schemeClr val="bg1"/>
                    </a:solidFill>
                  </a:tcPr>
                </a:tc>
              </a:tr>
              <a:tr h="365760">
                <a:tc>
                  <a:txBody>
                    <a:bodyPr/>
                    <a:lstStyle/>
                    <a:p>
                      <a:pPr indent="0" marL="0">
                        <a:buNone/>
                      </a:pPr>
                      <a:r>
                        <a:rPr lang="en-US" sz="1100" b="1" dirty="0">
                          <a:solidFill>
                            <a:schemeClr val="tx2"/>
                          </a:solidFill>
                          <a:latin typeface="Courier New" pitchFamily="34" charset="0"/>
                          <a:ea typeface="Courier New" pitchFamily="34" charset="-122"/>
                          <a:cs typeface="Courier New" pitchFamily="34" charset="-120"/>
                        </a:rPr>
                        <a:t>flutter create --platforms android,ios my_app</a:t>
                      </a:r>
                      <a:endParaRPr lang="en-US" sz="1100" dirty="0">
                        <a:latin typeface="Courier New" charset="0"/>
                        <a:ea typeface="Courier New" charset="0"/>
                        <a:cs typeface="Courier New" charset="0"/>
                      </a:endParaRPr>
                    </a:p>
                  </a:txBody>
                  <a:tcPr marL="91440" marR="91440" marT="27432" marB="27432" anchor="ctr">
                    <a:lnL w="6350" cap="flat" cmpd="sng" algn="ctr">
                      <a:solidFill>
                        <a:srgbClr val="D5E2EE"/>
                      </a:solidFill>
                      <a:prstDash val="solid"/>
                      <a:round/>
                      <a:headEnd type="none" w="med" len="med"/>
                      <a:tailEnd type="none" w="med" len="med"/>
                    </a:lnL>
                    <a:lnR w="6350" cap="flat" cmpd="sng" algn="ctr">
                      <a:solidFill>
                        <a:srgbClr val="D5E2EE"/>
                      </a:solidFill>
                      <a:prstDash val="solid"/>
                      <a:round/>
                      <a:headEnd type="none" w="med" len="med"/>
                      <a:tailEnd type="none" w="med" len="med"/>
                    </a:lnR>
                    <a:lnT w="6350" cap="flat" cmpd="sng" algn="ctr">
                      <a:solidFill>
                        <a:srgbClr val="D5E2EE"/>
                      </a:solidFill>
                      <a:prstDash val="solid"/>
                      <a:round/>
                      <a:headEnd type="none" w="med" len="med"/>
                      <a:tailEnd type="none" w="med" len="med"/>
                    </a:lnT>
                    <a:lnB w="6350" cap="flat" cmpd="sng" algn="ctr">
                      <a:solidFill>
                        <a:srgbClr val="D5E2EE"/>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Generates folders only for the platforms listed</a:t>
                      </a:r>
                      <a:endParaRPr lang="en-US" sz="1300" dirty="0"/>
                    </a:p>
                  </a:txBody>
                  <a:tcPr marL="91440" marR="91440" marT="27432" marB="27432" anchor="ctr">
                    <a:lnL w="6350" cap="flat" cmpd="sng" algn="ctr">
                      <a:solidFill>
                        <a:srgbClr val="D5E2EE"/>
                      </a:solidFill>
                      <a:prstDash val="solid"/>
                      <a:round/>
                      <a:headEnd type="none" w="med" len="med"/>
                      <a:tailEnd type="none" w="med" len="med"/>
                    </a:lnL>
                    <a:lnR w="6350" cap="flat" cmpd="sng" algn="ctr">
                      <a:solidFill>
                        <a:srgbClr val="D5E2EE"/>
                      </a:solidFill>
                      <a:prstDash val="solid"/>
                      <a:round/>
                      <a:headEnd type="none" w="med" len="med"/>
                      <a:tailEnd type="none" w="med" len="med"/>
                    </a:lnR>
                    <a:lnT w="6350" cap="flat" cmpd="sng" algn="ctr">
                      <a:solidFill>
                        <a:srgbClr val="D5E2EE"/>
                      </a:solidFill>
                      <a:prstDash val="solid"/>
                      <a:round/>
                      <a:headEnd type="none" w="med" len="med"/>
                      <a:tailEnd type="none" w="med" len="med"/>
                    </a:lnT>
                    <a:lnB w="6350" cap="flat" cmpd="sng" algn="ctr">
                      <a:solidFill>
                        <a:srgbClr val="D5E2EE"/>
                      </a:solidFill>
                      <a:prstDash val="solid"/>
                      <a:round/>
                      <a:headEnd type="none" w="med" len="med"/>
                      <a:tailEnd type="none" w="med" len="med"/>
                    </a:lnB>
                    <a:solidFill>
                      <a:schemeClr val="bg2"/>
                    </a:solidFill>
                  </a:tcPr>
                </a:tc>
              </a:tr>
              <a:tr h="365760">
                <a:tc>
                  <a:txBody>
                    <a:bodyPr/>
                    <a:lstStyle/>
                    <a:p>
                      <a:pPr indent="0" marL="0">
                        <a:buNone/>
                      </a:pPr>
                      <a:r>
                        <a:rPr lang="en-US" sz="1100" b="1" dirty="0">
                          <a:solidFill>
                            <a:schemeClr val="tx2"/>
                          </a:solidFill>
                          <a:latin typeface="Courier New" pitchFamily="34" charset="0"/>
                          <a:ea typeface="Courier New" pitchFamily="34" charset="-122"/>
                          <a:cs typeface="Courier New" pitchFamily="34" charset="-120"/>
                        </a:rPr>
                        <a:t>flutter create --empty my_app</a:t>
                      </a:r>
                      <a:endParaRPr lang="en-US" sz="1100" dirty="0">
                        <a:latin typeface="Courier New" charset="0"/>
                        <a:ea typeface="Courier New" charset="0"/>
                        <a:cs typeface="Courier New" charset="0"/>
                      </a:endParaRPr>
                    </a:p>
                  </a:txBody>
                  <a:tcPr marL="91440" marR="91440" marT="27432" marB="27432" anchor="ctr">
                    <a:lnL w="6350" cap="flat" cmpd="sng" algn="ctr">
                      <a:solidFill>
                        <a:srgbClr val="D5E2EE"/>
                      </a:solidFill>
                      <a:prstDash val="solid"/>
                      <a:round/>
                      <a:headEnd type="none" w="med" len="med"/>
                      <a:tailEnd type="none" w="med" len="med"/>
                    </a:lnL>
                    <a:lnR w="6350" cap="flat" cmpd="sng" algn="ctr">
                      <a:solidFill>
                        <a:srgbClr val="D5E2EE"/>
                      </a:solidFill>
                      <a:prstDash val="solid"/>
                      <a:round/>
                      <a:headEnd type="none" w="med" len="med"/>
                      <a:tailEnd type="none" w="med" len="med"/>
                    </a:lnR>
                    <a:lnT w="6350" cap="flat" cmpd="sng" algn="ctr">
                      <a:solidFill>
                        <a:srgbClr val="D5E2EE"/>
                      </a:solidFill>
                      <a:prstDash val="solid"/>
                      <a:round/>
                      <a:headEnd type="none" w="med" len="med"/>
                      <a:tailEnd type="none" w="med" len="med"/>
                    </a:lnT>
                    <a:lnB w="6350" cap="flat" cmpd="sng" algn="ctr">
                      <a:solidFill>
                        <a:srgbClr val="D5E2EE"/>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Minimal "Hello World" main.dart, no counter demo</a:t>
                      </a:r>
                      <a:endParaRPr lang="en-US" sz="1300" dirty="0"/>
                    </a:p>
                  </a:txBody>
                  <a:tcPr marL="91440" marR="91440" marT="27432" marB="27432" anchor="ctr">
                    <a:lnL w="6350" cap="flat" cmpd="sng" algn="ctr">
                      <a:solidFill>
                        <a:srgbClr val="D5E2EE"/>
                      </a:solidFill>
                      <a:prstDash val="solid"/>
                      <a:round/>
                      <a:headEnd type="none" w="med" len="med"/>
                      <a:tailEnd type="none" w="med" len="med"/>
                    </a:lnL>
                    <a:lnR w="6350" cap="flat" cmpd="sng" algn="ctr">
                      <a:solidFill>
                        <a:srgbClr val="D5E2EE"/>
                      </a:solidFill>
                      <a:prstDash val="solid"/>
                      <a:round/>
                      <a:headEnd type="none" w="med" len="med"/>
                      <a:tailEnd type="none" w="med" len="med"/>
                    </a:lnR>
                    <a:lnT w="6350" cap="flat" cmpd="sng" algn="ctr">
                      <a:solidFill>
                        <a:srgbClr val="D5E2EE"/>
                      </a:solidFill>
                      <a:prstDash val="solid"/>
                      <a:round/>
                      <a:headEnd type="none" w="med" len="med"/>
                      <a:tailEnd type="none" w="med" len="med"/>
                    </a:lnT>
                    <a:lnB w="6350" cap="flat" cmpd="sng" algn="ctr">
                      <a:solidFill>
                        <a:srgbClr val="D5E2EE"/>
                      </a:solidFill>
                      <a:prstDash val="solid"/>
                      <a:round/>
                      <a:headEnd type="none" w="med" len="med"/>
                      <a:tailEnd type="none" w="med" len="med"/>
                    </a:lnB>
                    <a:solidFill>
                      <a:schemeClr val="bg1"/>
                    </a:solidFill>
                  </a:tcPr>
                </a:tc>
              </a:tr>
              <a:tr h="365760">
                <a:tc>
                  <a:txBody>
                    <a:bodyPr/>
                    <a:lstStyle/>
                    <a:p>
                      <a:pPr indent="0" marL="0">
                        <a:buNone/>
                      </a:pPr>
                      <a:r>
                        <a:rPr lang="en-US" sz="1100" b="1" dirty="0">
                          <a:solidFill>
                            <a:schemeClr val="tx2"/>
                          </a:solidFill>
                          <a:latin typeface="Courier New" pitchFamily="34" charset="0"/>
                          <a:ea typeface="Courier New" pitchFamily="34" charset="-122"/>
                          <a:cs typeface="Courier New" pitchFamily="34" charset="-120"/>
                        </a:rPr>
                        <a:t>flutter create -t package my_pkg</a:t>
                      </a:r>
                      <a:endParaRPr lang="en-US" sz="1100" dirty="0">
                        <a:latin typeface="Courier New" charset="0"/>
                        <a:ea typeface="Courier New" charset="0"/>
                        <a:cs typeface="Courier New" charset="0"/>
                      </a:endParaRPr>
                    </a:p>
                  </a:txBody>
                  <a:tcPr marL="91440" marR="91440" marT="27432" marB="27432" anchor="ctr">
                    <a:lnL w="6350" cap="flat" cmpd="sng" algn="ctr">
                      <a:solidFill>
                        <a:srgbClr val="D5E2EE"/>
                      </a:solidFill>
                      <a:prstDash val="solid"/>
                      <a:round/>
                      <a:headEnd type="none" w="med" len="med"/>
                      <a:tailEnd type="none" w="med" len="med"/>
                    </a:lnL>
                    <a:lnR w="6350" cap="flat" cmpd="sng" algn="ctr">
                      <a:solidFill>
                        <a:srgbClr val="D5E2EE"/>
                      </a:solidFill>
                      <a:prstDash val="solid"/>
                      <a:round/>
                      <a:headEnd type="none" w="med" len="med"/>
                      <a:tailEnd type="none" w="med" len="med"/>
                    </a:lnR>
                    <a:lnT w="6350" cap="flat" cmpd="sng" algn="ctr">
                      <a:solidFill>
                        <a:srgbClr val="D5E2EE"/>
                      </a:solidFill>
                      <a:prstDash val="solid"/>
                      <a:round/>
                      <a:headEnd type="none" w="med" len="med"/>
                      <a:tailEnd type="none" w="med" len="med"/>
                    </a:lnT>
                    <a:lnB w="6350" cap="flat" cmpd="sng" algn="ctr">
                      <a:solidFill>
                        <a:srgbClr val="D5E2EE"/>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Other templates: package, plugin, module</a:t>
                      </a:r>
                      <a:endParaRPr lang="en-US" sz="1300" dirty="0"/>
                    </a:p>
                  </a:txBody>
                  <a:tcPr marL="91440" marR="91440" marT="27432" marB="27432" anchor="ctr">
                    <a:lnL w="6350" cap="flat" cmpd="sng" algn="ctr">
                      <a:solidFill>
                        <a:srgbClr val="D5E2EE"/>
                      </a:solidFill>
                      <a:prstDash val="solid"/>
                      <a:round/>
                      <a:headEnd type="none" w="med" len="med"/>
                      <a:tailEnd type="none" w="med" len="med"/>
                    </a:lnL>
                    <a:lnR w="6350" cap="flat" cmpd="sng" algn="ctr">
                      <a:solidFill>
                        <a:srgbClr val="D5E2EE"/>
                      </a:solidFill>
                      <a:prstDash val="solid"/>
                      <a:round/>
                      <a:headEnd type="none" w="med" len="med"/>
                      <a:tailEnd type="none" w="med" len="med"/>
                    </a:lnR>
                    <a:lnT w="6350" cap="flat" cmpd="sng" algn="ctr">
                      <a:solidFill>
                        <a:srgbClr val="D5E2EE"/>
                      </a:solidFill>
                      <a:prstDash val="solid"/>
                      <a:round/>
                      <a:headEnd type="none" w="med" len="med"/>
                      <a:tailEnd type="none" w="med" len="med"/>
                    </a:lnT>
                    <a:lnB w="6350" cap="flat" cmpd="sng" algn="ctr">
                      <a:solidFill>
                        <a:srgbClr val="D5E2EE"/>
                      </a:solidFill>
                      <a:prstDash val="solid"/>
                      <a:round/>
                      <a:headEnd type="none" w="med" len="med"/>
                      <a:tailEnd type="none" w="med" len="med"/>
                    </a:lnB>
                    <a:solidFill>
                      <a:schemeClr val="bg2"/>
                    </a:solidFill>
                  </a:tcPr>
                </a:tc>
              </a:tr>
              <a:tr h="365760">
                <a:tc>
                  <a:txBody>
                    <a:bodyPr/>
                    <a:lstStyle/>
                    <a:p>
                      <a:pPr indent="0" marL="0">
                        <a:buNone/>
                      </a:pPr>
                      <a:r>
                        <a:rPr lang="en-US" sz="1100" b="1" dirty="0">
                          <a:solidFill>
                            <a:schemeClr val="tx2"/>
                          </a:solidFill>
                          <a:latin typeface="Courier New" pitchFamily="34" charset="0"/>
                          <a:ea typeface="Courier New" pitchFamily="34" charset="-122"/>
                          <a:cs typeface="Courier New" pitchFamily="34" charset="-120"/>
                        </a:rPr>
                        <a:t>flutter create .</a:t>
                      </a:r>
                      <a:endParaRPr lang="en-US" sz="1100" dirty="0">
                        <a:latin typeface="Courier New" charset="0"/>
                        <a:ea typeface="Courier New" charset="0"/>
                        <a:cs typeface="Courier New" charset="0"/>
                      </a:endParaRPr>
                    </a:p>
                  </a:txBody>
                  <a:tcPr marL="91440" marR="91440" marT="27432" marB="27432" anchor="ctr">
                    <a:lnL w="6350" cap="flat" cmpd="sng" algn="ctr">
                      <a:solidFill>
                        <a:srgbClr val="D5E2EE"/>
                      </a:solidFill>
                      <a:prstDash val="solid"/>
                      <a:round/>
                      <a:headEnd type="none" w="med" len="med"/>
                      <a:tailEnd type="none" w="med" len="med"/>
                    </a:lnL>
                    <a:lnR w="6350" cap="flat" cmpd="sng" algn="ctr">
                      <a:solidFill>
                        <a:srgbClr val="D5E2EE"/>
                      </a:solidFill>
                      <a:prstDash val="solid"/>
                      <a:round/>
                      <a:headEnd type="none" w="med" len="med"/>
                      <a:tailEnd type="none" w="med" len="med"/>
                    </a:lnR>
                    <a:lnT w="6350" cap="flat" cmpd="sng" algn="ctr">
                      <a:solidFill>
                        <a:srgbClr val="D5E2EE"/>
                      </a:solidFill>
                      <a:prstDash val="solid"/>
                      <a:round/>
                      <a:headEnd type="none" w="med" len="med"/>
                      <a:tailEnd type="none" w="med" len="med"/>
                    </a:lnT>
                    <a:lnB w="6350" cap="flat" cmpd="sng" algn="ctr">
                      <a:solidFill>
                        <a:srgbClr val="D5E2EE"/>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Re-creates missing platform folders in an existing project</a:t>
                      </a:r>
                      <a:endParaRPr lang="en-US" sz="1300" dirty="0"/>
                    </a:p>
                  </a:txBody>
                  <a:tcPr marL="91440" marR="91440" marT="27432" marB="27432" anchor="ctr">
                    <a:lnL w="6350" cap="flat" cmpd="sng" algn="ctr">
                      <a:solidFill>
                        <a:srgbClr val="D5E2EE"/>
                      </a:solidFill>
                      <a:prstDash val="solid"/>
                      <a:round/>
                      <a:headEnd type="none" w="med" len="med"/>
                      <a:tailEnd type="none" w="med" len="med"/>
                    </a:lnL>
                    <a:lnR w="6350" cap="flat" cmpd="sng" algn="ctr">
                      <a:solidFill>
                        <a:srgbClr val="D5E2EE"/>
                      </a:solidFill>
                      <a:prstDash val="solid"/>
                      <a:round/>
                      <a:headEnd type="none" w="med" len="med"/>
                      <a:tailEnd type="none" w="med" len="med"/>
                    </a:lnR>
                    <a:lnT w="6350" cap="flat" cmpd="sng" algn="ctr">
                      <a:solidFill>
                        <a:srgbClr val="D5E2EE"/>
                      </a:solidFill>
                      <a:prstDash val="solid"/>
                      <a:round/>
                      <a:headEnd type="none" w="med" len="med"/>
                      <a:tailEnd type="none" w="med" len="med"/>
                    </a:lnT>
                    <a:lnB w="6350" cap="flat" cmpd="sng" algn="ctr">
                      <a:solidFill>
                        <a:srgbClr val="D5E2EE"/>
                      </a:solidFill>
                      <a:prstDash val="solid"/>
                      <a:round/>
                      <a:headEnd type="none" w="med" len="med"/>
                      <a:tailEnd type="none" w="med" len="med"/>
                    </a:lnB>
                    <a:solidFill>
                      <a:schemeClr val="bg1"/>
                    </a:solidFill>
                  </a:tcPr>
                </a:tc>
              </a:tr>
            </a:tbl>
          </a:graphicData>
        </a:graphic>
      </p:graphicFrame>
      <p:sp>
        <p:nvSpPr>
          <p:cNvPr id="6" name="card"/>
          <p:cNvSpPr/>
          <p:nvPr/>
        </p:nvSpPr>
        <p:spPr>
          <a:xfrm>
            <a:off x="457200" y="3931920"/>
            <a:ext cx="8229600" cy="640080"/>
          </a:xfrm>
          <a:prstGeom prst="roundRect">
            <a:avLst>
              <a:gd name="adj" fmla="val 11429"/>
            </a:avLst>
          </a:prstGeom>
          <a:solidFill>
            <a:schemeClr val="bg2"/>
          </a:solidFill>
          <a:ln w="12700">
            <a:solidFill>
              <a:schemeClr val="bg2"/>
            </a:solidFill>
            <a:prstDash val="solid"/>
          </a:ln>
        </p:spPr>
      </p:sp>
      <p:sp>
        <p:nvSpPr>
          <p:cNvPr id="7" name="icon-circle"/>
          <p:cNvSpPr/>
          <p:nvPr/>
        </p:nvSpPr>
        <p:spPr>
          <a:xfrm>
            <a:off x="621792" y="4041648"/>
            <a:ext cx="420624" cy="420624"/>
          </a:xfrm>
          <a:prstGeom prst="ellipse">
            <a:avLst/>
          </a:prstGeom>
          <a:solidFill>
            <a:schemeClr val="accent4"/>
          </a:solidFill>
          <a:ln w="12700">
            <a:solidFill>
              <a:schemeClr val="accent4"/>
            </a:solidFill>
            <a:prstDash val="solid"/>
          </a:ln>
        </p:spPr>
      </p:sp>
      <p:pic>
        <p:nvPicPr>
          <p:cNvPr id="8" name="icon" descr="preencoded.png">    </p:cNvPr>
          <p:cNvPicPr>
            <a:picLocks noChangeAspect="1"/>
          </p:cNvPicPr>
          <p:nvPr/>
        </p:nvPicPr>
        <p:blipFill>
          <a:blip r:embed="rId1"/>
          <a:stretch>
            <a:fillRect/>
          </a:stretch>
        </p:blipFill>
        <p:spPr>
          <a:xfrm>
            <a:off x="726948" y="4146804"/>
            <a:ext cx="210312" cy="210312"/>
          </a:xfrm>
          <a:prstGeom prst="rect">
            <a:avLst/>
          </a:prstGeom>
        </p:spPr>
      </p:pic>
      <p:sp>
        <p:nvSpPr>
          <p:cNvPr id="9" name="Text 4"/>
          <p:cNvSpPr txBox="1"/>
          <p:nvPr/>
        </p:nvSpPr>
        <p:spPr>
          <a:xfrm>
            <a:off x="1188720" y="3977640"/>
            <a:ext cx="7315200" cy="548640"/>
          </a:xfrm>
          <a:prstGeom prst="rect">
            <a:avLst/>
          </a:prstGeom>
          <a:noFill/>
          <a:ln/>
        </p:spPr>
        <p:txBody>
          <a:bodyPr wrap="square" lIns="0" tIns="0" rIns="0" bIns="0" rtlCol="0" anchor="ctr"/>
          <a:lstStyle/>
          <a:p>
            <a:pPr indent="0" marL="0">
              <a:buNone/>
            </a:pPr>
            <a:r>
              <a:rPr lang="en-US" sz="1300" b="1" dirty="0">
                <a:solidFill>
                  <a:schemeClr val="tx2"/>
                </a:solidFill>
              </a:rPr>
              <a:t>Naming rule: </a:t>
            </a:r>
            <a:pPr indent="0" marL="0">
              <a:buNone/>
            </a:pPr>
            <a:r>
              <a:rPr lang="en-US" sz="1300" dirty="0">
                <a:solidFill>
                  <a:schemeClr val="tx1"/>
                </a:solidFill>
              </a:rPr>
              <a:t>lowercase_with_underscores, e.g. my_first_app (not MyFirstApp or my-first-app).</a:t>
            </a:r>
            <a:endParaRPr lang="en-US" sz="1300" dirty="0"/>
          </a:p>
        </p:txBody>
      </p:sp>
      <p:sp>
        <p:nvSpPr>
          <p:cNvPr id="25" name="Slide Number Placeholder 0"/>
          <p:cNvSpPr>
            <a:spLocks noGrp="1"/>
          </p:cNvSpPr>
          <p:nvPr>
            <p:ph type="sldNum" sz="quarter" idx="4294967295"/>
          </p:nvPr>
        </p:nvSpPr>
        <p:spPr>
          <a:xfrm>
            <a:off x="8229600" y="4773168"/>
            <a:ext cx="457200" cy="237744"/>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4748B"/>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457200" y="228600"/>
            <a:ext cx="8229600" cy="256032"/>
          </a:xfrm>
          <a:prstGeom prst="rect">
            <a:avLst/>
          </a:prstGeom>
          <a:noFill/>
          <a:ln/>
        </p:spPr>
        <p:txBody>
          <a:bodyPr wrap="square" lIns="0" tIns="0" rIns="0" bIns="0" rtlCol="0" anchor="ctr"/>
          <a:lstStyle/>
          <a:p>
            <a:pPr indent="0" marL="0">
              <a:buNone/>
            </a:pPr>
            <a:r>
              <a:rPr lang="en-US" sz="1100" b="1" spc="200" kern="0" dirty="0">
                <a:solidFill>
                  <a:schemeClr val="accent1"/>
                </a:solidFill>
              </a:rPr>
              <a:t>PART 2 · RUN</a:t>
            </a:r>
            <a:endParaRPr lang="en-US" sz="1100" dirty="0"/>
          </a:p>
        </p:txBody>
      </p:sp>
      <p:sp>
        <p:nvSpPr>
          <p:cNvPr id="3" name="Text 0"/>
          <p:cNvSpPr/>
          <p:nvPr>
            <p:ph idx="101" type="title" hasCustomPrompt="1"/>
          </p:nvPr>
        </p:nvSpPr>
        <p:spPr>
          <a:xfrm>
            <a:off x="457200" y="502920"/>
            <a:ext cx="8229600" cy="566928"/>
          </a:xfrm>
          <a:prstGeom prst="rect">
            <a:avLst/>
          </a:prstGeom>
          <a:noFill/>
          <a:ln/>
        </p:spPr>
        <p:txBody>
          <a:bodyPr wrap="square" lIns="0" tIns="0" rIns="0" bIns="0" rtlCol="0" anchor="ctr"/>
          <a:lstStyle/>
          <a:p>
            <a:pPr indent="0" marL="0">
              <a:buNone/>
            </a:pPr>
            <a:r>
              <a:rPr lang="en-US" sz="2800" b="1" dirty="0">
                <a:solidFill>
                  <a:schemeClr val="tx2"/>
                </a:solidFill>
              </a:rPr>
              <a:t>Run the app and everyday commands</a:t>
            </a:r>
            <a:endParaRPr lang="en-US" sz="2800" dirty="0"/>
          </a:p>
        </p:txBody>
      </p:sp>
      <p:sp>
        <p:nvSpPr>
          <p:cNvPr id="5" name="code-block"/>
          <p:cNvSpPr/>
          <p:nvPr/>
        </p:nvSpPr>
        <p:spPr>
          <a:xfrm>
            <a:off x="457200" y="1280160"/>
            <a:ext cx="3840480" cy="3291840"/>
          </a:xfrm>
          <a:prstGeom prst="roundRect">
            <a:avLst>
              <a:gd name="adj" fmla="val 2222"/>
            </a:avLst>
          </a:prstGeom>
          <a:solidFill>
            <a:schemeClr val="tx2"/>
          </a:solidFill>
          <a:ln w="12700">
            <a:solidFill>
              <a:schemeClr val="tx2"/>
            </a:solidFill>
            <a:prstDash val="solid"/>
          </a:ln>
        </p:spPr>
      </p:sp>
      <p:sp>
        <p:nvSpPr>
          <p:cNvPr id="6" name="Text 3"/>
          <p:cNvSpPr txBox="1"/>
          <p:nvPr/>
        </p:nvSpPr>
        <p:spPr>
          <a:xfrm>
            <a:off x="658368" y="1389888"/>
            <a:ext cx="3438144" cy="228600"/>
          </a:xfrm>
          <a:prstGeom prst="rect">
            <a:avLst/>
          </a:prstGeom>
          <a:noFill/>
          <a:ln/>
        </p:spPr>
        <p:txBody>
          <a:bodyPr wrap="square" lIns="0" tIns="0" rIns="0" bIns="0" rtlCol="0" anchor="ctr"/>
          <a:lstStyle/>
          <a:p>
            <a:pPr indent="0" marL="0">
              <a:buNone/>
            </a:pPr>
            <a:r>
              <a:rPr lang="en-US" sz="950" b="1" spc="150" kern="0" dirty="0">
                <a:solidFill>
                  <a:schemeClr val="accent2"/>
                </a:solidFill>
              </a:rPr>
              <a:t>CREATE → RUN</a:t>
            </a:r>
            <a:endParaRPr lang="en-US" sz="950" dirty="0"/>
          </a:p>
        </p:txBody>
      </p:sp>
      <p:sp>
        <p:nvSpPr>
          <p:cNvPr id="7" name="Text 4"/>
          <p:cNvSpPr txBox="1"/>
          <p:nvPr/>
        </p:nvSpPr>
        <p:spPr>
          <a:xfrm>
            <a:off x="658368" y="1691640"/>
            <a:ext cx="3438144" cy="2770632"/>
          </a:xfrm>
          <a:prstGeom prst="rect">
            <a:avLst/>
          </a:prstGeom>
          <a:noFill/>
          <a:ln/>
        </p:spPr>
        <p:txBody>
          <a:bodyPr wrap="square" lIns="0" tIns="0" rIns="0" bIns="0" rtlCol="0" anchor="t"/>
          <a:lstStyle/>
          <a:p>
            <a:pPr indent="0" marL="0">
              <a:buNone/>
            </a:pPr>
            <a:r>
              <a:rPr lang="en-US" sz="1100" dirty="0">
                <a:solidFill>
                  <a:schemeClr val="accent2"/>
                </a:solidFill>
                <a:latin typeface="Courier New" pitchFamily="34" charset="0"/>
                <a:ea typeface="Courier New" pitchFamily="34" charset="-122"/>
                <a:cs typeface="Courier New" pitchFamily="34" charset="-120"/>
              </a:rPr>
              <a:t># Create and open the project</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flutter create my_first_app</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cd my_first_app</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chemeClr val="accent2"/>
                </a:solidFill>
                <a:latin typeface="Courier New" pitchFamily="34" charset="0"/>
                <a:ea typeface="Courier New" pitchFamily="34" charset="-122"/>
                <a:cs typeface="Courier New" pitchFamily="34" charset="-120"/>
              </a:rPr>
              <a:t># See available devices</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flutter devices</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chemeClr val="accent2"/>
                </a:solidFill>
                <a:latin typeface="Courier New" pitchFamily="34" charset="0"/>
                <a:ea typeface="Courier New" pitchFamily="34" charset="-122"/>
                <a:cs typeface="Courier New" pitchFamily="34" charset="-120"/>
              </a:rPr>
              <a:t># Run (choose a device with -d)</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flutter run</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flutter run -d chrome</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flutter run -d emulator-5554</a:t>
            </a:r>
            <a:endParaRPr lang="en-US" sz="1100" dirty="0"/>
          </a:p>
        </p:txBody>
      </p:sp>
      <p:sp>
        <p:nvSpPr>
          <p:cNvPr id="8" name="Text 5"/>
          <p:cNvSpPr txBox="1"/>
          <p:nvPr/>
        </p:nvSpPr>
        <p:spPr>
          <a:xfrm>
            <a:off x="4572000" y="1280160"/>
            <a:ext cx="4114800" cy="274320"/>
          </a:xfrm>
          <a:prstGeom prst="rect">
            <a:avLst/>
          </a:prstGeom>
          <a:noFill/>
          <a:ln/>
        </p:spPr>
        <p:txBody>
          <a:bodyPr wrap="square" lIns="0" tIns="0" rIns="0" bIns="0" rtlCol="0" anchor="ctr"/>
          <a:lstStyle/>
          <a:p>
            <a:pPr indent="0" marL="0">
              <a:buNone/>
            </a:pPr>
            <a:r>
              <a:rPr lang="en-US" sz="1300" b="1" dirty="0">
                <a:solidFill>
                  <a:schemeClr val="tx2"/>
                </a:solidFill>
              </a:rPr>
              <a:t>While the app is running, press:</a:t>
            </a:r>
            <a:endParaRPr lang="en-US" sz="1300" dirty="0"/>
          </a:p>
        </p:txBody>
      </p:sp>
      <p:sp>
        <p:nvSpPr>
          <p:cNvPr id="9" name="card"/>
          <p:cNvSpPr/>
          <p:nvPr/>
        </p:nvSpPr>
        <p:spPr>
          <a:xfrm>
            <a:off x="4572000" y="1645920"/>
            <a:ext cx="1280160" cy="1005840"/>
          </a:xfrm>
          <a:prstGeom prst="roundRect">
            <a:avLst>
              <a:gd name="adj" fmla="val 7273"/>
            </a:avLst>
          </a:prstGeom>
          <a:solidFill>
            <a:schemeClr val="bg2"/>
          </a:solidFill>
          <a:ln w="12700">
            <a:solidFill>
              <a:schemeClr val="bg2"/>
            </a:solidFill>
            <a:prstDash val="solid"/>
          </a:ln>
        </p:spPr>
      </p:sp>
      <p:sp>
        <p:nvSpPr>
          <p:cNvPr id="10" name="Text 7"/>
          <p:cNvSpPr txBox="1"/>
          <p:nvPr/>
        </p:nvSpPr>
        <p:spPr>
          <a:xfrm>
            <a:off x="4572000" y="1673352"/>
            <a:ext cx="1280160" cy="457200"/>
          </a:xfrm>
          <a:prstGeom prst="rect">
            <a:avLst/>
          </a:prstGeom>
          <a:noFill/>
          <a:ln/>
        </p:spPr>
        <p:txBody>
          <a:bodyPr wrap="square" lIns="0" tIns="0" rIns="0" bIns="0" rtlCol="0" anchor="ctr"/>
          <a:lstStyle/>
          <a:p>
            <a:pPr algn="ctr" indent="0" marL="0">
              <a:buNone/>
            </a:pPr>
            <a:r>
              <a:rPr lang="en-US" sz="2400" b="1" dirty="0">
                <a:solidFill>
                  <a:schemeClr val="accent1"/>
                </a:solidFill>
                <a:latin typeface="Courier New" pitchFamily="34" charset="0"/>
                <a:ea typeface="Courier New" pitchFamily="34" charset="-122"/>
                <a:cs typeface="Courier New" pitchFamily="34" charset="-120"/>
              </a:rPr>
              <a:t>r</a:t>
            </a:r>
            <a:endParaRPr lang="en-US" sz="2400" dirty="0"/>
          </a:p>
        </p:txBody>
      </p:sp>
      <p:sp>
        <p:nvSpPr>
          <p:cNvPr id="11" name="Text 8"/>
          <p:cNvSpPr txBox="1"/>
          <p:nvPr/>
        </p:nvSpPr>
        <p:spPr>
          <a:xfrm>
            <a:off x="4572000" y="2130552"/>
            <a:ext cx="1280160" cy="475488"/>
          </a:xfrm>
          <a:prstGeom prst="rect">
            <a:avLst/>
          </a:prstGeom>
          <a:noFill/>
          <a:ln/>
        </p:spPr>
        <p:txBody>
          <a:bodyPr wrap="square" lIns="0" tIns="0" rIns="0" bIns="0" rtlCol="0" anchor="t"/>
          <a:lstStyle/>
          <a:p>
            <a:pPr algn="ctr" indent="0" marL="0">
              <a:buNone/>
            </a:pPr>
            <a:r>
              <a:rPr lang="en-US" sz="1100" b="1" dirty="0">
                <a:solidFill>
                  <a:schemeClr val="tx1"/>
                </a:solidFill>
              </a:rPr>
              <a:t>Hot reload</a:t>
            </a:r>
            <a:endParaRPr lang="en-US" sz="1100" dirty="0"/>
          </a:p>
          <a:p>
            <a:pPr algn="ctr" indent="0" marL="0">
              <a:buNone/>
            </a:pPr>
            <a:r>
              <a:rPr lang="en-US" sz="1100" dirty="0">
                <a:solidFill>
                  <a:schemeClr val="tx1"/>
                </a:solidFill>
              </a:rPr>
              <a:t>keeps state</a:t>
            </a:r>
            <a:endParaRPr lang="en-US" sz="1100" dirty="0"/>
          </a:p>
        </p:txBody>
      </p:sp>
      <p:sp>
        <p:nvSpPr>
          <p:cNvPr id="12" name="card"/>
          <p:cNvSpPr/>
          <p:nvPr/>
        </p:nvSpPr>
        <p:spPr>
          <a:xfrm>
            <a:off x="5989320" y="1645920"/>
            <a:ext cx="1280160" cy="1005840"/>
          </a:xfrm>
          <a:prstGeom prst="roundRect">
            <a:avLst>
              <a:gd name="adj" fmla="val 7273"/>
            </a:avLst>
          </a:prstGeom>
          <a:solidFill>
            <a:schemeClr val="bg2"/>
          </a:solidFill>
          <a:ln w="12700">
            <a:solidFill>
              <a:schemeClr val="bg2"/>
            </a:solidFill>
            <a:prstDash val="solid"/>
          </a:ln>
        </p:spPr>
      </p:sp>
      <p:sp>
        <p:nvSpPr>
          <p:cNvPr id="13" name="Text 10"/>
          <p:cNvSpPr txBox="1"/>
          <p:nvPr/>
        </p:nvSpPr>
        <p:spPr>
          <a:xfrm>
            <a:off x="5989320" y="1673352"/>
            <a:ext cx="1280160" cy="457200"/>
          </a:xfrm>
          <a:prstGeom prst="rect">
            <a:avLst/>
          </a:prstGeom>
          <a:noFill/>
          <a:ln/>
        </p:spPr>
        <p:txBody>
          <a:bodyPr wrap="square" lIns="0" tIns="0" rIns="0" bIns="0" rtlCol="0" anchor="ctr"/>
          <a:lstStyle/>
          <a:p>
            <a:pPr algn="ctr" indent="0" marL="0">
              <a:buNone/>
            </a:pPr>
            <a:r>
              <a:rPr lang="en-US" sz="2400" b="1" dirty="0">
                <a:solidFill>
                  <a:schemeClr val="accent1"/>
                </a:solidFill>
                <a:latin typeface="Courier New" pitchFamily="34" charset="0"/>
                <a:ea typeface="Courier New" pitchFamily="34" charset="-122"/>
                <a:cs typeface="Courier New" pitchFamily="34" charset="-120"/>
              </a:rPr>
              <a:t>R</a:t>
            </a:r>
            <a:endParaRPr lang="en-US" sz="2400" dirty="0"/>
          </a:p>
        </p:txBody>
      </p:sp>
      <p:sp>
        <p:nvSpPr>
          <p:cNvPr id="14" name="Text 11"/>
          <p:cNvSpPr txBox="1"/>
          <p:nvPr/>
        </p:nvSpPr>
        <p:spPr>
          <a:xfrm>
            <a:off x="5989320" y="2130552"/>
            <a:ext cx="1280160" cy="475488"/>
          </a:xfrm>
          <a:prstGeom prst="rect">
            <a:avLst/>
          </a:prstGeom>
          <a:noFill/>
          <a:ln/>
        </p:spPr>
        <p:txBody>
          <a:bodyPr wrap="square" lIns="0" tIns="0" rIns="0" bIns="0" rtlCol="0" anchor="t"/>
          <a:lstStyle/>
          <a:p>
            <a:pPr algn="ctr" indent="0" marL="0">
              <a:buNone/>
            </a:pPr>
            <a:r>
              <a:rPr lang="en-US" sz="1100" b="1" dirty="0">
                <a:solidFill>
                  <a:schemeClr val="tx1"/>
                </a:solidFill>
              </a:rPr>
              <a:t>Hot restart</a:t>
            </a:r>
            <a:endParaRPr lang="en-US" sz="1100" dirty="0"/>
          </a:p>
          <a:p>
            <a:pPr algn="ctr" indent="0" marL="0">
              <a:buNone/>
            </a:pPr>
            <a:r>
              <a:rPr lang="en-US" sz="1100" dirty="0">
                <a:solidFill>
                  <a:schemeClr val="tx1"/>
                </a:solidFill>
              </a:rPr>
              <a:t>resets state</a:t>
            </a:r>
            <a:endParaRPr lang="en-US" sz="1100" dirty="0"/>
          </a:p>
        </p:txBody>
      </p:sp>
      <p:sp>
        <p:nvSpPr>
          <p:cNvPr id="15" name="card"/>
          <p:cNvSpPr/>
          <p:nvPr/>
        </p:nvSpPr>
        <p:spPr>
          <a:xfrm>
            <a:off x="7406640" y="1645920"/>
            <a:ext cx="1280160" cy="1005840"/>
          </a:xfrm>
          <a:prstGeom prst="roundRect">
            <a:avLst>
              <a:gd name="adj" fmla="val 7273"/>
            </a:avLst>
          </a:prstGeom>
          <a:solidFill>
            <a:schemeClr val="bg2"/>
          </a:solidFill>
          <a:ln w="12700">
            <a:solidFill>
              <a:schemeClr val="bg2"/>
            </a:solidFill>
            <a:prstDash val="solid"/>
          </a:ln>
        </p:spPr>
      </p:sp>
      <p:sp>
        <p:nvSpPr>
          <p:cNvPr id="16" name="Text 13"/>
          <p:cNvSpPr txBox="1"/>
          <p:nvPr/>
        </p:nvSpPr>
        <p:spPr>
          <a:xfrm>
            <a:off x="7406640" y="1673352"/>
            <a:ext cx="1280160" cy="457200"/>
          </a:xfrm>
          <a:prstGeom prst="rect">
            <a:avLst/>
          </a:prstGeom>
          <a:noFill/>
          <a:ln/>
        </p:spPr>
        <p:txBody>
          <a:bodyPr wrap="square" lIns="0" tIns="0" rIns="0" bIns="0" rtlCol="0" anchor="ctr"/>
          <a:lstStyle/>
          <a:p>
            <a:pPr algn="ctr" indent="0" marL="0">
              <a:buNone/>
            </a:pPr>
            <a:r>
              <a:rPr lang="en-US" sz="2400" b="1" dirty="0">
                <a:solidFill>
                  <a:schemeClr val="accent1"/>
                </a:solidFill>
                <a:latin typeface="Courier New" pitchFamily="34" charset="0"/>
                <a:ea typeface="Courier New" pitchFamily="34" charset="-122"/>
                <a:cs typeface="Courier New" pitchFamily="34" charset="-120"/>
              </a:rPr>
              <a:t>q</a:t>
            </a:r>
            <a:endParaRPr lang="en-US" sz="2400" dirty="0"/>
          </a:p>
        </p:txBody>
      </p:sp>
      <p:sp>
        <p:nvSpPr>
          <p:cNvPr id="17" name="Text 14"/>
          <p:cNvSpPr txBox="1"/>
          <p:nvPr/>
        </p:nvSpPr>
        <p:spPr>
          <a:xfrm>
            <a:off x="7406640" y="2130552"/>
            <a:ext cx="1280160" cy="475488"/>
          </a:xfrm>
          <a:prstGeom prst="rect">
            <a:avLst/>
          </a:prstGeom>
          <a:noFill/>
          <a:ln/>
        </p:spPr>
        <p:txBody>
          <a:bodyPr wrap="square" lIns="0" tIns="0" rIns="0" bIns="0" rtlCol="0" anchor="t"/>
          <a:lstStyle/>
          <a:p>
            <a:pPr algn="ctr" indent="0" marL="0">
              <a:buNone/>
            </a:pPr>
            <a:r>
              <a:rPr lang="en-US" sz="1100" b="1" dirty="0">
                <a:solidFill>
                  <a:schemeClr val="tx1"/>
                </a:solidFill>
              </a:rPr>
              <a:t>Quit</a:t>
            </a:r>
            <a:endParaRPr lang="en-US" sz="1100" dirty="0"/>
          </a:p>
          <a:p>
            <a:pPr algn="ctr" indent="0" marL="0">
              <a:buNone/>
            </a:pPr>
            <a:r>
              <a:rPr lang="en-US" sz="1100" dirty="0">
                <a:solidFill>
                  <a:schemeClr val="tx1"/>
                </a:solidFill>
              </a:rPr>
              <a:t>stops the app</a:t>
            </a:r>
            <a:endParaRPr lang="en-US" sz="1100" dirty="0"/>
          </a:p>
        </p:txBody>
      </p:sp>
      <p:sp>
        <p:nvSpPr>
          <p:cNvPr id="18" name="code-block"/>
          <p:cNvSpPr/>
          <p:nvPr/>
        </p:nvSpPr>
        <p:spPr>
          <a:xfrm>
            <a:off x="4572000" y="2834640"/>
            <a:ext cx="4114800" cy="1737360"/>
          </a:xfrm>
          <a:prstGeom prst="roundRect">
            <a:avLst>
              <a:gd name="adj" fmla="val 4211"/>
            </a:avLst>
          </a:prstGeom>
          <a:solidFill>
            <a:schemeClr val="tx2"/>
          </a:solidFill>
          <a:ln w="12700">
            <a:solidFill>
              <a:schemeClr val="tx2"/>
            </a:solidFill>
            <a:prstDash val="solid"/>
          </a:ln>
        </p:spPr>
      </p:sp>
      <p:sp>
        <p:nvSpPr>
          <p:cNvPr id="19" name="Text 16"/>
          <p:cNvSpPr txBox="1"/>
          <p:nvPr/>
        </p:nvSpPr>
        <p:spPr>
          <a:xfrm>
            <a:off x="4773168" y="2971800"/>
            <a:ext cx="3712464" cy="1490472"/>
          </a:xfrm>
          <a:prstGeom prst="rect">
            <a:avLst/>
          </a:prstGeom>
          <a:noFill/>
          <a:ln/>
        </p:spPr>
        <p:txBody>
          <a:bodyPr wrap="square" lIns="0" tIns="0" rIns="0" bIns="0" rtlCol="0" anchor="t"/>
          <a:lstStyle/>
          <a:p>
            <a:pPr indent="0" marL="0">
              <a:buNone/>
            </a:pPr>
            <a:r>
              <a:rPr lang="en-US" sz="1000" dirty="0">
                <a:solidFill>
                  <a:schemeClr val="bg1"/>
                </a:solidFill>
                <a:latin typeface="Courier New" pitchFamily="34" charset="0"/>
                <a:ea typeface="Courier New" pitchFamily="34" charset="-122"/>
                <a:cs typeface="Courier New" pitchFamily="34" charset="-120"/>
              </a:rPr>
              <a:t>flutter pub get       # fetch packages</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flutter pub add http  # add a package</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flutter clean         # delete build/</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flutter build apk     # Android APK</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flutter build web     # web release</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flutter upgrade       # update the SDK</a:t>
            </a:r>
            <a:endParaRPr lang="en-US" sz="1000" dirty="0"/>
          </a:p>
        </p:txBody>
      </p:sp>
      <p:sp>
        <p:nvSpPr>
          <p:cNvPr id="25" name="Slide Number Placeholder 0"/>
          <p:cNvSpPr>
            <a:spLocks noGrp="1"/>
          </p:cNvSpPr>
          <p:nvPr>
            <p:ph type="sldNum" sz="quarter" idx="4294967295"/>
          </p:nvPr>
        </p:nvSpPr>
        <p:spPr>
          <a:xfrm>
            <a:off x="8229600" y="4773168"/>
            <a:ext cx="457200" cy="237744"/>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4748B"/>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457200" y="228600"/>
            <a:ext cx="8229600" cy="256032"/>
          </a:xfrm>
          <a:prstGeom prst="rect">
            <a:avLst/>
          </a:prstGeom>
          <a:noFill/>
          <a:ln/>
        </p:spPr>
        <p:txBody>
          <a:bodyPr wrap="square" lIns="0" tIns="0" rIns="0" bIns="0" rtlCol="0" anchor="ctr"/>
          <a:lstStyle/>
          <a:p>
            <a:pPr indent="0" marL="0">
              <a:buNone/>
            </a:pPr>
            <a:r>
              <a:rPr lang="en-US" sz="1100" b="1" spc="200" kern="0" dirty="0">
                <a:solidFill>
                  <a:schemeClr val="accent1"/>
                </a:solidFill>
              </a:rPr>
              <a:t>PART 3 · STRUCTURE</a:t>
            </a:r>
            <a:endParaRPr lang="en-US" sz="1100" dirty="0"/>
          </a:p>
        </p:txBody>
      </p:sp>
      <p:sp>
        <p:nvSpPr>
          <p:cNvPr id="3" name="Text 0"/>
          <p:cNvSpPr/>
          <p:nvPr>
            <p:ph idx="101" type="title" hasCustomPrompt="1"/>
          </p:nvPr>
        </p:nvSpPr>
        <p:spPr>
          <a:xfrm>
            <a:off x="457200" y="502920"/>
            <a:ext cx="8229600" cy="566928"/>
          </a:xfrm>
          <a:prstGeom prst="rect">
            <a:avLst/>
          </a:prstGeom>
          <a:noFill/>
          <a:ln/>
        </p:spPr>
        <p:txBody>
          <a:bodyPr wrap="square" lIns="0" tIns="0" rIns="0" bIns="0" rtlCol="0" anchor="ctr"/>
          <a:lstStyle/>
          <a:p>
            <a:pPr indent="0" marL="0">
              <a:buNone/>
            </a:pPr>
            <a:r>
              <a:rPr lang="en-US" sz="2800" b="1" dirty="0">
                <a:solidFill>
                  <a:schemeClr val="tx2"/>
                </a:solidFill>
              </a:rPr>
              <a:t>What flutter create generates</a:t>
            </a:r>
            <a:endParaRPr lang="en-US" sz="2800" dirty="0"/>
          </a:p>
        </p:txBody>
      </p:sp>
      <p:sp>
        <p:nvSpPr>
          <p:cNvPr id="5" name="code-block"/>
          <p:cNvSpPr/>
          <p:nvPr/>
        </p:nvSpPr>
        <p:spPr>
          <a:xfrm>
            <a:off x="457200" y="1280160"/>
            <a:ext cx="4846320" cy="3291840"/>
          </a:xfrm>
          <a:prstGeom prst="roundRect">
            <a:avLst>
              <a:gd name="adj" fmla="val 2222"/>
            </a:avLst>
          </a:prstGeom>
          <a:solidFill>
            <a:schemeClr val="tx2"/>
          </a:solidFill>
          <a:ln w="12700">
            <a:solidFill>
              <a:schemeClr val="tx2"/>
            </a:solidFill>
            <a:prstDash val="solid"/>
          </a:ln>
        </p:spPr>
      </p:sp>
      <p:sp>
        <p:nvSpPr>
          <p:cNvPr id="6" name="Text 3"/>
          <p:cNvSpPr txBox="1"/>
          <p:nvPr/>
        </p:nvSpPr>
        <p:spPr>
          <a:xfrm>
            <a:off x="658368" y="1417320"/>
            <a:ext cx="4443984" cy="3044952"/>
          </a:xfrm>
          <a:prstGeom prst="rect">
            <a:avLst/>
          </a:prstGeom>
          <a:noFill/>
          <a:ln/>
        </p:spPr>
        <p:txBody>
          <a:bodyPr wrap="square" lIns="0" tIns="0" rIns="0" bIns="0" rtlCol="0" anchor="t"/>
          <a:lstStyle/>
          <a:p>
            <a:pPr indent="0" marL="0">
              <a:buNone/>
            </a:pPr>
            <a:r>
              <a:rPr lang="en-US" sz="1000" dirty="0">
                <a:solidFill>
                  <a:schemeClr val="bg1"/>
                </a:solidFill>
                <a:latin typeface="Courier New" pitchFamily="34" charset="0"/>
                <a:ea typeface="Courier New" pitchFamily="34" charset="-122"/>
                <a:cs typeface="Courier New" pitchFamily="34" charset="-120"/>
              </a:rPr>
              <a:t>my_first_app/</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 android/         Android host app</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 ios/             iOS host app</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 lib/</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   └── main.dart    app entry point</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 test/</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   └── widget_test.dart</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 web/  windows/  macos/  linux/</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 .dart_tool/      tool cache</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 build/           compiled output</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 analysis_options.yaml</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 pubspec.yaml     config &amp; packages</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 pubspec.lock</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 .metadata   .gitignore</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 README.md</a:t>
            </a:r>
            <a:endParaRPr lang="en-US" sz="1000" dirty="0"/>
          </a:p>
        </p:txBody>
      </p:sp>
      <p:sp>
        <p:nvSpPr>
          <p:cNvPr id="7" name="card"/>
          <p:cNvSpPr/>
          <p:nvPr/>
        </p:nvSpPr>
        <p:spPr>
          <a:xfrm>
            <a:off x="5532120" y="1280160"/>
            <a:ext cx="3154680" cy="1005840"/>
          </a:xfrm>
          <a:prstGeom prst="roundRect">
            <a:avLst>
              <a:gd name="adj" fmla="val 7273"/>
            </a:avLst>
          </a:prstGeom>
          <a:solidFill>
            <a:schemeClr val="bg2"/>
          </a:solidFill>
          <a:ln w="12700">
            <a:solidFill>
              <a:schemeClr val="bg2"/>
            </a:solidFill>
            <a:prstDash val="solid"/>
          </a:ln>
        </p:spPr>
      </p:sp>
      <p:sp>
        <p:nvSpPr>
          <p:cNvPr id="8" name="icon-circle"/>
          <p:cNvSpPr/>
          <p:nvPr/>
        </p:nvSpPr>
        <p:spPr>
          <a:xfrm>
            <a:off x="5687568" y="1508760"/>
            <a:ext cx="548640" cy="548640"/>
          </a:xfrm>
          <a:prstGeom prst="ellipse">
            <a:avLst/>
          </a:prstGeom>
          <a:solidFill>
            <a:schemeClr val="accent3"/>
          </a:solidFill>
          <a:ln w="12700">
            <a:solidFill>
              <a:schemeClr val="accent3"/>
            </a:solidFill>
            <a:prstDash val="solid"/>
          </a:ln>
        </p:spPr>
      </p:sp>
      <p:pic>
        <p:nvPicPr>
          <p:cNvPr id="9" name="icon" descr="preencoded.png">    </p:cNvPr>
          <p:cNvPicPr>
            <a:picLocks noChangeAspect="1"/>
          </p:cNvPicPr>
          <p:nvPr/>
        </p:nvPicPr>
        <p:blipFill>
          <a:blip r:embed="rId1"/>
          <a:stretch>
            <a:fillRect/>
          </a:stretch>
        </p:blipFill>
        <p:spPr>
          <a:xfrm>
            <a:off x="5824728" y="1645920"/>
            <a:ext cx="274320" cy="274320"/>
          </a:xfrm>
          <a:prstGeom prst="rect">
            <a:avLst/>
          </a:prstGeom>
        </p:spPr>
      </p:pic>
      <p:sp>
        <p:nvSpPr>
          <p:cNvPr id="10" name="Text 6"/>
          <p:cNvSpPr txBox="1"/>
          <p:nvPr/>
        </p:nvSpPr>
        <p:spPr>
          <a:xfrm>
            <a:off x="6382512" y="1353312"/>
            <a:ext cx="2212848" cy="859536"/>
          </a:xfrm>
          <a:prstGeom prst="rect">
            <a:avLst/>
          </a:prstGeom>
          <a:noFill/>
          <a:ln/>
        </p:spPr>
        <p:txBody>
          <a:bodyPr wrap="square" lIns="0" tIns="0" rIns="0" bIns="0" rtlCol="0" anchor="ctr"/>
          <a:lstStyle/>
          <a:p>
            <a:pPr indent="0" marL="0">
              <a:buNone/>
            </a:pPr>
            <a:r>
              <a:rPr lang="en-US" sz="1400" b="1" dirty="0">
                <a:solidFill>
                  <a:schemeClr val="tx2"/>
                </a:solidFill>
              </a:rPr>
              <a:t>You edit</a:t>
            </a:r>
            <a:endParaRPr lang="en-US" sz="1400" dirty="0"/>
          </a:p>
          <a:p>
            <a:pPr indent="0" marL="0">
              <a:buNone/>
            </a:pPr>
            <a:r>
              <a:rPr lang="en-US" sz="1150" dirty="0">
                <a:solidFill>
                  <a:schemeClr val="tx1"/>
                </a:solidFill>
              </a:rPr>
              <a:t>lib/, test/, pubspec.yaml, README.md, assets you add</a:t>
            </a:r>
            <a:endParaRPr lang="en-US" sz="1400" dirty="0"/>
          </a:p>
        </p:txBody>
      </p:sp>
      <p:sp>
        <p:nvSpPr>
          <p:cNvPr id="11" name="card"/>
          <p:cNvSpPr/>
          <p:nvPr/>
        </p:nvSpPr>
        <p:spPr>
          <a:xfrm>
            <a:off x="5532120" y="2423160"/>
            <a:ext cx="3154680" cy="1005840"/>
          </a:xfrm>
          <a:prstGeom prst="roundRect">
            <a:avLst>
              <a:gd name="adj" fmla="val 7273"/>
            </a:avLst>
          </a:prstGeom>
          <a:solidFill>
            <a:schemeClr val="bg2"/>
          </a:solidFill>
          <a:ln w="12700">
            <a:solidFill>
              <a:schemeClr val="bg2"/>
            </a:solidFill>
            <a:prstDash val="solid"/>
          </a:ln>
        </p:spPr>
      </p:sp>
      <p:sp>
        <p:nvSpPr>
          <p:cNvPr id="12" name="icon-circle"/>
          <p:cNvSpPr/>
          <p:nvPr/>
        </p:nvSpPr>
        <p:spPr>
          <a:xfrm>
            <a:off x="5687568" y="2651760"/>
            <a:ext cx="548640" cy="548640"/>
          </a:xfrm>
          <a:prstGeom prst="ellipse">
            <a:avLst/>
          </a:prstGeom>
          <a:solidFill>
            <a:schemeClr val="accent4"/>
          </a:solidFill>
          <a:ln w="12700">
            <a:solidFill>
              <a:schemeClr val="accent4"/>
            </a:solidFill>
            <a:prstDash val="solid"/>
          </a:ln>
        </p:spPr>
      </p:sp>
      <p:pic>
        <p:nvPicPr>
          <p:cNvPr id="13" name="icon" descr="preencoded.png">    </p:cNvPr>
          <p:cNvPicPr>
            <a:picLocks noChangeAspect="1"/>
          </p:cNvPicPr>
          <p:nvPr/>
        </p:nvPicPr>
        <p:blipFill>
          <a:blip r:embed="rId2"/>
          <a:stretch>
            <a:fillRect/>
          </a:stretch>
        </p:blipFill>
        <p:spPr>
          <a:xfrm>
            <a:off x="5824728" y="2788920"/>
            <a:ext cx="274320" cy="274320"/>
          </a:xfrm>
          <a:prstGeom prst="rect">
            <a:avLst/>
          </a:prstGeom>
        </p:spPr>
      </p:pic>
      <p:sp>
        <p:nvSpPr>
          <p:cNvPr id="14" name="Text 9"/>
          <p:cNvSpPr txBox="1"/>
          <p:nvPr/>
        </p:nvSpPr>
        <p:spPr>
          <a:xfrm>
            <a:off x="6382512" y="2496312"/>
            <a:ext cx="2212848" cy="859536"/>
          </a:xfrm>
          <a:prstGeom prst="rect">
            <a:avLst/>
          </a:prstGeom>
          <a:noFill/>
          <a:ln/>
        </p:spPr>
        <p:txBody>
          <a:bodyPr wrap="square" lIns="0" tIns="0" rIns="0" bIns="0" rtlCol="0" anchor="ctr"/>
          <a:lstStyle/>
          <a:p>
            <a:pPr indent="0" marL="0">
              <a:buNone/>
            </a:pPr>
            <a:r>
              <a:rPr lang="en-US" sz="1400" b="1" dirty="0">
                <a:solidFill>
                  <a:schemeClr val="tx2"/>
                </a:solidFill>
              </a:rPr>
              <a:t>Edit occasionally</a:t>
            </a:r>
            <a:endParaRPr lang="en-US" sz="1400" dirty="0"/>
          </a:p>
          <a:p>
            <a:pPr indent="0" marL="0">
              <a:buNone/>
            </a:pPr>
            <a:r>
              <a:rPr lang="en-US" sz="1150" dirty="0">
                <a:solidFill>
                  <a:schemeClr val="tx1"/>
                </a:solidFill>
              </a:rPr>
              <a:t>android/, ios/, web/, desktop folders, analysis_options.yaml</a:t>
            </a:r>
            <a:endParaRPr lang="en-US" sz="1400" dirty="0"/>
          </a:p>
        </p:txBody>
      </p:sp>
      <p:sp>
        <p:nvSpPr>
          <p:cNvPr id="15" name="card"/>
          <p:cNvSpPr/>
          <p:nvPr/>
        </p:nvSpPr>
        <p:spPr>
          <a:xfrm>
            <a:off x="5532120" y="3566160"/>
            <a:ext cx="3154680" cy="1005840"/>
          </a:xfrm>
          <a:prstGeom prst="roundRect">
            <a:avLst>
              <a:gd name="adj" fmla="val 7273"/>
            </a:avLst>
          </a:prstGeom>
          <a:solidFill>
            <a:schemeClr val="bg2"/>
          </a:solidFill>
          <a:ln w="12700">
            <a:solidFill>
              <a:schemeClr val="bg2"/>
            </a:solidFill>
            <a:prstDash val="solid"/>
          </a:ln>
        </p:spPr>
      </p:sp>
      <p:sp>
        <p:nvSpPr>
          <p:cNvPr id="16" name="icon-circle"/>
          <p:cNvSpPr/>
          <p:nvPr/>
        </p:nvSpPr>
        <p:spPr>
          <a:xfrm>
            <a:off x="5687568" y="3794760"/>
            <a:ext cx="548640" cy="548640"/>
          </a:xfrm>
          <a:prstGeom prst="ellipse">
            <a:avLst/>
          </a:prstGeom>
          <a:solidFill>
            <a:schemeClr val="accent5"/>
          </a:solidFill>
          <a:ln w="12700">
            <a:solidFill>
              <a:schemeClr val="accent5"/>
            </a:solidFill>
            <a:prstDash val="solid"/>
          </a:ln>
        </p:spPr>
      </p:sp>
      <p:pic>
        <p:nvPicPr>
          <p:cNvPr id="17" name="icon" descr="preencoded.png">    </p:cNvPr>
          <p:cNvPicPr>
            <a:picLocks noChangeAspect="1"/>
          </p:cNvPicPr>
          <p:nvPr/>
        </p:nvPicPr>
        <p:blipFill>
          <a:blip r:embed="rId3"/>
          <a:stretch>
            <a:fillRect/>
          </a:stretch>
        </p:blipFill>
        <p:spPr>
          <a:xfrm>
            <a:off x="5824728" y="3931920"/>
            <a:ext cx="274320" cy="274320"/>
          </a:xfrm>
          <a:prstGeom prst="rect">
            <a:avLst/>
          </a:prstGeom>
        </p:spPr>
      </p:pic>
      <p:sp>
        <p:nvSpPr>
          <p:cNvPr id="18" name="Text 12"/>
          <p:cNvSpPr txBox="1"/>
          <p:nvPr/>
        </p:nvSpPr>
        <p:spPr>
          <a:xfrm>
            <a:off x="6382512" y="3639312"/>
            <a:ext cx="2212848" cy="859536"/>
          </a:xfrm>
          <a:prstGeom prst="rect">
            <a:avLst/>
          </a:prstGeom>
          <a:noFill/>
          <a:ln/>
        </p:spPr>
        <p:txBody>
          <a:bodyPr wrap="square" lIns="0" tIns="0" rIns="0" bIns="0" rtlCol="0" anchor="ctr"/>
          <a:lstStyle/>
          <a:p>
            <a:pPr indent="0" marL="0">
              <a:buNone/>
            </a:pPr>
            <a:r>
              <a:rPr lang="en-US" sz="1400" b="1" dirty="0">
                <a:solidFill>
                  <a:schemeClr val="tx2"/>
                </a:solidFill>
              </a:rPr>
              <a:t>Generated: don't edit</a:t>
            </a:r>
            <a:endParaRPr lang="en-US" sz="1400" dirty="0"/>
          </a:p>
          <a:p>
            <a:pPr indent="0" marL="0">
              <a:buNone/>
            </a:pPr>
            <a:r>
              <a:rPr lang="en-US" sz="1150" dirty="0">
                <a:solidFill>
                  <a:schemeClr val="tx1"/>
                </a:solidFill>
              </a:rPr>
              <a:t>.dart_tool/, build/, pubspec.lock, .metadata</a:t>
            </a:r>
            <a:endParaRPr lang="en-US" sz="1400" dirty="0"/>
          </a:p>
        </p:txBody>
      </p:sp>
      <p:sp>
        <p:nvSpPr>
          <p:cNvPr id="25" name="Slide Number Placeholder 0"/>
          <p:cNvSpPr>
            <a:spLocks noGrp="1"/>
          </p:cNvSpPr>
          <p:nvPr>
            <p:ph type="sldNum" sz="quarter" idx="4294967295"/>
          </p:nvPr>
        </p:nvSpPr>
        <p:spPr>
          <a:xfrm>
            <a:off x="8229600" y="4773168"/>
            <a:ext cx="457200" cy="237744"/>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4748B"/>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457200" y="228600"/>
            <a:ext cx="8229600" cy="256032"/>
          </a:xfrm>
          <a:prstGeom prst="rect">
            <a:avLst/>
          </a:prstGeom>
          <a:noFill/>
          <a:ln/>
        </p:spPr>
        <p:txBody>
          <a:bodyPr wrap="square" lIns="0" tIns="0" rIns="0" bIns="0" rtlCol="0" anchor="ctr"/>
          <a:lstStyle/>
          <a:p>
            <a:pPr indent="0" marL="0">
              <a:buNone/>
            </a:pPr>
            <a:r>
              <a:rPr lang="en-US" sz="1100" b="1" spc="200" kern="0" dirty="0">
                <a:solidFill>
                  <a:schemeClr val="accent1"/>
                </a:solidFill>
              </a:rPr>
              <a:t>PART 3 · lib/</a:t>
            </a:r>
            <a:endParaRPr lang="en-US" sz="1100" dirty="0"/>
          </a:p>
        </p:txBody>
      </p:sp>
      <p:sp>
        <p:nvSpPr>
          <p:cNvPr id="3" name="Text 0"/>
          <p:cNvSpPr/>
          <p:nvPr>
            <p:ph idx="101" type="title" hasCustomPrompt="1"/>
          </p:nvPr>
        </p:nvSpPr>
        <p:spPr>
          <a:xfrm>
            <a:off x="457200" y="502920"/>
            <a:ext cx="8229600" cy="566928"/>
          </a:xfrm>
          <a:prstGeom prst="rect">
            <a:avLst/>
          </a:prstGeom>
          <a:noFill/>
          <a:ln/>
        </p:spPr>
        <p:txBody>
          <a:bodyPr wrap="square" lIns="0" tIns="0" rIns="0" bIns="0" rtlCol="0" anchor="ctr"/>
          <a:lstStyle/>
          <a:p>
            <a:pPr indent="0" marL="0">
              <a:buNone/>
            </a:pPr>
            <a:r>
              <a:rPr lang="en-US" sz="2800" b="1" dirty="0">
                <a:solidFill>
                  <a:schemeClr val="tx2"/>
                </a:solidFill>
              </a:rPr>
              <a:t>lib/main.dart: where the app starts</a:t>
            </a:r>
            <a:endParaRPr lang="en-US" sz="2800" dirty="0"/>
          </a:p>
        </p:txBody>
      </p:sp>
      <p:sp>
        <p:nvSpPr>
          <p:cNvPr id="5" name="code-block"/>
          <p:cNvSpPr/>
          <p:nvPr/>
        </p:nvSpPr>
        <p:spPr>
          <a:xfrm>
            <a:off x="457200" y="1280160"/>
            <a:ext cx="4846320" cy="3291840"/>
          </a:xfrm>
          <a:prstGeom prst="roundRect">
            <a:avLst>
              <a:gd name="adj" fmla="val 2222"/>
            </a:avLst>
          </a:prstGeom>
          <a:solidFill>
            <a:schemeClr val="tx2"/>
          </a:solidFill>
          <a:ln w="12700">
            <a:solidFill>
              <a:schemeClr val="tx2"/>
            </a:solidFill>
            <a:prstDash val="solid"/>
          </a:ln>
        </p:spPr>
      </p:sp>
      <p:sp>
        <p:nvSpPr>
          <p:cNvPr id="6" name="Text 3"/>
          <p:cNvSpPr txBox="1"/>
          <p:nvPr/>
        </p:nvSpPr>
        <p:spPr>
          <a:xfrm>
            <a:off x="658368" y="1417320"/>
            <a:ext cx="4443984" cy="3044952"/>
          </a:xfrm>
          <a:prstGeom prst="rect">
            <a:avLst/>
          </a:prstGeom>
          <a:noFill/>
          <a:ln/>
        </p:spPr>
        <p:txBody>
          <a:bodyPr wrap="square" lIns="0" tIns="0" rIns="0" bIns="0" rtlCol="0" anchor="t"/>
          <a:lstStyle/>
          <a:p>
            <a:pPr indent="0" marL="0">
              <a:buNone/>
            </a:pPr>
            <a:r>
              <a:rPr lang="en-US" sz="950" dirty="0">
                <a:solidFill>
                  <a:schemeClr val="bg1"/>
                </a:solidFill>
                <a:latin typeface="Courier New" pitchFamily="34" charset="0"/>
                <a:ea typeface="Courier New" pitchFamily="34" charset="-122"/>
                <a:cs typeface="Courier New" pitchFamily="34" charset="-120"/>
              </a:rPr>
              <a:t>import 'package:flutter/material.dart';</a:t>
            </a:r>
            <a:endParaRPr lang="en-US" sz="950" dirty="0"/>
          </a:p>
          <a:p>
            <a:pPr indent="0" marL="0">
              <a:buNone/>
            </a:pPr>
            <a:r>
              <a:rPr lang="en-US" sz="950" dirty="0">
                <a:solidFill>
                  <a:schemeClr val="bg1"/>
                </a:solidFill>
                <a:latin typeface="Courier New" pitchFamily="34" charset="0"/>
                <a:ea typeface="Courier New" pitchFamily="34" charset="-122"/>
                <a:cs typeface="Courier New" pitchFamily="34" charset="-120"/>
              </a:rPr>
              <a:t> </a:t>
            </a:r>
            <a:endParaRPr lang="en-US" sz="950" dirty="0"/>
          </a:p>
          <a:p>
            <a:pPr indent="0" marL="0">
              <a:buNone/>
            </a:pPr>
            <a:r>
              <a:rPr lang="en-US" sz="950" dirty="0">
                <a:solidFill>
                  <a:schemeClr val="bg1"/>
                </a:solidFill>
                <a:latin typeface="Courier New" pitchFamily="34" charset="0"/>
                <a:ea typeface="Courier New" pitchFamily="34" charset="-122"/>
                <a:cs typeface="Courier New" pitchFamily="34" charset="-120"/>
              </a:rPr>
              <a:t>void main() {</a:t>
            </a:r>
            <a:endParaRPr lang="en-US" sz="950" dirty="0"/>
          </a:p>
          <a:p>
            <a:pPr indent="0" marL="0">
              <a:buNone/>
            </a:pPr>
            <a:r>
              <a:rPr lang="en-US" sz="950" dirty="0">
                <a:solidFill>
                  <a:schemeClr val="bg1"/>
                </a:solidFill>
                <a:latin typeface="Courier New" pitchFamily="34" charset="0"/>
                <a:ea typeface="Courier New" pitchFamily="34" charset="-122"/>
                <a:cs typeface="Courier New" pitchFamily="34" charset="-120"/>
              </a:rPr>
              <a:t>  runApp(const MyApp());</a:t>
            </a:r>
            <a:endParaRPr lang="en-US" sz="950" dirty="0"/>
          </a:p>
          <a:p>
            <a:pPr indent="0" marL="0">
              <a:buNone/>
            </a:pPr>
            <a:r>
              <a:rPr lang="en-US" sz="950" dirty="0">
                <a:solidFill>
                  <a:schemeClr val="bg1"/>
                </a:solidFill>
                <a:latin typeface="Courier New" pitchFamily="34" charset="0"/>
                <a:ea typeface="Courier New" pitchFamily="34" charset="-122"/>
                <a:cs typeface="Courier New" pitchFamily="34" charset="-120"/>
              </a:rPr>
              <a:t>}</a:t>
            </a:r>
            <a:endParaRPr lang="en-US" sz="950" dirty="0"/>
          </a:p>
          <a:p>
            <a:pPr indent="0" marL="0">
              <a:buNone/>
            </a:pPr>
            <a:r>
              <a:rPr lang="en-US" sz="950" dirty="0">
                <a:solidFill>
                  <a:schemeClr val="bg1"/>
                </a:solidFill>
                <a:latin typeface="Courier New" pitchFamily="34" charset="0"/>
                <a:ea typeface="Courier New" pitchFamily="34" charset="-122"/>
                <a:cs typeface="Courier New" pitchFamily="34" charset="-120"/>
              </a:rPr>
              <a:t> </a:t>
            </a:r>
            <a:endParaRPr lang="en-US" sz="950" dirty="0"/>
          </a:p>
          <a:p>
            <a:pPr indent="0" marL="0">
              <a:buNone/>
            </a:pPr>
            <a:r>
              <a:rPr lang="en-US" sz="950" dirty="0">
                <a:solidFill>
                  <a:schemeClr val="bg1"/>
                </a:solidFill>
                <a:latin typeface="Courier New" pitchFamily="34" charset="0"/>
                <a:ea typeface="Courier New" pitchFamily="34" charset="-122"/>
                <a:cs typeface="Courier New" pitchFamily="34" charset="-120"/>
              </a:rPr>
              <a:t>class MyApp extends StatelessWidget {</a:t>
            </a:r>
            <a:endParaRPr lang="en-US" sz="950" dirty="0"/>
          </a:p>
          <a:p>
            <a:pPr indent="0" marL="0">
              <a:buNone/>
            </a:pPr>
            <a:r>
              <a:rPr lang="en-US" sz="950" dirty="0">
                <a:solidFill>
                  <a:schemeClr val="bg1"/>
                </a:solidFill>
                <a:latin typeface="Courier New" pitchFamily="34" charset="0"/>
                <a:ea typeface="Courier New" pitchFamily="34" charset="-122"/>
                <a:cs typeface="Courier New" pitchFamily="34" charset="-120"/>
              </a:rPr>
              <a:t>  const MyApp({super.key});</a:t>
            </a:r>
            <a:endParaRPr lang="en-US" sz="950" dirty="0"/>
          </a:p>
          <a:p>
            <a:pPr indent="0" marL="0">
              <a:buNone/>
            </a:pPr>
            <a:r>
              <a:rPr lang="en-US" sz="950" dirty="0">
                <a:solidFill>
                  <a:schemeClr val="bg1"/>
                </a:solidFill>
                <a:latin typeface="Courier New" pitchFamily="34" charset="0"/>
                <a:ea typeface="Courier New" pitchFamily="34" charset="-122"/>
                <a:cs typeface="Courier New" pitchFamily="34" charset="-120"/>
              </a:rPr>
              <a:t> </a:t>
            </a:r>
            <a:endParaRPr lang="en-US" sz="950" dirty="0"/>
          </a:p>
          <a:p>
            <a:pPr indent="0" marL="0">
              <a:buNone/>
            </a:pPr>
            <a:r>
              <a:rPr lang="en-US" sz="950" dirty="0">
                <a:solidFill>
                  <a:schemeClr val="bg1"/>
                </a:solidFill>
                <a:latin typeface="Courier New" pitchFamily="34" charset="0"/>
                <a:ea typeface="Courier New" pitchFamily="34" charset="-122"/>
                <a:cs typeface="Courier New" pitchFamily="34" charset="-120"/>
              </a:rPr>
              <a:t>  @override</a:t>
            </a:r>
            <a:endParaRPr lang="en-US" sz="950" dirty="0"/>
          </a:p>
          <a:p>
            <a:pPr indent="0" marL="0">
              <a:buNone/>
            </a:pPr>
            <a:r>
              <a:rPr lang="en-US" sz="950" dirty="0">
                <a:solidFill>
                  <a:schemeClr val="bg1"/>
                </a:solidFill>
                <a:latin typeface="Courier New" pitchFamily="34" charset="0"/>
                <a:ea typeface="Courier New" pitchFamily="34" charset="-122"/>
                <a:cs typeface="Courier New" pitchFamily="34" charset="-120"/>
              </a:rPr>
              <a:t>  Widget build(BuildContext context) {</a:t>
            </a:r>
            <a:endParaRPr lang="en-US" sz="950" dirty="0"/>
          </a:p>
          <a:p>
            <a:pPr indent="0" marL="0">
              <a:buNone/>
            </a:pPr>
            <a:r>
              <a:rPr lang="en-US" sz="950" dirty="0">
                <a:solidFill>
                  <a:schemeClr val="bg1"/>
                </a:solidFill>
                <a:latin typeface="Courier New" pitchFamily="34" charset="0"/>
                <a:ea typeface="Courier New" pitchFamily="34" charset="-122"/>
                <a:cs typeface="Courier New" pitchFamily="34" charset="-120"/>
              </a:rPr>
              <a:t>    return MaterialApp(</a:t>
            </a:r>
            <a:endParaRPr lang="en-US" sz="950" dirty="0"/>
          </a:p>
          <a:p>
            <a:pPr indent="0" marL="0">
              <a:buNone/>
            </a:pPr>
            <a:r>
              <a:rPr lang="en-US" sz="950" dirty="0">
                <a:solidFill>
                  <a:schemeClr val="bg1"/>
                </a:solidFill>
                <a:latin typeface="Courier New" pitchFamily="34" charset="0"/>
                <a:ea typeface="Courier New" pitchFamily="34" charset="-122"/>
                <a:cs typeface="Courier New" pitchFamily="34" charset="-120"/>
              </a:rPr>
              <a:t>      title: 'Flutter Demo',</a:t>
            </a:r>
            <a:endParaRPr lang="en-US" sz="950" dirty="0"/>
          </a:p>
          <a:p>
            <a:pPr indent="0" marL="0">
              <a:buNone/>
            </a:pPr>
            <a:r>
              <a:rPr lang="en-US" sz="950" dirty="0">
                <a:solidFill>
                  <a:schemeClr val="bg1"/>
                </a:solidFill>
                <a:latin typeface="Courier New" pitchFamily="34" charset="0"/>
                <a:ea typeface="Courier New" pitchFamily="34" charset="-122"/>
                <a:cs typeface="Courier New" pitchFamily="34" charset="-120"/>
              </a:rPr>
              <a:t>      home: const MyHomePage(title: 'Home'),</a:t>
            </a:r>
            <a:endParaRPr lang="en-US" sz="950" dirty="0"/>
          </a:p>
          <a:p>
            <a:pPr indent="0" marL="0">
              <a:buNone/>
            </a:pPr>
            <a:r>
              <a:rPr lang="en-US" sz="950" dirty="0">
                <a:solidFill>
                  <a:schemeClr val="bg1"/>
                </a:solidFill>
                <a:latin typeface="Courier New" pitchFamily="34" charset="0"/>
                <a:ea typeface="Courier New" pitchFamily="34" charset="-122"/>
                <a:cs typeface="Courier New" pitchFamily="34" charset="-120"/>
              </a:rPr>
              <a:t>    );</a:t>
            </a:r>
            <a:endParaRPr lang="en-US" sz="950" dirty="0"/>
          </a:p>
          <a:p>
            <a:pPr indent="0" marL="0">
              <a:buNone/>
            </a:pPr>
            <a:r>
              <a:rPr lang="en-US" sz="950" dirty="0">
                <a:solidFill>
                  <a:schemeClr val="bg1"/>
                </a:solidFill>
                <a:latin typeface="Courier New" pitchFamily="34" charset="0"/>
                <a:ea typeface="Courier New" pitchFamily="34" charset="-122"/>
                <a:cs typeface="Courier New" pitchFamily="34" charset="-120"/>
              </a:rPr>
              <a:t>  }</a:t>
            </a:r>
            <a:endParaRPr lang="en-US" sz="950" dirty="0"/>
          </a:p>
          <a:p>
            <a:pPr indent="0" marL="0">
              <a:buNone/>
            </a:pPr>
            <a:r>
              <a:rPr lang="en-US" sz="950" dirty="0">
                <a:solidFill>
                  <a:schemeClr val="bg1"/>
                </a:solidFill>
                <a:latin typeface="Courier New" pitchFamily="34" charset="0"/>
                <a:ea typeface="Courier New" pitchFamily="34" charset="-122"/>
                <a:cs typeface="Courier New" pitchFamily="34" charset="-120"/>
              </a:rPr>
              <a:t>}</a:t>
            </a:r>
            <a:endParaRPr lang="en-US" sz="950" dirty="0"/>
          </a:p>
          <a:p>
            <a:pPr indent="0" marL="0">
              <a:buNone/>
            </a:pPr>
            <a:r>
              <a:rPr lang="en-US" sz="950" dirty="0">
                <a:solidFill>
                  <a:schemeClr val="accent2"/>
                </a:solidFill>
                <a:latin typeface="Courier New" pitchFamily="34" charset="0"/>
                <a:ea typeface="Courier New" pitchFamily="34" charset="-122"/>
                <a:cs typeface="Courier New" pitchFamily="34" charset="-120"/>
              </a:rPr>
              <a:t>// MyHomePage: StatefulWidget with the counter</a:t>
            </a:r>
            <a:endParaRPr lang="en-US" sz="950" dirty="0"/>
          </a:p>
        </p:txBody>
      </p:sp>
      <p:sp>
        <p:nvSpPr>
          <p:cNvPr id="7" name="badge"/>
          <p:cNvSpPr/>
          <p:nvPr/>
        </p:nvSpPr>
        <p:spPr>
          <a:xfrm>
            <a:off x="5532120" y="1371600"/>
            <a:ext cx="411480" cy="411480"/>
          </a:xfrm>
          <a:prstGeom prst="ellipse">
            <a:avLst/>
          </a:prstGeom>
          <a:solidFill>
            <a:schemeClr val="accent1"/>
          </a:solidFill>
          <a:ln w="12700">
            <a:solidFill>
              <a:schemeClr val="accent1"/>
            </a:solidFill>
            <a:prstDash val="solid"/>
          </a:ln>
        </p:spPr>
      </p:sp>
      <p:sp>
        <p:nvSpPr>
          <p:cNvPr id="8" name="Text 5"/>
          <p:cNvSpPr txBox="1"/>
          <p:nvPr/>
        </p:nvSpPr>
        <p:spPr>
          <a:xfrm>
            <a:off x="5532120" y="1371600"/>
            <a:ext cx="411480" cy="41148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9" name="Text 6"/>
          <p:cNvSpPr txBox="1"/>
          <p:nvPr/>
        </p:nvSpPr>
        <p:spPr>
          <a:xfrm>
            <a:off x="6108192" y="1280160"/>
            <a:ext cx="2578608" cy="749808"/>
          </a:xfrm>
          <a:prstGeom prst="rect">
            <a:avLst/>
          </a:prstGeom>
          <a:noFill/>
          <a:ln/>
        </p:spPr>
        <p:txBody>
          <a:bodyPr wrap="square" lIns="0" tIns="0" rIns="0" bIns="0" rtlCol="0" anchor="t"/>
          <a:lstStyle/>
          <a:p>
            <a:pPr indent="0" marL="0">
              <a:buNone/>
            </a:pPr>
            <a:r>
              <a:rPr lang="en-US" sz="1300" b="1" dirty="0">
                <a:solidFill>
                  <a:schemeClr val="accent1"/>
                </a:solidFill>
                <a:latin typeface="Courier New" pitchFamily="34" charset="0"/>
                <a:ea typeface="Courier New" pitchFamily="34" charset="-122"/>
                <a:cs typeface="Courier New" pitchFamily="34" charset="-120"/>
              </a:rPr>
              <a:t>main()</a:t>
            </a:r>
            <a:endParaRPr lang="en-US" sz="1300" dirty="0"/>
          </a:p>
          <a:p>
            <a:pPr indent="0" marL="0">
              <a:buNone/>
            </a:pPr>
            <a:r>
              <a:rPr lang="en-US" sz="1250" dirty="0">
                <a:solidFill>
                  <a:schemeClr val="tx1"/>
                </a:solidFill>
              </a:rPr>
              <a:t>Dart entry point, the first function that runs.</a:t>
            </a:r>
            <a:endParaRPr lang="en-US" sz="1300" dirty="0"/>
          </a:p>
        </p:txBody>
      </p:sp>
      <p:sp>
        <p:nvSpPr>
          <p:cNvPr id="10" name="badge"/>
          <p:cNvSpPr/>
          <p:nvPr/>
        </p:nvSpPr>
        <p:spPr>
          <a:xfrm>
            <a:off x="5532120" y="2212848"/>
            <a:ext cx="411480" cy="411480"/>
          </a:xfrm>
          <a:prstGeom prst="ellipse">
            <a:avLst/>
          </a:prstGeom>
          <a:solidFill>
            <a:schemeClr val="accent1"/>
          </a:solidFill>
          <a:ln w="12700">
            <a:solidFill>
              <a:schemeClr val="accent1"/>
            </a:solidFill>
            <a:prstDash val="solid"/>
          </a:ln>
        </p:spPr>
      </p:sp>
      <p:sp>
        <p:nvSpPr>
          <p:cNvPr id="11" name="Text 8"/>
          <p:cNvSpPr txBox="1"/>
          <p:nvPr/>
        </p:nvSpPr>
        <p:spPr>
          <a:xfrm>
            <a:off x="5532120" y="2212848"/>
            <a:ext cx="411480" cy="41148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2" name="Text 9"/>
          <p:cNvSpPr txBox="1"/>
          <p:nvPr/>
        </p:nvSpPr>
        <p:spPr>
          <a:xfrm>
            <a:off x="6108192" y="2121408"/>
            <a:ext cx="2578608" cy="749808"/>
          </a:xfrm>
          <a:prstGeom prst="rect">
            <a:avLst/>
          </a:prstGeom>
          <a:noFill/>
          <a:ln/>
        </p:spPr>
        <p:txBody>
          <a:bodyPr wrap="square" lIns="0" tIns="0" rIns="0" bIns="0" rtlCol="0" anchor="t"/>
          <a:lstStyle/>
          <a:p>
            <a:pPr indent="0" marL="0">
              <a:buNone/>
            </a:pPr>
            <a:r>
              <a:rPr lang="en-US" sz="1300" b="1" dirty="0">
                <a:solidFill>
                  <a:schemeClr val="accent1"/>
                </a:solidFill>
                <a:latin typeface="Courier New" pitchFamily="34" charset="0"/>
                <a:ea typeface="Courier New" pitchFamily="34" charset="-122"/>
                <a:cs typeface="Courier New" pitchFamily="34" charset="-120"/>
              </a:rPr>
              <a:t>runApp()</a:t>
            </a:r>
            <a:endParaRPr lang="en-US" sz="1300" dirty="0"/>
          </a:p>
          <a:p>
            <a:pPr indent="0" marL="0">
              <a:buNone/>
            </a:pPr>
            <a:r>
              <a:rPr lang="en-US" sz="1250" dirty="0">
                <a:solidFill>
                  <a:schemeClr val="tx1"/>
                </a:solidFill>
              </a:rPr>
              <a:t>Inflates the root widget and attaches it to the screen.</a:t>
            </a:r>
            <a:endParaRPr lang="en-US" sz="1300" dirty="0"/>
          </a:p>
        </p:txBody>
      </p:sp>
      <p:sp>
        <p:nvSpPr>
          <p:cNvPr id="13" name="badge"/>
          <p:cNvSpPr/>
          <p:nvPr/>
        </p:nvSpPr>
        <p:spPr>
          <a:xfrm>
            <a:off x="5532120" y="3054096"/>
            <a:ext cx="411480" cy="411480"/>
          </a:xfrm>
          <a:prstGeom prst="ellipse">
            <a:avLst/>
          </a:prstGeom>
          <a:solidFill>
            <a:schemeClr val="accent1"/>
          </a:solidFill>
          <a:ln w="12700">
            <a:solidFill>
              <a:schemeClr val="accent1"/>
            </a:solidFill>
            <a:prstDash val="solid"/>
          </a:ln>
        </p:spPr>
      </p:sp>
      <p:sp>
        <p:nvSpPr>
          <p:cNvPr id="14" name="Text 11"/>
          <p:cNvSpPr txBox="1"/>
          <p:nvPr/>
        </p:nvSpPr>
        <p:spPr>
          <a:xfrm>
            <a:off x="5532120" y="3054096"/>
            <a:ext cx="411480" cy="41148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5" name="Text 12"/>
          <p:cNvSpPr txBox="1"/>
          <p:nvPr/>
        </p:nvSpPr>
        <p:spPr>
          <a:xfrm>
            <a:off x="6108192" y="2962656"/>
            <a:ext cx="2578608" cy="749808"/>
          </a:xfrm>
          <a:prstGeom prst="rect">
            <a:avLst/>
          </a:prstGeom>
          <a:noFill/>
          <a:ln/>
        </p:spPr>
        <p:txBody>
          <a:bodyPr wrap="square" lIns="0" tIns="0" rIns="0" bIns="0" rtlCol="0" anchor="t"/>
          <a:lstStyle/>
          <a:p>
            <a:pPr indent="0" marL="0">
              <a:buNone/>
            </a:pPr>
            <a:r>
              <a:rPr lang="en-US" sz="1300" b="1" dirty="0">
                <a:solidFill>
                  <a:schemeClr val="accent1"/>
                </a:solidFill>
                <a:latin typeface="Courier New" pitchFamily="34" charset="0"/>
                <a:ea typeface="Courier New" pitchFamily="34" charset="-122"/>
                <a:cs typeface="Courier New" pitchFamily="34" charset="-120"/>
              </a:rPr>
              <a:t>MyApp</a:t>
            </a:r>
            <a:endParaRPr lang="en-US" sz="1300" dirty="0"/>
          </a:p>
          <a:p>
            <a:pPr indent="0" marL="0">
              <a:buNone/>
            </a:pPr>
            <a:r>
              <a:rPr lang="en-US" sz="1250" dirty="0">
                <a:solidFill>
                  <a:schemeClr val="tx1"/>
                </a:solidFill>
              </a:rPr>
              <a:t>Stateless root widget that returns a MaterialApp (theme, title, home).</a:t>
            </a:r>
            <a:endParaRPr lang="en-US" sz="1300" dirty="0"/>
          </a:p>
        </p:txBody>
      </p:sp>
      <p:sp>
        <p:nvSpPr>
          <p:cNvPr id="16" name="badge"/>
          <p:cNvSpPr/>
          <p:nvPr/>
        </p:nvSpPr>
        <p:spPr>
          <a:xfrm>
            <a:off x="5532120" y="3895344"/>
            <a:ext cx="411480" cy="411480"/>
          </a:xfrm>
          <a:prstGeom prst="ellipse">
            <a:avLst/>
          </a:prstGeom>
          <a:solidFill>
            <a:schemeClr val="accent1"/>
          </a:solidFill>
          <a:ln w="12700">
            <a:solidFill>
              <a:schemeClr val="accent1"/>
            </a:solidFill>
            <a:prstDash val="solid"/>
          </a:ln>
        </p:spPr>
      </p:sp>
      <p:sp>
        <p:nvSpPr>
          <p:cNvPr id="17" name="Text 14"/>
          <p:cNvSpPr txBox="1"/>
          <p:nvPr/>
        </p:nvSpPr>
        <p:spPr>
          <a:xfrm>
            <a:off x="5532120" y="3895344"/>
            <a:ext cx="411480" cy="41148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8" name="Text 15"/>
          <p:cNvSpPr txBox="1"/>
          <p:nvPr/>
        </p:nvSpPr>
        <p:spPr>
          <a:xfrm>
            <a:off x="6108192" y="3803904"/>
            <a:ext cx="2578608" cy="749808"/>
          </a:xfrm>
          <a:prstGeom prst="rect">
            <a:avLst/>
          </a:prstGeom>
          <a:noFill/>
          <a:ln/>
        </p:spPr>
        <p:txBody>
          <a:bodyPr wrap="square" lIns="0" tIns="0" rIns="0" bIns="0" rtlCol="0" anchor="t"/>
          <a:lstStyle/>
          <a:p>
            <a:pPr indent="0" marL="0">
              <a:buNone/>
            </a:pPr>
            <a:r>
              <a:rPr lang="en-US" sz="1300" b="1" dirty="0">
                <a:solidFill>
                  <a:schemeClr val="accent1"/>
                </a:solidFill>
                <a:latin typeface="Courier New" pitchFamily="34" charset="0"/>
                <a:ea typeface="Courier New" pitchFamily="34" charset="-122"/>
                <a:cs typeface="Courier New" pitchFamily="34" charset="-120"/>
              </a:rPr>
              <a:t>MyHomePage</a:t>
            </a:r>
            <a:endParaRPr lang="en-US" sz="1300" dirty="0"/>
          </a:p>
          <a:p>
            <a:pPr indent="0" marL="0">
              <a:buNone/>
            </a:pPr>
            <a:r>
              <a:rPr lang="en-US" sz="1250" dirty="0">
                <a:solidFill>
                  <a:schemeClr val="tx1"/>
                </a:solidFill>
              </a:rPr>
              <a:t>Stateful screen: holds _counter and calls setState() to redraw.</a:t>
            </a:r>
            <a:endParaRPr lang="en-US" sz="1300" dirty="0"/>
          </a:p>
        </p:txBody>
      </p:sp>
      <p:sp>
        <p:nvSpPr>
          <p:cNvPr id="25" name="Slide Number Placeholder 0"/>
          <p:cNvSpPr>
            <a:spLocks noGrp="1"/>
          </p:cNvSpPr>
          <p:nvPr>
            <p:ph type="sldNum" sz="quarter" idx="4294967295"/>
          </p:nvPr>
        </p:nvSpPr>
        <p:spPr>
          <a:xfrm>
            <a:off x="8229600" y="4773168"/>
            <a:ext cx="457200" cy="237744"/>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4748B"/>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457200" y="228600"/>
            <a:ext cx="8229600" cy="256032"/>
          </a:xfrm>
          <a:prstGeom prst="rect">
            <a:avLst/>
          </a:prstGeom>
          <a:noFill/>
          <a:ln/>
        </p:spPr>
        <p:txBody>
          <a:bodyPr wrap="square" lIns="0" tIns="0" rIns="0" bIns="0" rtlCol="0" anchor="ctr"/>
          <a:lstStyle/>
          <a:p>
            <a:pPr indent="0" marL="0">
              <a:buNone/>
            </a:pPr>
            <a:r>
              <a:rPr lang="en-US" sz="1100" b="1" spc="200" kern="0" dirty="0">
                <a:solidFill>
                  <a:schemeClr val="accent1"/>
                </a:solidFill>
              </a:rPr>
              <a:t>PART 3 · pubspec.yaml</a:t>
            </a:r>
            <a:endParaRPr lang="en-US" sz="1100" dirty="0"/>
          </a:p>
        </p:txBody>
      </p:sp>
      <p:sp>
        <p:nvSpPr>
          <p:cNvPr id="3" name="Text 0"/>
          <p:cNvSpPr/>
          <p:nvPr>
            <p:ph idx="101" type="title" hasCustomPrompt="1"/>
          </p:nvPr>
        </p:nvSpPr>
        <p:spPr>
          <a:xfrm>
            <a:off x="457200" y="502920"/>
            <a:ext cx="8229600" cy="566928"/>
          </a:xfrm>
          <a:prstGeom prst="rect">
            <a:avLst/>
          </a:prstGeom>
          <a:noFill/>
          <a:ln/>
        </p:spPr>
        <p:txBody>
          <a:bodyPr wrap="square" lIns="0" tIns="0" rIns="0" bIns="0" rtlCol="0" anchor="ctr"/>
          <a:lstStyle/>
          <a:p>
            <a:pPr indent="0" marL="0">
              <a:buNone/>
            </a:pPr>
            <a:r>
              <a:rPr lang="en-US" sz="2800" b="1" dirty="0">
                <a:solidFill>
                  <a:schemeClr val="tx2"/>
                </a:solidFill>
              </a:rPr>
              <a:t>pubspec.yaml: the project's configuration</a:t>
            </a:r>
            <a:endParaRPr lang="en-US" sz="2800" dirty="0"/>
          </a:p>
        </p:txBody>
      </p:sp>
      <p:sp>
        <p:nvSpPr>
          <p:cNvPr id="5" name="code-block"/>
          <p:cNvSpPr/>
          <p:nvPr/>
        </p:nvSpPr>
        <p:spPr>
          <a:xfrm>
            <a:off x="457200" y="1280160"/>
            <a:ext cx="4206240" cy="3291840"/>
          </a:xfrm>
          <a:prstGeom prst="roundRect">
            <a:avLst>
              <a:gd name="adj" fmla="val 2222"/>
            </a:avLst>
          </a:prstGeom>
          <a:solidFill>
            <a:schemeClr val="tx2"/>
          </a:solidFill>
          <a:ln w="12700">
            <a:solidFill>
              <a:schemeClr val="tx2"/>
            </a:solidFill>
            <a:prstDash val="solid"/>
          </a:ln>
        </p:spPr>
      </p:sp>
      <p:sp>
        <p:nvSpPr>
          <p:cNvPr id="6" name="Text 3"/>
          <p:cNvSpPr txBox="1"/>
          <p:nvPr/>
        </p:nvSpPr>
        <p:spPr>
          <a:xfrm>
            <a:off x="658368" y="1417320"/>
            <a:ext cx="3803904" cy="3044952"/>
          </a:xfrm>
          <a:prstGeom prst="rect">
            <a:avLst/>
          </a:prstGeom>
          <a:noFill/>
          <a:ln/>
        </p:spPr>
        <p:txBody>
          <a:bodyPr wrap="square" lIns="0" tIns="0" rIns="0" bIns="0" rtlCol="0" anchor="t"/>
          <a:lstStyle/>
          <a:p>
            <a:pPr indent="0" marL="0">
              <a:buNone/>
            </a:pPr>
            <a:r>
              <a:rPr lang="en-US" sz="850" dirty="0">
                <a:solidFill>
                  <a:schemeClr val="bg1"/>
                </a:solidFill>
                <a:latin typeface="Courier New" pitchFamily="34" charset="0"/>
                <a:ea typeface="Courier New" pitchFamily="34" charset="-122"/>
                <a:cs typeface="Courier New" pitchFamily="34" charset="-120"/>
              </a:rPr>
              <a:t>name: my_first_app</a:t>
            </a:r>
            <a:endParaRPr lang="en-US" sz="850" dirty="0"/>
          </a:p>
          <a:p>
            <a:pPr indent="0" marL="0">
              <a:buNone/>
            </a:pPr>
            <a:r>
              <a:rPr lang="en-US" sz="850" dirty="0">
                <a:solidFill>
                  <a:schemeClr val="bg1"/>
                </a:solidFill>
                <a:latin typeface="Courier New" pitchFamily="34" charset="0"/>
                <a:ea typeface="Courier New" pitchFamily="34" charset="-122"/>
                <a:cs typeface="Courier New" pitchFamily="34" charset="-120"/>
              </a:rPr>
              <a:t>description: "A new Flutter project."</a:t>
            </a:r>
            <a:endParaRPr lang="en-US" sz="850" dirty="0"/>
          </a:p>
          <a:p>
            <a:pPr indent="0" marL="0">
              <a:buNone/>
            </a:pPr>
            <a:r>
              <a:rPr lang="en-US" sz="850" dirty="0">
                <a:solidFill>
                  <a:schemeClr val="bg1"/>
                </a:solidFill>
                <a:latin typeface="Courier New" pitchFamily="34" charset="0"/>
                <a:ea typeface="Courier New" pitchFamily="34" charset="-122"/>
                <a:cs typeface="Courier New" pitchFamily="34" charset="-120"/>
              </a:rPr>
              <a:t>publish_to: 'none'</a:t>
            </a:r>
            <a:endParaRPr lang="en-US" sz="850" dirty="0"/>
          </a:p>
          <a:p>
            <a:pPr indent="0" marL="0">
              <a:buNone/>
            </a:pPr>
            <a:r>
              <a:rPr lang="en-US" sz="850" dirty="0">
                <a:solidFill>
                  <a:schemeClr val="bg1"/>
                </a:solidFill>
                <a:latin typeface="Courier New" pitchFamily="34" charset="0"/>
                <a:ea typeface="Courier New" pitchFamily="34" charset="-122"/>
                <a:cs typeface="Courier New" pitchFamily="34" charset="-120"/>
              </a:rPr>
              <a:t>version: 1.0.0+1</a:t>
            </a:r>
            <a:endParaRPr lang="en-US" sz="850" dirty="0"/>
          </a:p>
          <a:p>
            <a:pPr indent="0" marL="0">
              <a:buNone/>
            </a:pPr>
            <a:r>
              <a:rPr lang="en-US" sz="850" dirty="0">
                <a:solidFill>
                  <a:schemeClr val="bg1"/>
                </a:solidFill>
                <a:latin typeface="Courier New" pitchFamily="34" charset="0"/>
                <a:ea typeface="Courier New" pitchFamily="34" charset="-122"/>
                <a:cs typeface="Courier New" pitchFamily="34" charset="-120"/>
              </a:rPr>
              <a:t> </a:t>
            </a:r>
            <a:endParaRPr lang="en-US" sz="850" dirty="0"/>
          </a:p>
          <a:p>
            <a:pPr indent="0" marL="0">
              <a:buNone/>
            </a:pPr>
            <a:r>
              <a:rPr lang="en-US" sz="850" dirty="0">
                <a:solidFill>
                  <a:schemeClr val="bg1"/>
                </a:solidFill>
                <a:latin typeface="Courier New" pitchFamily="34" charset="0"/>
                <a:ea typeface="Courier New" pitchFamily="34" charset="-122"/>
                <a:cs typeface="Courier New" pitchFamily="34" charset="-120"/>
              </a:rPr>
              <a:t>environment:</a:t>
            </a:r>
            <a:endParaRPr lang="en-US" sz="850" dirty="0"/>
          </a:p>
          <a:p>
            <a:pPr indent="0" marL="0">
              <a:buNone/>
            </a:pPr>
            <a:r>
              <a:rPr lang="en-US" sz="850" dirty="0">
                <a:solidFill>
                  <a:schemeClr val="bg1"/>
                </a:solidFill>
                <a:latin typeface="Courier New" pitchFamily="34" charset="0"/>
                <a:ea typeface="Courier New" pitchFamily="34" charset="-122"/>
                <a:cs typeface="Courier New" pitchFamily="34" charset="-120"/>
              </a:rPr>
              <a:t>  sdk: ^3.x.x   # set by flutter create</a:t>
            </a:r>
            <a:endParaRPr lang="en-US" sz="850" dirty="0"/>
          </a:p>
          <a:p>
            <a:pPr indent="0" marL="0">
              <a:buNone/>
            </a:pPr>
            <a:r>
              <a:rPr lang="en-US" sz="850" dirty="0">
                <a:solidFill>
                  <a:schemeClr val="bg1"/>
                </a:solidFill>
                <a:latin typeface="Courier New" pitchFamily="34" charset="0"/>
                <a:ea typeface="Courier New" pitchFamily="34" charset="-122"/>
                <a:cs typeface="Courier New" pitchFamily="34" charset="-120"/>
              </a:rPr>
              <a:t> </a:t>
            </a:r>
            <a:endParaRPr lang="en-US" sz="850" dirty="0"/>
          </a:p>
          <a:p>
            <a:pPr indent="0" marL="0">
              <a:buNone/>
            </a:pPr>
            <a:r>
              <a:rPr lang="en-US" sz="850" dirty="0">
                <a:solidFill>
                  <a:schemeClr val="bg1"/>
                </a:solidFill>
                <a:latin typeface="Courier New" pitchFamily="34" charset="0"/>
                <a:ea typeface="Courier New" pitchFamily="34" charset="-122"/>
                <a:cs typeface="Courier New" pitchFamily="34" charset="-120"/>
              </a:rPr>
              <a:t>dependencies:</a:t>
            </a:r>
            <a:endParaRPr lang="en-US" sz="850" dirty="0"/>
          </a:p>
          <a:p>
            <a:pPr indent="0" marL="0">
              <a:buNone/>
            </a:pPr>
            <a:r>
              <a:rPr lang="en-US" sz="850" dirty="0">
                <a:solidFill>
                  <a:schemeClr val="bg1"/>
                </a:solidFill>
                <a:latin typeface="Courier New" pitchFamily="34" charset="0"/>
                <a:ea typeface="Courier New" pitchFamily="34" charset="-122"/>
                <a:cs typeface="Courier New" pitchFamily="34" charset="-120"/>
              </a:rPr>
              <a:t>  flutter:</a:t>
            </a:r>
            <a:endParaRPr lang="en-US" sz="850" dirty="0"/>
          </a:p>
          <a:p>
            <a:pPr indent="0" marL="0">
              <a:buNone/>
            </a:pPr>
            <a:r>
              <a:rPr lang="en-US" sz="850" dirty="0">
                <a:solidFill>
                  <a:schemeClr val="bg1"/>
                </a:solidFill>
                <a:latin typeface="Courier New" pitchFamily="34" charset="0"/>
                <a:ea typeface="Courier New" pitchFamily="34" charset="-122"/>
                <a:cs typeface="Courier New" pitchFamily="34" charset="-120"/>
              </a:rPr>
              <a:t>    sdk: flutter</a:t>
            </a:r>
            <a:endParaRPr lang="en-US" sz="850" dirty="0"/>
          </a:p>
          <a:p>
            <a:pPr indent="0" marL="0">
              <a:buNone/>
            </a:pPr>
            <a:r>
              <a:rPr lang="en-US" sz="850" dirty="0">
                <a:solidFill>
                  <a:schemeClr val="bg1"/>
                </a:solidFill>
                <a:latin typeface="Courier New" pitchFamily="34" charset="0"/>
                <a:ea typeface="Courier New" pitchFamily="34" charset="-122"/>
                <a:cs typeface="Courier New" pitchFamily="34" charset="-120"/>
              </a:rPr>
              <a:t>  cupertino_icons: ^1.0.8</a:t>
            </a:r>
            <a:endParaRPr lang="en-US" sz="850" dirty="0"/>
          </a:p>
          <a:p>
            <a:pPr indent="0" marL="0">
              <a:buNone/>
            </a:pPr>
            <a:r>
              <a:rPr lang="en-US" sz="850" dirty="0">
                <a:solidFill>
                  <a:schemeClr val="bg1"/>
                </a:solidFill>
                <a:latin typeface="Courier New" pitchFamily="34" charset="0"/>
                <a:ea typeface="Courier New" pitchFamily="34" charset="-122"/>
                <a:cs typeface="Courier New" pitchFamily="34" charset="-120"/>
              </a:rPr>
              <a:t> </a:t>
            </a:r>
            <a:endParaRPr lang="en-US" sz="850" dirty="0"/>
          </a:p>
          <a:p>
            <a:pPr indent="0" marL="0">
              <a:buNone/>
            </a:pPr>
            <a:r>
              <a:rPr lang="en-US" sz="850" dirty="0">
                <a:solidFill>
                  <a:schemeClr val="bg1"/>
                </a:solidFill>
                <a:latin typeface="Courier New" pitchFamily="34" charset="0"/>
                <a:ea typeface="Courier New" pitchFamily="34" charset="-122"/>
                <a:cs typeface="Courier New" pitchFamily="34" charset="-120"/>
              </a:rPr>
              <a:t>dev_dependencies:</a:t>
            </a:r>
            <a:endParaRPr lang="en-US" sz="850" dirty="0"/>
          </a:p>
          <a:p>
            <a:pPr indent="0" marL="0">
              <a:buNone/>
            </a:pPr>
            <a:r>
              <a:rPr lang="en-US" sz="850" dirty="0">
                <a:solidFill>
                  <a:schemeClr val="bg1"/>
                </a:solidFill>
                <a:latin typeface="Courier New" pitchFamily="34" charset="0"/>
                <a:ea typeface="Courier New" pitchFamily="34" charset="-122"/>
                <a:cs typeface="Courier New" pitchFamily="34" charset="-120"/>
              </a:rPr>
              <a:t>  flutter_test:</a:t>
            </a:r>
            <a:endParaRPr lang="en-US" sz="850" dirty="0"/>
          </a:p>
          <a:p>
            <a:pPr indent="0" marL="0">
              <a:buNone/>
            </a:pPr>
            <a:r>
              <a:rPr lang="en-US" sz="850" dirty="0">
                <a:solidFill>
                  <a:schemeClr val="bg1"/>
                </a:solidFill>
                <a:latin typeface="Courier New" pitchFamily="34" charset="0"/>
                <a:ea typeface="Courier New" pitchFamily="34" charset="-122"/>
                <a:cs typeface="Courier New" pitchFamily="34" charset="-120"/>
              </a:rPr>
              <a:t>    sdk: flutter</a:t>
            </a:r>
            <a:endParaRPr lang="en-US" sz="850" dirty="0"/>
          </a:p>
          <a:p>
            <a:pPr indent="0" marL="0">
              <a:buNone/>
            </a:pPr>
            <a:r>
              <a:rPr lang="en-US" sz="850" dirty="0">
                <a:solidFill>
                  <a:schemeClr val="bg1"/>
                </a:solidFill>
                <a:latin typeface="Courier New" pitchFamily="34" charset="0"/>
                <a:ea typeface="Courier New" pitchFamily="34" charset="-122"/>
                <a:cs typeface="Courier New" pitchFamily="34" charset="-120"/>
              </a:rPr>
              <a:t>  flutter_lints: ^x.y.z</a:t>
            </a:r>
            <a:endParaRPr lang="en-US" sz="850" dirty="0"/>
          </a:p>
          <a:p>
            <a:pPr indent="0" marL="0">
              <a:buNone/>
            </a:pPr>
            <a:r>
              <a:rPr lang="en-US" sz="850" dirty="0">
                <a:solidFill>
                  <a:schemeClr val="bg1"/>
                </a:solidFill>
                <a:latin typeface="Courier New" pitchFamily="34" charset="0"/>
                <a:ea typeface="Courier New" pitchFamily="34" charset="-122"/>
                <a:cs typeface="Courier New" pitchFamily="34" charset="-120"/>
              </a:rPr>
              <a:t> </a:t>
            </a:r>
            <a:endParaRPr lang="en-US" sz="850" dirty="0"/>
          </a:p>
          <a:p>
            <a:pPr indent="0" marL="0">
              <a:buNone/>
            </a:pPr>
            <a:r>
              <a:rPr lang="en-US" sz="850" dirty="0">
                <a:solidFill>
                  <a:schemeClr val="bg1"/>
                </a:solidFill>
                <a:latin typeface="Courier New" pitchFamily="34" charset="0"/>
                <a:ea typeface="Courier New" pitchFamily="34" charset="-122"/>
                <a:cs typeface="Courier New" pitchFamily="34" charset="-120"/>
              </a:rPr>
              <a:t>flutter:</a:t>
            </a:r>
            <a:endParaRPr lang="en-US" sz="850" dirty="0"/>
          </a:p>
          <a:p>
            <a:pPr indent="0" marL="0">
              <a:buNone/>
            </a:pPr>
            <a:r>
              <a:rPr lang="en-US" sz="850" dirty="0">
                <a:solidFill>
                  <a:schemeClr val="bg1"/>
                </a:solidFill>
                <a:latin typeface="Courier New" pitchFamily="34" charset="0"/>
                <a:ea typeface="Courier New" pitchFamily="34" charset="-122"/>
                <a:cs typeface="Courier New" pitchFamily="34" charset="-120"/>
              </a:rPr>
              <a:t>  uses-material-design: true</a:t>
            </a:r>
            <a:endParaRPr lang="en-US" sz="850" dirty="0"/>
          </a:p>
          <a:p>
            <a:pPr indent="0" marL="0">
              <a:buNone/>
            </a:pPr>
            <a:r>
              <a:rPr lang="en-US" sz="850" dirty="0">
                <a:solidFill>
                  <a:schemeClr val="accent2"/>
                </a:solidFill>
                <a:latin typeface="Courier New" pitchFamily="34" charset="0"/>
                <a:ea typeface="Courier New" pitchFamily="34" charset="-122"/>
                <a:cs typeface="Courier New" pitchFamily="34" charset="-120"/>
              </a:rPr>
              <a:t>  # assets:</a:t>
            </a:r>
            <a:endParaRPr lang="en-US" sz="850" dirty="0"/>
          </a:p>
          <a:p>
            <a:pPr indent="0" marL="0">
              <a:buNone/>
            </a:pPr>
            <a:r>
              <a:rPr lang="en-US" sz="850" dirty="0">
                <a:solidFill>
                  <a:schemeClr val="accent2"/>
                </a:solidFill>
                <a:latin typeface="Courier New" pitchFamily="34" charset="0"/>
                <a:ea typeface="Courier New" pitchFamily="34" charset="-122"/>
                <a:cs typeface="Courier New" pitchFamily="34" charset="-120"/>
              </a:rPr>
              <a:t>  #   - assets/images/</a:t>
            </a:r>
            <a:endParaRPr lang="en-US" sz="850" dirty="0"/>
          </a:p>
        </p:txBody>
      </p:sp>
      <p:sp>
        <p:nvSpPr>
          <p:cNvPr id="7" name="card"/>
          <p:cNvSpPr/>
          <p:nvPr/>
        </p:nvSpPr>
        <p:spPr>
          <a:xfrm>
            <a:off x="4937760" y="1280160"/>
            <a:ext cx="3749040" cy="576072"/>
          </a:xfrm>
          <a:prstGeom prst="roundRect">
            <a:avLst>
              <a:gd name="adj" fmla="val 12698"/>
            </a:avLst>
          </a:prstGeom>
          <a:solidFill>
            <a:schemeClr val="bg2"/>
          </a:solidFill>
          <a:ln w="12700">
            <a:solidFill>
              <a:schemeClr val="bg2"/>
            </a:solidFill>
            <a:prstDash val="solid"/>
          </a:ln>
        </p:spPr>
      </p:sp>
      <p:sp>
        <p:nvSpPr>
          <p:cNvPr id="8" name="Text 5"/>
          <p:cNvSpPr txBox="1"/>
          <p:nvPr/>
        </p:nvSpPr>
        <p:spPr>
          <a:xfrm>
            <a:off x="5074920" y="1307592"/>
            <a:ext cx="3520440" cy="521208"/>
          </a:xfrm>
          <a:prstGeom prst="rect">
            <a:avLst/>
          </a:prstGeom>
          <a:noFill/>
          <a:ln/>
        </p:spPr>
        <p:txBody>
          <a:bodyPr wrap="square" lIns="0" tIns="0" rIns="0" bIns="0" rtlCol="0" anchor="ctr"/>
          <a:lstStyle/>
          <a:p>
            <a:pPr indent="0" marL="0">
              <a:buNone/>
            </a:pPr>
            <a:r>
              <a:rPr lang="en-US" sz="1150" b="1" dirty="0">
                <a:solidFill>
                  <a:schemeClr val="accent1"/>
                </a:solidFill>
                <a:latin typeface="Courier New" pitchFamily="34" charset="0"/>
                <a:ea typeface="Courier New" pitchFamily="34" charset="-122"/>
                <a:cs typeface="Courier New" pitchFamily="34" charset="-120"/>
              </a:rPr>
              <a:t>name / description</a:t>
            </a:r>
            <a:endParaRPr lang="en-US" sz="1150" dirty="0"/>
          </a:p>
          <a:p>
            <a:pPr indent="0" marL="0">
              <a:buNone/>
            </a:pPr>
            <a:r>
              <a:rPr lang="en-US" sz="1150" dirty="0">
                <a:solidFill>
                  <a:schemeClr val="tx1"/>
                </a:solidFill>
              </a:rPr>
              <a:t>Package name (must match the folder rules) and a short summary.</a:t>
            </a:r>
            <a:endParaRPr lang="en-US" sz="1150" dirty="0"/>
          </a:p>
        </p:txBody>
      </p:sp>
      <p:sp>
        <p:nvSpPr>
          <p:cNvPr id="9" name="card"/>
          <p:cNvSpPr/>
          <p:nvPr/>
        </p:nvSpPr>
        <p:spPr>
          <a:xfrm>
            <a:off x="4937760" y="1947672"/>
            <a:ext cx="3749040" cy="576072"/>
          </a:xfrm>
          <a:prstGeom prst="roundRect">
            <a:avLst>
              <a:gd name="adj" fmla="val 12698"/>
            </a:avLst>
          </a:prstGeom>
          <a:solidFill>
            <a:schemeClr val="bg2"/>
          </a:solidFill>
          <a:ln w="12700">
            <a:solidFill>
              <a:schemeClr val="bg2"/>
            </a:solidFill>
            <a:prstDash val="solid"/>
          </a:ln>
        </p:spPr>
      </p:sp>
      <p:sp>
        <p:nvSpPr>
          <p:cNvPr id="10" name="Text 7"/>
          <p:cNvSpPr txBox="1"/>
          <p:nvPr/>
        </p:nvSpPr>
        <p:spPr>
          <a:xfrm>
            <a:off x="5074920" y="1975104"/>
            <a:ext cx="3520440" cy="521208"/>
          </a:xfrm>
          <a:prstGeom prst="rect">
            <a:avLst/>
          </a:prstGeom>
          <a:noFill/>
          <a:ln/>
        </p:spPr>
        <p:txBody>
          <a:bodyPr wrap="square" lIns="0" tIns="0" rIns="0" bIns="0" rtlCol="0" anchor="ctr"/>
          <a:lstStyle/>
          <a:p>
            <a:pPr indent="0" marL="0">
              <a:buNone/>
            </a:pPr>
            <a:r>
              <a:rPr lang="en-US" sz="1150" b="1" dirty="0">
                <a:solidFill>
                  <a:schemeClr val="accent1"/>
                </a:solidFill>
                <a:latin typeface="Courier New" pitchFamily="34" charset="0"/>
                <a:ea typeface="Courier New" pitchFamily="34" charset="-122"/>
                <a:cs typeface="Courier New" pitchFamily="34" charset="-120"/>
              </a:rPr>
              <a:t>version: 1.0.0+1</a:t>
            </a:r>
            <a:endParaRPr lang="en-US" sz="1150" dirty="0"/>
          </a:p>
          <a:p>
            <a:pPr indent="0" marL="0">
              <a:buNone/>
            </a:pPr>
            <a:r>
              <a:rPr lang="en-US" sz="1150" dirty="0">
                <a:solidFill>
                  <a:schemeClr val="tx1"/>
                </a:solidFill>
              </a:rPr>
              <a:t>Version name 1.0.0 shown to users, + build number 1.</a:t>
            </a:r>
            <a:endParaRPr lang="en-US" sz="1150" dirty="0"/>
          </a:p>
        </p:txBody>
      </p:sp>
      <p:sp>
        <p:nvSpPr>
          <p:cNvPr id="11" name="card"/>
          <p:cNvSpPr/>
          <p:nvPr/>
        </p:nvSpPr>
        <p:spPr>
          <a:xfrm>
            <a:off x="4937760" y="2615184"/>
            <a:ext cx="3749040" cy="576072"/>
          </a:xfrm>
          <a:prstGeom prst="roundRect">
            <a:avLst>
              <a:gd name="adj" fmla="val 12698"/>
            </a:avLst>
          </a:prstGeom>
          <a:solidFill>
            <a:schemeClr val="bg2"/>
          </a:solidFill>
          <a:ln w="12700">
            <a:solidFill>
              <a:schemeClr val="bg2"/>
            </a:solidFill>
            <a:prstDash val="solid"/>
          </a:ln>
        </p:spPr>
      </p:sp>
      <p:sp>
        <p:nvSpPr>
          <p:cNvPr id="12" name="Text 9"/>
          <p:cNvSpPr txBox="1"/>
          <p:nvPr/>
        </p:nvSpPr>
        <p:spPr>
          <a:xfrm>
            <a:off x="5074920" y="2642616"/>
            <a:ext cx="3520440" cy="521208"/>
          </a:xfrm>
          <a:prstGeom prst="rect">
            <a:avLst/>
          </a:prstGeom>
          <a:noFill/>
          <a:ln/>
        </p:spPr>
        <p:txBody>
          <a:bodyPr wrap="square" lIns="0" tIns="0" rIns="0" bIns="0" rtlCol="0" anchor="ctr"/>
          <a:lstStyle/>
          <a:p>
            <a:pPr indent="0" marL="0">
              <a:buNone/>
            </a:pPr>
            <a:r>
              <a:rPr lang="en-US" sz="1150" b="1" dirty="0">
                <a:solidFill>
                  <a:schemeClr val="accent1"/>
                </a:solidFill>
                <a:latin typeface="Courier New" pitchFamily="34" charset="0"/>
                <a:ea typeface="Courier New" pitchFamily="34" charset="-122"/>
                <a:cs typeface="Courier New" pitchFamily="34" charset="-120"/>
              </a:rPr>
              <a:t>dependencies</a:t>
            </a:r>
            <a:endParaRPr lang="en-US" sz="1150" dirty="0"/>
          </a:p>
          <a:p>
            <a:pPr indent="0" marL="0">
              <a:buNone/>
            </a:pPr>
            <a:r>
              <a:rPr lang="en-US" sz="1150" dirty="0">
                <a:solidFill>
                  <a:schemeClr val="tx1"/>
                </a:solidFill>
              </a:rPr>
              <a:t>Packages the app needs at run time (from pub.dev).</a:t>
            </a:r>
            <a:endParaRPr lang="en-US" sz="1150" dirty="0"/>
          </a:p>
        </p:txBody>
      </p:sp>
      <p:sp>
        <p:nvSpPr>
          <p:cNvPr id="13" name="card"/>
          <p:cNvSpPr/>
          <p:nvPr/>
        </p:nvSpPr>
        <p:spPr>
          <a:xfrm>
            <a:off x="4937760" y="3282696"/>
            <a:ext cx="3749040" cy="576072"/>
          </a:xfrm>
          <a:prstGeom prst="roundRect">
            <a:avLst>
              <a:gd name="adj" fmla="val 12698"/>
            </a:avLst>
          </a:prstGeom>
          <a:solidFill>
            <a:schemeClr val="bg2"/>
          </a:solidFill>
          <a:ln w="12700">
            <a:solidFill>
              <a:schemeClr val="bg2"/>
            </a:solidFill>
            <a:prstDash val="solid"/>
          </a:ln>
        </p:spPr>
      </p:sp>
      <p:sp>
        <p:nvSpPr>
          <p:cNvPr id="14" name="Text 11"/>
          <p:cNvSpPr txBox="1"/>
          <p:nvPr/>
        </p:nvSpPr>
        <p:spPr>
          <a:xfrm>
            <a:off x="5074920" y="3310128"/>
            <a:ext cx="3520440" cy="521208"/>
          </a:xfrm>
          <a:prstGeom prst="rect">
            <a:avLst/>
          </a:prstGeom>
          <a:noFill/>
          <a:ln/>
        </p:spPr>
        <p:txBody>
          <a:bodyPr wrap="square" lIns="0" tIns="0" rIns="0" bIns="0" rtlCol="0" anchor="ctr"/>
          <a:lstStyle/>
          <a:p>
            <a:pPr indent="0" marL="0">
              <a:buNone/>
            </a:pPr>
            <a:r>
              <a:rPr lang="en-US" sz="1150" b="1" dirty="0">
                <a:solidFill>
                  <a:schemeClr val="accent1"/>
                </a:solidFill>
                <a:latin typeface="Courier New" pitchFamily="34" charset="0"/>
                <a:ea typeface="Courier New" pitchFamily="34" charset="-122"/>
                <a:cs typeface="Courier New" pitchFamily="34" charset="-120"/>
              </a:rPr>
              <a:t>dev_dependencies</a:t>
            </a:r>
            <a:endParaRPr lang="en-US" sz="1150" dirty="0"/>
          </a:p>
          <a:p>
            <a:pPr indent="0" marL="0">
              <a:buNone/>
            </a:pPr>
            <a:r>
              <a:rPr lang="en-US" sz="1150" dirty="0">
                <a:solidFill>
                  <a:schemeClr val="tx1"/>
                </a:solidFill>
              </a:rPr>
              <a:t>Only for development: testing and lint rules.</a:t>
            </a:r>
            <a:endParaRPr lang="en-US" sz="1150" dirty="0"/>
          </a:p>
        </p:txBody>
      </p:sp>
      <p:sp>
        <p:nvSpPr>
          <p:cNvPr id="15" name="card"/>
          <p:cNvSpPr/>
          <p:nvPr/>
        </p:nvSpPr>
        <p:spPr>
          <a:xfrm>
            <a:off x="4937760" y="3950208"/>
            <a:ext cx="3749040" cy="576072"/>
          </a:xfrm>
          <a:prstGeom prst="roundRect">
            <a:avLst>
              <a:gd name="adj" fmla="val 12698"/>
            </a:avLst>
          </a:prstGeom>
          <a:solidFill>
            <a:schemeClr val="bg2"/>
          </a:solidFill>
          <a:ln w="12700">
            <a:solidFill>
              <a:schemeClr val="bg2"/>
            </a:solidFill>
            <a:prstDash val="solid"/>
          </a:ln>
        </p:spPr>
      </p:sp>
      <p:sp>
        <p:nvSpPr>
          <p:cNvPr id="16" name="Text 13"/>
          <p:cNvSpPr txBox="1"/>
          <p:nvPr/>
        </p:nvSpPr>
        <p:spPr>
          <a:xfrm>
            <a:off x="5074920" y="3977640"/>
            <a:ext cx="3520440" cy="521208"/>
          </a:xfrm>
          <a:prstGeom prst="rect">
            <a:avLst/>
          </a:prstGeom>
          <a:noFill/>
          <a:ln/>
        </p:spPr>
        <p:txBody>
          <a:bodyPr wrap="square" lIns="0" tIns="0" rIns="0" bIns="0" rtlCol="0" anchor="ctr"/>
          <a:lstStyle/>
          <a:p>
            <a:pPr indent="0" marL="0">
              <a:buNone/>
            </a:pPr>
            <a:r>
              <a:rPr lang="en-US" sz="1150" b="1" dirty="0">
                <a:solidFill>
                  <a:schemeClr val="accent1"/>
                </a:solidFill>
                <a:latin typeface="Courier New" pitchFamily="34" charset="0"/>
                <a:ea typeface="Courier New" pitchFamily="34" charset="-122"/>
                <a:cs typeface="Courier New" pitchFamily="34" charset="-120"/>
              </a:rPr>
              <a:t>flutter:</a:t>
            </a:r>
            <a:endParaRPr lang="en-US" sz="1150" dirty="0"/>
          </a:p>
          <a:p>
            <a:pPr indent="0" marL="0">
              <a:buNone/>
            </a:pPr>
            <a:r>
              <a:rPr lang="en-US" sz="1150" dirty="0">
                <a:solidFill>
                  <a:schemeClr val="tx1"/>
                </a:solidFill>
              </a:rPr>
              <a:t>Declares assets (images, JSON), custom fonts and Material icons.</a:t>
            </a:r>
            <a:endParaRPr lang="en-US" sz="1150" dirty="0"/>
          </a:p>
        </p:txBody>
      </p:sp>
      <p:sp>
        <p:nvSpPr>
          <p:cNvPr id="25" name="Slide Number Placeholder 0"/>
          <p:cNvSpPr>
            <a:spLocks noGrp="1"/>
          </p:cNvSpPr>
          <p:nvPr>
            <p:ph type="sldNum" sz="quarter" idx="4294967295"/>
          </p:nvPr>
        </p:nvSpPr>
        <p:spPr>
          <a:xfrm>
            <a:off x="8229600" y="4773168"/>
            <a:ext cx="457200" cy="237744"/>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4748B"/>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457200" y="228600"/>
            <a:ext cx="8229600" cy="256032"/>
          </a:xfrm>
          <a:prstGeom prst="rect">
            <a:avLst/>
          </a:prstGeom>
          <a:noFill/>
          <a:ln/>
        </p:spPr>
        <p:txBody>
          <a:bodyPr wrap="square" lIns="0" tIns="0" rIns="0" bIns="0" rtlCol="0" anchor="ctr"/>
          <a:lstStyle/>
          <a:p>
            <a:pPr indent="0" marL="0">
              <a:buNone/>
            </a:pPr>
            <a:r>
              <a:rPr lang="en-US" sz="1100" b="1" spc="200" kern="0" dirty="0">
                <a:solidFill>
                  <a:schemeClr val="accent1"/>
                </a:solidFill>
              </a:rPr>
              <a:t>PART 3 · PLATFORM FOLDERS</a:t>
            </a:r>
            <a:endParaRPr lang="en-US" sz="1100" dirty="0"/>
          </a:p>
        </p:txBody>
      </p:sp>
      <p:sp>
        <p:nvSpPr>
          <p:cNvPr id="3" name="Text 0"/>
          <p:cNvSpPr/>
          <p:nvPr>
            <p:ph idx="101" type="title" hasCustomPrompt="1"/>
          </p:nvPr>
        </p:nvSpPr>
        <p:spPr>
          <a:xfrm>
            <a:off x="457200" y="502920"/>
            <a:ext cx="8229600" cy="566928"/>
          </a:xfrm>
          <a:prstGeom prst="rect">
            <a:avLst/>
          </a:prstGeom>
          <a:noFill/>
          <a:ln/>
        </p:spPr>
        <p:txBody>
          <a:bodyPr wrap="square" lIns="0" tIns="0" rIns="0" bIns="0" rtlCol="0" anchor="ctr"/>
          <a:lstStyle/>
          <a:p>
            <a:pPr indent="0" marL="0">
              <a:buNone/>
            </a:pPr>
            <a:r>
              <a:rPr lang="en-US" sz="2800" b="1" dirty="0">
                <a:solidFill>
                  <a:schemeClr val="tx2"/>
                </a:solidFill>
              </a:rPr>
              <a:t>Platform folders, tests and assets</a:t>
            </a:r>
            <a:endParaRPr lang="en-US" sz="2800" dirty="0"/>
          </a:p>
        </p:txBody>
      </p:sp>
      <p:sp>
        <p:nvSpPr>
          <p:cNvPr id="5" name="card"/>
          <p:cNvSpPr/>
          <p:nvPr/>
        </p:nvSpPr>
        <p:spPr>
          <a:xfrm>
            <a:off x="457200" y="1261872"/>
            <a:ext cx="2560320" cy="1554480"/>
          </a:xfrm>
          <a:prstGeom prst="roundRect">
            <a:avLst>
              <a:gd name="adj" fmla="val 4706"/>
            </a:avLst>
          </a:prstGeom>
          <a:solidFill>
            <a:schemeClr val="bg2"/>
          </a:solidFill>
          <a:ln w="12700">
            <a:solidFill>
              <a:schemeClr val="bg2"/>
            </a:solidFill>
            <a:prstDash val="solid"/>
          </a:ln>
        </p:spPr>
      </p:sp>
      <p:sp>
        <p:nvSpPr>
          <p:cNvPr id="6" name="icon-circle"/>
          <p:cNvSpPr/>
          <p:nvPr/>
        </p:nvSpPr>
        <p:spPr>
          <a:xfrm>
            <a:off x="594360" y="1380744"/>
            <a:ext cx="384048" cy="384048"/>
          </a:xfrm>
          <a:prstGeom prst="ellipse">
            <a:avLst/>
          </a:prstGeom>
          <a:solidFill>
            <a:schemeClr val="accent1"/>
          </a:solidFill>
          <a:ln w="12700">
            <a:solidFill>
              <a:schemeClr val="accent1"/>
            </a:solidFill>
            <a:prstDash val="solid"/>
          </a:ln>
        </p:spPr>
      </p:sp>
      <p:pic>
        <p:nvPicPr>
          <p:cNvPr id="7" name="icon" descr="preencoded.png">    </p:cNvPr>
          <p:cNvPicPr>
            <a:picLocks noChangeAspect="1"/>
          </p:cNvPicPr>
          <p:nvPr/>
        </p:nvPicPr>
        <p:blipFill>
          <a:blip r:embed="rId1"/>
          <a:stretch>
            <a:fillRect/>
          </a:stretch>
        </p:blipFill>
        <p:spPr>
          <a:xfrm>
            <a:off x="690372" y="1476756"/>
            <a:ext cx="192024" cy="192024"/>
          </a:xfrm>
          <a:prstGeom prst="rect">
            <a:avLst/>
          </a:prstGeom>
        </p:spPr>
      </p:pic>
      <p:sp>
        <p:nvSpPr>
          <p:cNvPr id="8" name="Text 4"/>
          <p:cNvSpPr txBox="1"/>
          <p:nvPr/>
        </p:nvSpPr>
        <p:spPr>
          <a:xfrm>
            <a:off x="1051560" y="1380744"/>
            <a:ext cx="1874520" cy="384048"/>
          </a:xfrm>
          <a:prstGeom prst="rect">
            <a:avLst/>
          </a:prstGeom>
          <a:noFill/>
          <a:ln/>
        </p:spPr>
        <p:txBody>
          <a:bodyPr wrap="square" lIns="0" tIns="0" rIns="0" bIns="0" rtlCol="0" anchor="ctr"/>
          <a:lstStyle/>
          <a:p>
            <a:pPr indent="0" marL="0">
              <a:buNone/>
            </a:pPr>
            <a:r>
              <a:rPr lang="en-US" sz="1200" b="1" dirty="0">
                <a:solidFill>
                  <a:schemeClr val="tx2"/>
                </a:solidFill>
                <a:latin typeface="Courier New" pitchFamily="34" charset="0"/>
                <a:ea typeface="Courier New" pitchFamily="34" charset="-122"/>
                <a:cs typeface="Courier New" pitchFamily="34" charset="-120"/>
              </a:rPr>
              <a:t>android/</a:t>
            </a:r>
            <a:endParaRPr lang="en-US" sz="1200" dirty="0"/>
          </a:p>
        </p:txBody>
      </p:sp>
      <p:sp>
        <p:nvSpPr>
          <p:cNvPr id="9" name="Text 5"/>
          <p:cNvSpPr txBox="1"/>
          <p:nvPr/>
        </p:nvSpPr>
        <p:spPr>
          <a:xfrm>
            <a:off x="594360" y="1856232"/>
            <a:ext cx="2286000" cy="896112"/>
          </a:xfrm>
          <a:prstGeom prst="rect">
            <a:avLst/>
          </a:prstGeom>
          <a:noFill/>
          <a:ln/>
        </p:spPr>
        <p:txBody>
          <a:bodyPr wrap="square" lIns="0" tIns="0" rIns="0" bIns="0" rtlCol="0" anchor="t"/>
          <a:lstStyle/>
          <a:p>
            <a:pPr marL="342900" indent="-342900">
              <a:spcAft>
                <a:spcPts val="200"/>
              </a:spcAft>
              <a:buSzPct val="100000"/>
              <a:buChar char="•"/>
            </a:pPr>
            <a:r>
              <a:rPr lang="en-US" sz="1050" dirty="0">
                <a:solidFill>
                  <a:schemeClr val="tx1"/>
                </a:solidFill>
              </a:rPr>
              <a:t>AndroidManifest.xml: permissions, app label, icon</a:t>
            </a:r>
            <a:endParaRPr lang="en-US" sz="1050" dirty="0"/>
          </a:p>
          <a:p>
            <a:pPr marL="342900" indent="-342900">
              <a:spcAft>
                <a:spcPts val="200"/>
              </a:spcAft>
              <a:buSzPct val="100000"/>
              <a:buChar char="•"/>
            </a:pPr>
            <a:r>
              <a:rPr lang="en-US" sz="1050" dirty="0">
                <a:solidFill>
                  <a:schemeClr val="tx1"/>
                </a:solidFill>
              </a:rPr>
              <a:t>build.gradle.kts: applicationId, minSdk</a:t>
            </a:r>
            <a:endParaRPr lang="en-US" sz="1050" dirty="0"/>
          </a:p>
          <a:p>
            <a:pPr marL="342900" indent="-342900">
              <a:spcAft>
                <a:spcPts val="200"/>
              </a:spcAft>
              <a:buSzPct val="100000"/>
              <a:buChar char="•"/>
            </a:pPr>
            <a:r>
              <a:rPr lang="en-US" sz="1050" dirty="0">
                <a:solidFill>
                  <a:schemeClr val="tx1"/>
                </a:solidFill>
              </a:rPr>
              <a:t>MainActivity.kt: hosts Flutter</a:t>
            </a:r>
            <a:endParaRPr lang="en-US" sz="1050" dirty="0"/>
          </a:p>
        </p:txBody>
      </p:sp>
      <p:sp>
        <p:nvSpPr>
          <p:cNvPr id="10" name="card"/>
          <p:cNvSpPr/>
          <p:nvPr/>
        </p:nvSpPr>
        <p:spPr>
          <a:xfrm>
            <a:off x="3291840" y="1261872"/>
            <a:ext cx="2560320" cy="1554480"/>
          </a:xfrm>
          <a:prstGeom prst="roundRect">
            <a:avLst>
              <a:gd name="adj" fmla="val 4706"/>
            </a:avLst>
          </a:prstGeom>
          <a:solidFill>
            <a:schemeClr val="bg2"/>
          </a:solidFill>
          <a:ln w="12700">
            <a:solidFill>
              <a:schemeClr val="bg2"/>
            </a:solidFill>
            <a:prstDash val="solid"/>
          </a:ln>
        </p:spPr>
      </p:sp>
      <p:sp>
        <p:nvSpPr>
          <p:cNvPr id="11" name="icon-circle"/>
          <p:cNvSpPr/>
          <p:nvPr/>
        </p:nvSpPr>
        <p:spPr>
          <a:xfrm>
            <a:off x="3429000" y="1380744"/>
            <a:ext cx="384048" cy="384048"/>
          </a:xfrm>
          <a:prstGeom prst="ellipse">
            <a:avLst/>
          </a:prstGeom>
          <a:solidFill>
            <a:schemeClr val="accent1"/>
          </a:solidFill>
          <a:ln w="12700">
            <a:solidFill>
              <a:schemeClr val="accent1"/>
            </a:solidFill>
            <a:prstDash val="solid"/>
          </a:ln>
        </p:spPr>
      </p:sp>
      <p:pic>
        <p:nvPicPr>
          <p:cNvPr id="12" name="icon" descr="preencoded.png">    </p:cNvPr>
          <p:cNvPicPr>
            <a:picLocks noChangeAspect="1"/>
          </p:cNvPicPr>
          <p:nvPr/>
        </p:nvPicPr>
        <p:blipFill>
          <a:blip r:embed="rId2"/>
          <a:stretch>
            <a:fillRect/>
          </a:stretch>
        </p:blipFill>
        <p:spPr>
          <a:xfrm>
            <a:off x="3525012" y="1476756"/>
            <a:ext cx="192024" cy="192024"/>
          </a:xfrm>
          <a:prstGeom prst="rect">
            <a:avLst/>
          </a:prstGeom>
        </p:spPr>
      </p:pic>
      <p:sp>
        <p:nvSpPr>
          <p:cNvPr id="13" name="Text 8"/>
          <p:cNvSpPr txBox="1"/>
          <p:nvPr/>
        </p:nvSpPr>
        <p:spPr>
          <a:xfrm>
            <a:off x="3886200" y="1380744"/>
            <a:ext cx="1874520" cy="384048"/>
          </a:xfrm>
          <a:prstGeom prst="rect">
            <a:avLst/>
          </a:prstGeom>
          <a:noFill/>
          <a:ln/>
        </p:spPr>
        <p:txBody>
          <a:bodyPr wrap="square" lIns="0" tIns="0" rIns="0" bIns="0" rtlCol="0" anchor="ctr"/>
          <a:lstStyle/>
          <a:p>
            <a:pPr indent="0" marL="0">
              <a:buNone/>
            </a:pPr>
            <a:r>
              <a:rPr lang="en-US" sz="1200" b="1" dirty="0">
                <a:solidFill>
                  <a:schemeClr val="tx2"/>
                </a:solidFill>
                <a:latin typeface="Courier New" pitchFamily="34" charset="0"/>
                <a:ea typeface="Courier New" pitchFamily="34" charset="-122"/>
                <a:cs typeface="Courier New" pitchFamily="34" charset="-120"/>
              </a:rPr>
              <a:t>ios/</a:t>
            </a:r>
            <a:endParaRPr lang="en-US" sz="1200" dirty="0"/>
          </a:p>
        </p:txBody>
      </p:sp>
      <p:sp>
        <p:nvSpPr>
          <p:cNvPr id="14" name="Text 9"/>
          <p:cNvSpPr txBox="1"/>
          <p:nvPr/>
        </p:nvSpPr>
        <p:spPr>
          <a:xfrm>
            <a:off x="3429000" y="1856232"/>
            <a:ext cx="2286000" cy="896112"/>
          </a:xfrm>
          <a:prstGeom prst="rect">
            <a:avLst/>
          </a:prstGeom>
          <a:noFill/>
          <a:ln/>
        </p:spPr>
        <p:txBody>
          <a:bodyPr wrap="square" lIns="0" tIns="0" rIns="0" bIns="0" rtlCol="0" anchor="t"/>
          <a:lstStyle/>
          <a:p>
            <a:pPr marL="342900" indent="-342900">
              <a:spcAft>
                <a:spcPts val="200"/>
              </a:spcAft>
              <a:buSzPct val="100000"/>
              <a:buChar char="•"/>
            </a:pPr>
            <a:r>
              <a:rPr lang="en-US" sz="1050" dirty="0">
                <a:solidFill>
                  <a:schemeClr val="tx1"/>
                </a:solidFill>
              </a:rPr>
              <a:t>Runner/Info.plist: name, permission text</a:t>
            </a:r>
            <a:endParaRPr lang="en-US" sz="1050" dirty="0"/>
          </a:p>
          <a:p>
            <a:pPr marL="342900" indent="-342900">
              <a:spcAft>
                <a:spcPts val="200"/>
              </a:spcAft>
              <a:buSzPct val="100000"/>
              <a:buChar char="•"/>
            </a:pPr>
            <a:r>
              <a:rPr lang="en-US" sz="1050" dirty="0">
                <a:solidFill>
                  <a:schemeClr val="tx1"/>
                </a:solidFill>
              </a:rPr>
              <a:t>Runner.xcworkspace: open in Xcode</a:t>
            </a:r>
            <a:endParaRPr lang="en-US" sz="1050" dirty="0"/>
          </a:p>
          <a:p>
            <a:pPr marL="342900" indent="-342900">
              <a:spcAft>
                <a:spcPts val="200"/>
              </a:spcAft>
              <a:buSzPct val="100000"/>
              <a:buChar char="•"/>
            </a:pPr>
            <a:r>
              <a:rPr lang="en-US" sz="1050" dirty="0">
                <a:solidFill>
                  <a:schemeClr val="tx1"/>
                </a:solidFill>
              </a:rPr>
              <a:t>Podfile: added with plugins</a:t>
            </a:r>
            <a:endParaRPr lang="en-US" sz="1050" dirty="0"/>
          </a:p>
        </p:txBody>
      </p:sp>
      <p:sp>
        <p:nvSpPr>
          <p:cNvPr id="15" name="card"/>
          <p:cNvSpPr/>
          <p:nvPr/>
        </p:nvSpPr>
        <p:spPr>
          <a:xfrm>
            <a:off x="6126480" y="1261872"/>
            <a:ext cx="2560320" cy="1554480"/>
          </a:xfrm>
          <a:prstGeom prst="roundRect">
            <a:avLst>
              <a:gd name="adj" fmla="val 4706"/>
            </a:avLst>
          </a:prstGeom>
          <a:solidFill>
            <a:schemeClr val="bg2"/>
          </a:solidFill>
          <a:ln w="12700">
            <a:solidFill>
              <a:schemeClr val="bg2"/>
            </a:solidFill>
            <a:prstDash val="solid"/>
          </a:ln>
        </p:spPr>
      </p:sp>
      <p:sp>
        <p:nvSpPr>
          <p:cNvPr id="16" name="icon-circle"/>
          <p:cNvSpPr/>
          <p:nvPr/>
        </p:nvSpPr>
        <p:spPr>
          <a:xfrm>
            <a:off x="6263640" y="1380744"/>
            <a:ext cx="384048" cy="384048"/>
          </a:xfrm>
          <a:prstGeom prst="ellipse">
            <a:avLst/>
          </a:prstGeom>
          <a:solidFill>
            <a:schemeClr val="accent1"/>
          </a:solidFill>
          <a:ln w="12700">
            <a:solidFill>
              <a:schemeClr val="accent1"/>
            </a:solidFill>
            <a:prstDash val="solid"/>
          </a:ln>
        </p:spPr>
      </p:sp>
      <p:pic>
        <p:nvPicPr>
          <p:cNvPr id="17" name="icon" descr="preencoded.png">    </p:cNvPr>
          <p:cNvPicPr>
            <a:picLocks noChangeAspect="1"/>
          </p:cNvPicPr>
          <p:nvPr/>
        </p:nvPicPr>
        <p:blipFill>
          <a:blip r:embed="rId3"/>
          <a:stretch>
            <a:fillRect/>
          </a:stretch>
        </p:blipFill>
        <p:spPr>
          <a:xfrm>
            <a:off x="6359652" y="1476756"/>
            <a:ext cx="192024" cy="192024"/>
          </a:xfrm>
          <a:prstGeom prst="rect">
            <a:avLst/>
          </a:prstGeom>
        </p:spPr>
      </p:pic>
      <p:sp>
        <p:nvSpPr>
          <p:cNvPr id="18" name="Text 12"/>
          <p:cNvSpPr txBox="1"/>
          <p:nvPr/>
        </p:nvSpPr>
        <p:spPr>
          <a:xfrm>
            <a:off x="6720840" y="1380744"/>
            <a:ext cx="1874520" cy="384048"/>
          </a:xfrm>
          <a:prstGeom prst="rect">
            <a:avLst/>
          </a:prstGeom>
          <a:noFill/>
          <a:ln/>
        </p:spPr>
        <p:txBody>
          <a:bodyPr wrap="square" lIns="0" tIns="0" rIns="0" bIns="0" rtlCol="0" anchor="ctr"/>
          <a:lstStyle/>
          <a:p>
            <a:pPr indent="0" marL="0">
              <a:buNone/>
            </a:pPr>
            <a:r>
              <a:rPr lang="en-US" sz="1200" b="1" dirty="0">
                <a:solidFill>
                  <a:schemeClr val="tx2"/>
                </a:solidFill>
                <a:latin typeface="Courier New" pitchFamily="34" charset="0"/>
                <a:ea typeface="Courier New" pitchFamily="34" charset="-122"/>
                <a:cs typeface="Courier New" pitchFamily="34" charset="-120"/>
              </a:rPr>
              <a:t>web/</a:t>
            </a:r>
            <a:endParaRPr lang="en-US" sz="1200" dirty="0"/>
          </a:p>
        </p:txBody>
      </p:sp>
      <p:sp>
        <p:nvSpPr>
          <p:cNvPr id="19" name="Text 13"/>
          <p:cNvSpPr txBox="1"/>
          <p:nvPr/>
        </p:nvSpPr>
        <p:spPr>
          <a:xfrm>
            <a:off x="6263640" y="1856232"/>
            <a:ext cx="2286000" cy="896112"/>
          </a:xfrm>
          <a:prstGeom prst="rect">
            <a:avLst/>
          </a:prstGeom>
          <a:noFill/>
          <a:ln/>
        </p:spPr>
        <p:txBody>
          <a:bodyPr wrap="square" lIns="0" tIns="0" rIns="0" bIns="0" rtlCol="0" anchor="t"/>
          <a:lstStyle/>
          <a:p>
            <a:pPr marL="342900" indent="-342900">
              <a:spcAft>
                <a:spcPts val="200"/>
              </a:spcAft>
              <a:buSzPct val="100000"/>
              <a:buChar char="•"/>
            </a:pPr>
            <a:r>
              <a:rPr lang="en-US" sz="1050" dirty="0">
                <a:solidFill>
                  <a:schemeClr val="tx1"/>
                </a:solidFill>
              </a:rPr>
              <a:t>index.html: page that loads the app</a:t>
            </a:r>
            <a:endParaRPr lang="en-US" sz="1050" dirty="0"/>
          </a:p>
          <a:p>
            <a:pPr marL="342900" indent="-342900">
              <a:spcAft>
                <a:spcPts val="200"/>
              </a:spcAft>
              <a:buSzPct val="100000"/>
              <a:buChar char="•"/>
            </a:pPr>
            <a:r>
              <a:rPr lang="en-US" sz="1050" dirty="0">
                <a:solidFill>
                  <a:schemeClr val="tx1"/>
                </a:solidFill>
              </a:rPr>
              <a:t>manifest.json: PWA name, colours, icons</a:t>
            </a:r>
            <a:endParaRPr lang="en-US" sz="1050" dirty="0"/>
          </a:p>
          <a:p>
            <a:pPr marL="342900" indent="-342900">
              <a:spcAft>
                <a:spcPts val="200"/>
              </a:spcAft>
              <a:buSzPct val="100000"/>
              <a:buChar char="•"/>
            </a:pPr>
            <a:r>
              <a:rPr lang="en-US" sz="1050" dirty="0">
                <a:solidFill>
                  <a:schemeClr val="tx1"/>
                </a:solidFill>
              </a:rPr>
              <a:t>icons/ and favicon.png</a:t>
            </a:r>
            <a:endParaRPr lang="en-US" sz="1050" dirty="0"/>
          </a:p>
        </p:txBody>
      </p:sp>
      <p:sp>
        <p:nvSpPr>
          <p:cNvPr id="20" name="card"/>
          <p:cNvSpPr/>
          <p:nvPr/>
        </p:nvSpPr>
        <p:spPr>
          <a:xfrm>
            <a:off x="457200" y="3044952"/>
            <a:ext cx="2560320" cy="1554480"/>
          </a:xfrm>
          <a:prstGeom prst="roundRect">
            <a:avLst>
              <a:gd name="adj" fmla="val 4706"/>
            </a:avLst>
          </a:prstGeom>
          <a:solidFill>
            <a:schemeClr val="bg2"/>
          </a:solidFill>
          <a:ln w="12700">
            <a:solidFill>
              <a:schemeClr val="bg2"/>
            </a:solidFill>
            <a:prstDash val="solid"/>
          </a:ln>
        </p:spPr>
      </p:sp>
      <p:sp>
        <p:nvSpPr>
          <p:cNvPr id="21" name="icon-circle"/>
          <p:cNvSpPr/>
          <p:nvPr/>
        </p:nvSpPr>
        <p:spPr>
          <a:xfrm>
            <a:off x="594360" y="3163824"/>
            <a:ext cx="384048" cy="384048"/>
          </a:xfrm>
          <a:prstGeom prst="ellipse">
            <a:avLst/>
          </a:prstGeom>
          <a:solidFill>
            <a:schemeClr val="accent1"/>
          </a:solidFill>
          <a:ln w="12700">
            <a:solidFill>
              <a:schemeClr val="accent1"/>
            </a:solidFill>
            <a:prstDash val="solid"/>
          </a:ln>
        </p:spPr>
      </p:sp>
      <p:pic>
        <p:nvPicPr>
          <p:cNvPr id="22" name="icon" descr="preencoded.png">    </p:cNvPr>
          <p:cNvPicPr>
            <a:picLocks noChangeAspect="1"/>
          </p:cNvPicPr>
          <p:nvPr/>
        </p:nvPicPr>
        <p:blipFill>
          <a:blip r:embed="rId4"/>
          <a:stretch>
            <a:fillRect/>
          </a:stretch>
        </p:blipFill>
        <p:spPr>
          <a:xfrm>
            <a:off x="690372" y="3259836"/>
            <a:ext cx="192024" cy="192024"/>
          </a:xfrm>
          <a:prstGeom prst="rect">
            <a:avLst/>
          </a:prstGeom>
        </p:spPr>
      </p:pic>
      <p:sp>
        <p:nvSpPr>
          <p:cNvPr id="23" name="Text 16"/>
          <p:cNvSpPr txBox="1"/>
          <p:nvPr/>
        </p:nvSpPr>
        <p:spPr>
          <a:xfrm>
            <a:off x="1051560" y="3163824"/>
            <a:ext cx="1874520" cy="384048"/>
          </a:xfrm>
          <a:prstGeom prst="rect">
            <a:avLst/>
          </a:prstGeom>
          <a:noFill/>
          <a:ln/>
        </p:spPr>
        <p:txBody>
          <a:bodyPr wrap="square" lIns="0" tIns="0" rIns="0" bIns="0" rtlCol="0" anchor="ctr"/>
          <a:lstStyle/>
          <a:p>
            <a:pPr indent="0" marL="0">
              <a:buNone/>
            </a:pPr>
            <a:r>
              <a:rPr lang="en-US" sz="1200" b="1" dirty="0">
                <a:solidFill>
                  <a:schemeClr val="tx2"/>
                </a:solidFill>
                <a:latin typeface="Courier New" pitchFamily="34" charset="0"/>
                <a:ea typeface="Courier New" pitchFamily="34" charset="-122"/>
                <a:cs typeface="Courier New" pitchFamily="34" charset="-120"/>
              </a:rPr>
              <a:t>windows/ macos/ linux/</a:t>
            </a:r>
            <a:endParaRPr lang="en-US" sz="1200" dirty="0"/>
          </a:p>
        </p:txBody>
      </p:sp>
      <p:sp>
        <p:nvSpPr>
          <p:cNvPr id="24" name="Text 17"/>
          <p:cNvSpPr txBox="1"/>
          <p:nvPr/>
        </p:nvSpPr>
        <p:spPr>
          <a:xfrm>
            <a:off x="594360" y="3639312"/>
            <a:ext cx="2286000" cy="896112"/>
          </a:xfrm>
          <a:prstGeom prst="rect">
            <a:avLst/>
          </a:prstGeom>
          <a:noFill/>
          <a:ln/>
        </p:spPr>
        <p:txBody>
          <a:bodyPr wrap="square" lIns="0" tIns="0" rIns="0" bIns="0" rtlCol="0" anchor="t"/>
          <a:lstStyle/>
          <a:p>
            <a:pPr marL="342900" indent="-342900">
              <a:spcAft>
                <a:spcPts val="200"/>
              </a:spcAft>
              <a:buSzPct val="100000"/>
              <a:buChar char="•"/>
            </a:pPr>
            <a:r>
              <a:rPr lang="en-US" sz="1050" dirty="0">
                <a:solidFill>
                  <a:schemeClr val="tx1"/>
                </a:solidFill>
              </a:rPr>
              <a:t>Native desktop runner (C++ / Swift)</a:t>
            </a:r>
            <a:endParaRPr lang="en-US" sz="1050" dirty="0"/>
          </a:p>
          <a:p>
            <a:pPr marL="342900" indent="-342900">
              <a:spcAft>
                <a:spcPts val="200"/>
              </a:spcAft>
              <a:buSzPct val="100000"/>
              <a:buChar char="•"/>
            </a:pPr>
            <a:r>
              <a:rPr lang="en-US" sz="1050" dirty="0">
                <a:solidFill>
                  <a:schemeClr val="tx1"/>
                </a:solidFill>
              </a:rPr>
              <a:t>Window title, size and app icon</a:t>
            </a:r>
            <a:endParaRPr lang="en-US" sz="1050" dirty="0"/>
          </a:p>
          <a:p>
            <a:pPr marL="342900" indent="-342900">
              <a:spcAft>
                <a:spcPts val="200"/>
              </a:spcAft>
              <a:buSzPct val="100000"/>
              <a:buChar char="•"/>
            </a:pPr>
            <a:r>
              <a:rPr lang="en-US" sz="1050" dirty="0">
                <a:solidFill>
                  <a:schemeClr val="tx1"/>
                </a:solidFill>
              </a:rPr>
              <a:t>Created only for enabled platforms</a:t>
            </a:r>
            <a:endParaRPr lang="en-US" sz="1050" dirty="0"/>
          </a:p>
        </p:txBody>
      </p:sp>
      <p:sp>
        <p:nvSpPr>
          <p:cNvPr id="25" name="card"/>
          <p:cNvSpPr/>
          <p:nvPr/>
        </p:nvSpPr>
        <p:spPr>
          <a:xfrm>
            <a:off x="3291840" y="3044952"/>
            <a:ext cx="2560320" cy="1554480"/>
          </a:xfrm>
          <a:prstGeom prst="roundRect">
            <a:avLst>
              <a:gd name="adj" fmla="val 4706"/>
            </a:avLst>
          </a:prstGeom>
          <a:solidFill>
            <a:schemeClr val="bg2"/>
          </a:solidFill>
          <a:ln w="12700">
            <a:solidFill>
              <a:schemeClr val="bg2"/>
            </a:solidFill>
            <a:prstDash val="solid"/>
          </a:ln>
        </p:spPr>
      </p:sp>
      <p:sp>
        <p:nvSpPr>
          <p:cNvPr id="26" name="icon-circle"/>
          <p:cNvSpPr/>
          <p:nvPr/>
        </p:nvSpPr>
        <p:spPr>
          <a:xfrm>
            <a:off x="3429000" y="3163824"/>
            <a:ext cx="384048" cy="384048"/>
          </a:xfrm>
          <a:prstGeom prst="ellipse">
            <a:avLst/>
          </a:prstGeom>
          <a:solidFill>
            <a:schemeClr val="accent1"/>
          </a:solidFill>
          <a:ln w="12700">
            <a:solidFill>
              <a:schemeClr val="accent1"/>
            </a:solidFill>
            <a:prstDash val="solid"/>
          </a:ln>
        </p:spPr>
      </p:sp>
      <p:pic>
        <p:nvPicPr>
          <p:cNvPr id="27" name="icon" descr="preencoded.png">    </p:cNvPr>
          <p:cNvPicPr>
            <a:picLocks noChangeAspect="1"/>
          </p:cNvPicPr>
          <p:nvPr/>
        </p:nvPicPr>
        <p:blipFill>
          <a:blip r:embed="rId5"/>
          <a:stretch>
            <a:fillRect/>
          </a:stretch>
        </p:blipFill>
        <p:spPr>
          <a:xfrm>
            <a:off x="3525012" y="3259836"/>
            <a:ext cx="192024" cy="192024"/>
          </a:xfrm>
          <a:prstGeom prst="rect">
            <a:avLst/>
          </a:prstGeom>
        </p:spPr>
      </p:pic>
      <p:sp>
        <p:nvSpPr>
          <p:cNvPr id="28" name="Text 20"/>
          <p:cNvSpPr txBox="1"/>
          <p:nvPr/>
        </p:nvSpPr>
        <p:spPr>
          <a:xfrm>
            <a:off x="3886200" y="3163824"/>
            <a:ext cx="1874520" cy="384048"/>
          </a:xfrm>
          <a:prstGeom prst="rect">
            <a:avLst/>
          </a:prstGeom>
          <a:noFill/>
          <a:ln/>
        </p:spPr>
        <p:txBody>
          <a:bodyPr wrap="square" lIns="0" tIns="0" rIns="0" bIns="0" rtlCol="0" anchor="ctr"/>
          <a:lstStyle/>
          <a:p>
            <a:pPr indent="0" marL="0">
              <a:buNone/>
            </a:pPr>
            <a:r>
              <a:rPr lang="en-US" sz="1200" b="1" dirty="0">
                <a:solidFill>
                  <a:schemeClr val="tx2"/>
                </a:solidFill>
                <a:latin typeface="Courier New" pitchFamily="34" charset="0"/>
                <a:ea typeface="Courier New" pitchFamily="34" charset="-122"/>
                <a:cs typeface="Courier New" pitchFamily="34" charset="-120"/>
              </a:rPr>
              <a:t>test/</a:t>
            </a:r>
            <a:endParaRPr lang="en-US" sz="1200" dirty="0"/>
          </a:p>
        </p:txBody>
      </p:sp>
      <p:sp>
        <p:nvSpPr>
          <p:cNvPr id="29" name="Text 21"/>
          <p:cNvSpPr txBox="1"/>
          <p:nvPr/>
        </p:nvSpPr>
        <p:spPr>
          <a:xfrm>
            <a:off x="3429000" y="3639312"/>
            <a:ext cx="2286000" cy="896112"/>
          </a:xfrm>
          <a:prstGeom prst="rect">
            <a:avLst/>
          </a:prstGeom>
          <a:noFill/>
          <a:ln/>
        </p:spPr>
        <p:txBody>
          <a:bodyPr wrap="square" lIns="0" tIns="0" rIns="0" bIns="0" rtlCol="0" anchor="t"/>
          <a:lstStyle/>
          <a:p>
            <a:pPr marL="342900" indent="-342900">
              <a:spcAft>
                <a:spcPts val="200"/>
              </a:spcAft>
              <a:buSzPct val="100000"/>
              <a:buChar char="•"/>
            </a:pPr>
            <a:r>
              <a:rPr lang="en-US" sz="1050" dirty="0">
                <a:solidFill>
                  <a:schemeClr val="tx1"/>
                </a:solidFill>
              </a:rPr>
              <a:t>widget_test.dart: sample test that taps the + button</a:t>
            </a:r>
            <a:endParaRPr lang="en-US" sz="1050" dirty="0"/>
          </a:p>
          <a:p>
            <a:pPr marL="342900" indent="-342900">
              <a:spcAft>
                <a:spcPts val="200"/>
              </a:spcAft>
              <a:buSzPct val="100000"/>
              <a:buChar char="•"/>
            </a:pPr>
            <a:r>
              <a:rPr lang="en-US" sz="1050" dirty="0">
                <a:solidFill>
                  <a:schemeClr val="tx1"/>
                </a:solidFill>
              </a:rPr>
              <a:t>Run all tests with flutter test</a:t>
            </a:r>
            <a:endParaRPr lang="en-US" sz="1050" dirty="0"/>
          </a:p>
        </p:txBody>
      </p:sp>
      <p:sp>
        <p:nvSpPr>
          <p:cNvPr id="30" name="card"/>
          <p:cNvSpPr/>
          <p:nvPr/>
        </p:nvSpPr>
        <p:spPr>
          <a:xfrm>
            <a:off x="6126480" y="3044952"/>
            <a:ext cx="2560320" cy="1554480"/>
          </a:xfrm>
          <a:prstGeom prst="roundRect">
            <a:avLst>
              <a:gd name="adj" fmla="val 4706"/>
            </a:avLst>
          </a:prstGeom>
          <a:solidFill>
            <a:schemeClr val="bg2"/>
          </a:solidFill>
          <a:ln w="12700">
            <a:solidFill>
              <a:schemeClr val="bg2"/>
            </a:solidFill>
            <a:prstDash val="solid"/>
          </a:ln>
        </p:spPr>
      </p:sp>
      <p:sp>
        <p:nvSpPr>
          <p:cNvPr id="31" name="icon-circle"/>
          <p:cNvSpPr/>
          <p:nvPr/>
        </p:nvSpPr>
        <p:spPr>
          <a:xfrm>
            <a:off x="6263640" y="3163824"/>
            <a:ext cx="384048" cy="384048"/>
          </a:xfrm>
          <a:prstGeom prst="ellipse">
            <a:avLst/>
          </a:prstGeom>
          <a:solidFill>
            <a:schemeClr val="accent1"/>
          </a:solidFill>
          <a:ln w="12700">
            <a:solidFill>
              <a:schemeClr val="accent1"/>
            </a:solidFill>
            <a:prstDash val="solid"/>
          </a:ln>
        </p:spPr>
      </p:sp>
      <p:pic>
        <p:nvPicPr>
          <p:cNvPr id="32" name="icon" descr="preencoded.png">    </p:cNvPr>
          <p:cNvPicPr>
            <a:picLocks noChangeAspect="1"/>
          </p:cNvPicPr>
          <p:nvPr/>
        </p:nvPicPr>
        <p:blipFill>
          <a:blip r:embed="rId6"/>
          <a:stretch>
            <a:fillRect/>
          </a:stretch>
        </p:blipFill>
        <p:spPr>
          <a:xfrm>
            <a:off x="6359652" y="3259836"/>
            <a:ext cx="192024" cy="192024"/>
          </a:xfrm>
          <a:prstGeom prst="rect">
            <a:avLst/>
          </a:prstGeom>
        </p:spPr>
      </p:pic>
      <p:sp>
        <p:nvSpPr>
          <p:cNvPr id="33" name="Text 24"/>
          <p:cNvSpPr txBox="1"/>
          <p:nvPr/>
        </p:nvSpPr>
        <p:spPr>
          <a:xfrm>
            <a:off x="6720840" y="3163824"/>
            <a:ext cx="1874520" cy="384048"/>
          </a:xfrm>
          <a:prstGeom prst="rect">
            <a:avLst/>
          </a:prstGeom>
          <a:noFill/>
          <a:ln/>
        </p:spPr>
        <p:txBody>
          <a:bodyPr wrap="square" lIns="0" tIns="0" rIns="0" bIns="0" rtlCol="0" anchor="ctr"/>
          <a:lstStyle/>
          <a:p>
            <a:pPr indent="0" marL="0">
              <a:buNone/>
            </a:pPr>
            <a:r>
              <a:rPr lang="en-US" sz="1200" b="1" dirty="0">
                <a:solidFill>
                  <a:schemeClr val="tx2"/>
                </a:solidFill>
                <a:latin typeface="Courier New" pitchFamily="34" charset="0"/>
                <a:ea typeface="Courier New" pitchFamily="34" charset="-122"/>
                <a:cs typeface="Courier New" pitchFamily="34" charset="-120"/>
              </a:rPr>
              <a:t>assets/ (you create)</a:t>
            </a:r>
            <a:endParaRPr lang="en-US" sz="1200" dirty="0"/>
          </a:p>
        </p:txBody>
      </p:sp>
      <p:sp>
        <p:nvSpPr>
          <p:cNvPr id="34" name="Text 25"/>
          <p:cNvSpPr txBox="1"/>
          <p:nvPr/>
        </p:nvSpPr>
        <p:spPr>
          <a:xfrm>
            <a:off x="6263640" y="3639312"/>
            <a:ext cx="2286000" cy="896112"/>
          </a:xfrm>
          <a:prstGeom prst="rect">
            <a:avLst/>
          </a:prstGeom>
          <a:noFill/>
          <a:ln/>
        </p:spPr>
        <p:txBody>
          <a:bodyPr wrap="square" lIns="0" tIns="0" rIns="0" bIns="0" rtlCol="0" anchor="t"/>
          <a:lstStyle/>
          <a:p>
            <a:pPr marL="342900" indent="-342900">
              <a:spcAft>
                <a:spcPts val="200"/>
              </a:spcAft>
              <a:buSzPct val="100000"/>
              <a:buChar char="•"/>
            </a:pPr>
            <a:r>
              <a:rPr lang="en-US" sz="1050" dirty="0">
                <a:solidFill>
                  <a:schemeClr val="tx1"/>
                </a:solidFill>
              </a:rPr>
              <a:t>Not generated by default</a:t>
            </a:r>
            <a:endParaRPr lang="en-US" sz="1050" dirty="0"/>
          </a:p>
          <a:p>
            <a:pPr marL="342900" indent="-342900">
              <a:spcAft>
                <a:spcPts val="200"/>
              </a:spcAft>
              <a:buSzPct val="100000"/>
              <a:buChar char="•"/>
            </a:pPr>
            <a:r>
              <a:rPr lang="en-US" sz="1050" dirty="0">
                <a:solidFill>
                  <a:schemeClr val="tx1"/>
                </a:solidFill>
              </a:rPr>
              <a:t>Create assets/images/ and list it under flutter: assets: in pubspec.yaml</a:t>
            </a:r>
            <a:endParaRPr lang="en-US" sz="1050" dirty="0"/>
          </a:p>
        </p:txBody>
      </p:sp>
      <p:sp>
        <p:nvSpPr>
          <p:cNvPr id="25" name="Slide Number Placeholder 0"/>
          <p:cNvSpPr>
            <a:spLocks noGrp="1"/>
          </p:cNvSpPr>
          <p:nvPr>
            <p:ph type="sldNum" sz="quarter" idx="4294967295"/>
          </p:nvPr>
        </p:nvSpPr>
        <p:spPr>
          <a:xfrm>
            <a:off x="8229600" y="4773168"/>
            <a:ext cx="457200" cy="237744"/>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4748B"/>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457200" y="228600"/>
            <a:ext cx="8229600" cy="256032"/>
          </a:xfrm>
          <a:prstGeom prst="rect">
            <a:avLst/>
          </a:prstGeom>
          <a:noFill/>
          <a:ln/>
        </p:spPr>
        <p:txBody>
          <a:bodyPr wrap="square" lIns="0" tIns="0" rIns="0" bIns="0" rtlCol="0" anchor="ctr"/>
          <a:lstStyle/>
          <a:p>
            <a:pPr indent="0" marL="0">
              <a:buNone/>
            </a:pPr>
            <a:r>
              <a:rPr lang="en-US" sz="1100" b="1" spc="200" kern="0" dirty="0">
                <a:solidFill>
                  <a:schemeClr val="accent1"/>
                </a:solidFill>
              </a:rPr>
              <a:t>PART 3 · ROOT FILES</a:t>
            </a:r>
            <a:endParaRPr lang="en-US" sz="1100" dirty="0"/>
          </a:p>
        </p:txBody>
      </p:sp>
      <p:sp>
        <p:nvSpPr>
          <p:cNvPr id="3" name="Text 0"/>
          <p:cNvSpPr/>
          <p:nvPr>
            <p:ph idx="101" type="title" hasCustomPrompt="1"/>
          </p:nvPr>
        </p:nvSpPr>
        <p:spPr>
          <a:xfrm>
            <a:off x="457200" y="502920"/>
            <a:ext cx="8229600" cy="566928"/>
          </a:xfrm>
          <a:prstGeom prst="rect">
            <a:avLst/>
          </a:prstGeom>
          <a:noFill/>
          <a:ln/>
        </p:spPr>
        <p:txBody>
          <a:bodyPr wrap="square" lIns="0" tIns="0" rIns="0" bIns="0" rtlCol="0" anchor="ctr"/>
          <a:lstStyle/>
          <a:p>
            <a:pPr indent="0" marL="0">
              <a:buNone/>
            </a:pPr>
            <a:r>
              <a:rPr lang="en-US" sz="2800" b="1" dirty="0">
                <a:solidFill>
                  <a:schemeClr val="tx2"/>
                </a:solidFill>
              </a:rPr>
              <a:t>Other generated files and folders</a:t>
            </a:r>
            <a:endParaRPr lang="en-US" sz="28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8229600" cy="914400"/>
        </p:xfrm>
        <a:graphic>
          <a:graphicData uri="http://schemas.openxmlformats.org/drawingml/2006/table">
            <a:tbl>
              <a:tblPr/>
              <a:tblGrid>
                <a:gridCol w="2377440"/>
                <a:gridCol w="4023360"/>
                <a:gridCol w="1828800"/>
              </a:tblGrid>
              <a:tr h="365760">
                <a:tc>
                  <a:txBody>
                    <a:bodyPr/>
                    <a:lstStyle/>
                    <a:p>
                      <a:pPr indent="0" marL="0">
                        <a:buNone/>
                      </a:pPr>
                      <a:r>
                        <a:rPr lang="en-US" sz="1300" b="1" dirty="0">
                          <a:solidFill>
                            <a:schemeClr val="bg1"/>
                          </a:solidFill>
                        </a:rPr>
                        <a:t>File / folder</a:t>
                      </a:r>
                      <a:endParaRPr lang="en-US" sz="1300" dirty="0"/>
                    </a:p>
                  </a:txBody>
                  <a:tcPr marL="91440" marR="91440" marT="27432" marB="27432" anchor="ctr">
                    <a:lnL w="6350" cap="flat" cmpd="sng" algn="ctr">
                      <a:solidFill>
                        <a:srgbClr val="D5E2EE"/>
                      </a:solidFill>
                      <a:prstDash val="solid"/>
                      <a:round/>
                      <a:headEnd type="none" w="med" len="med"/>
                      <a:tailEnd type="none" w="med" len="med"/>
                    </a:lnL>
                    <a:lnR w="6350" cap="flat" cmpd="sng" algn="ctr">
                      <a:solidFill>
                        <a:srgbClr val="D5E2EE"/>
                      </a:solidFill>
                      <a:prstDash val="solid"/>
                      <a:round/>
                      <a:headEnd type="none" w="med" len="med"/>
                      <a:tailEnd type="none" w="med" len="med"/>
                    </a:lnR>
                    <a:lnT w="6350" cap="flat" cmpd="sng" algn="ctr">
                      <a:solidFill>
                        <a:srgbClr val="D5E2EE"/>
                      </a:solidFill>
                      <a:prstDash val="solid"/>
                      <a:round/>
                      <a:headEnd type="none" w="med" len="med"/>
                      <a:tailEnd type="none" w="med" len="med"/>
                    </a:lnT>
                    <a:lnB w="6350" cap="flat" cmpd="sng" algn="ctr">
                      <a:solidFill>
                        <a:srgbClr val="D5E2EE"/>
                      </a:solidFill>
                      <a:prstDash val="solid"/>
                      <a:round/>
                      <a:headEnd type="none" w="med" len="med"/>
                      <a:tailEnd type="none" w="med" len="med"/>
                    </a:lnB>
                    <a:solidFill>
                      <a:schemeClr val="accent1"/>
                    </a:solidFill>
                  </a:tcPr>
                </a:tc>
                <a:tc>
                  <a:txBody>
                    <a:bodyPr/>
                    <a:lstStyle/>
                    <a:p>
                      <a:pPr indent="0" marL="0">
                        <a:buNone/>
                      </a:pPr>
                      <a:r>
                        <a:rPr lang="en-US" sz="1300" b="1" dirty="0">
                          <a:solidFill>
                            <a:schemeClr val="bg1"/>
                          </a:solidFill>
                        </a:rPr>
                        <a:t>Purpose</a:t>
                      </a:r>
                      <a:endParaRPr lang="en-US" sz="1300" dirty="0"/>
                    </a:p>
                  </a:txBody>
                  <a:tcPr marL="91440" marR="91440" marT="27432" marB="27432" anchor="ctr">
                    <a:lnL w="6350" cap="flat" cmpd="sng" algn="ctr">
                      <a:solidFill>
                        <a:srgbClr val="D5E2EE"/>
                      </a:solidFill>
                      <a:prstDash val="solid"/>
                      <a:round/>
                      <a:headEnd type="none" w="med" len="med"/>
                      <a:tailEnd type="none" w="med" len="med"/>
                    </a:lnL>
                    <a:lnR w="6350" cap="flat" cmpd="sng" algn="ctr">
                      <a:solidFill>
                        <a:srgbClr val="D5E2EE"/>
                      </a:solidFill>
                      <a:prstDash val="solid"/>
                      <a:round/>
                      <a:headEnd type="none" w="med" len="med"/>
                      <a:tailEnd type="none" w="med" len="med"/>
                    </a:lnR>
                    <a:lnT w="6350" cap="flat" cmpd="sng" algn="ctr">
                      <a:solidFill>
                        <a:srgbClr val="D5E2EE"/>
                      </a:solidFill>
                      <a:prstDash val="solid"/>
                      <a:round/>
                      <a:headEnd type="none" w="med" len="med"/>
                      <a:tailEnd type="none" w="med" len="med"/>
                    </a:lnT>
                    <a:lnB w="6350" cap="flat" cmpd="sng" algn="ctr">
                      <a:solidFill>
                        <a:srgbClr val="D5E2EE"/>
                      </a:solidFill>
                      <a:prstDash val="solid"/>
                      <a:round/>
                      <a:headEnd type="none" w="med" len="med"/>
                      <a:tailEnd type="none" w="med" len="med"/>
                    </a:lnB>
                    <a:solidFill>
                      <a:schemeClr val="accent1"/>
                    </a:solidFill>
                  </a:tcPr>
                </a:tc>
                <a:tc>
                  <a:txBody>
                    <a:bodyPr/>
                    <a:lstStyle/>
                    <a:p>
                      <a:pPr indent="0" marL="0">
                        <a:buNone/>
                      </a:pPr>
                      <a:r>
                        <a:rPr lang="en-US" sz="1300" b="1" dirty="0">
                          <a:solidFill>
                            <a:schemeClr val="bg1"/>
                          </a:solidFill>
                        </a:rPr>
                        <a:t>Edit?</a:t>
                      </a:r>
                      <a:endParaRPr lang="en-US" sz="1300" dirty="0"/>
                    </a:p>
                  </a:txBody>
                  <a:tcPr marL="91440" marR="91440" marT="27432" marB="27432" anchor="ctr">
                    <a:lnL w="6350" cap="flat" cmpd="sng" algn="ctr">
                      <a:solidFill>
                        <a:srgbClr val="D5E2EE"/>
                      </a:solidFill>
                      <a:prstDash val="solid"/>
                      <a:round/>
                      <a:headEnd type="none" w="med" len="med"/>
                      <a:tailEnd type="none" w="med" len="med"/>
                    </a:lnL>
                    <a:lnR w="6350" cap="flat" cmpd="sng" algn="ctr">
                      <a:solidFill>
                        <a:srgbClr val="D5E2EE"/>
                      </a:solidFill>
                      <a:prstDash val="solid"/>
                      <a:round/>
                      <a:headEnd type="none" w="med" len="med"/>
                      <a:tailEnd type="none" w="med" len="med"/>
                    </a:lnR>
                    <a:lnT w="6350" cap="flat" cmpd="sng" algn="ctr">
                      <a:solidFill>
                        <a:srgbClr val="D5E2EE"/>
                      </a:solidFill>
                      <a:prstDash val="solid"/>
                      <a:round/>
                      <a:headEnd type="none" w="med" len="med"/>
                      <a:tailEnd type="none" w="med" len="med"/>
                    </a:lnT>
                    <a:lnB w="6350" cap="flat" cmpd="sng" algn="ctr">
                      <a:solidFill>
                        <a:srgbClr val="D5E2EE"/>
                      </a:solidFill>
                      <a:prstDash val="solid"/>
                      <a:round/>
                      <a:headEnd type="none" w="med" len="med"/>
                      <a:tailEnd type="none" w="med" len="med"/>
                    </a:lnB>
                    <a:solidFill>
                      <a:schemeClr val="accent1"/>
                    </a:solidFill>
                  </a:tcPr>
                </a:tc>
              </a:tr>
              <a:tr h="365760">
                <a:tc>
                  <a:txBody>
                    <a:bodyPr/>
                    <a:lstStyle/>
                    <a:p>
                      <a:pPr indent="0" marL="0">
                        <a:buNone/>
                      </a:pPr>
                      <a:r>
                        <a:rPr lang="en-US" sz="1100" b="1" dirty="0">
                          <a:solidFill>
                            <a:schemeClr val="tx2"/>
                          </a:solidFill>
                          <a:latin typeface="Courier New" pitchFamily="34" charset="0"/>
                          <a:ea typeface="Courier New" pitchFamily="34" charset="-122"/>
                          <a:cs typeface="Courier New" pitchFamily="34" charset="-120"/>
                        </a:rPr>
                        <a:t>analysis_options.yaml</a:t>
                      </a:r>
                      <a:endParaRPr lang="en-US" sz="1100" dirty="0">
                        <a:latin typeface="Courier New" charset="0"/>
                        <a:ea typeface="Courier New" charset="0"/>
                        <a:cs typeface="Courier New" charset="0"/>
                      </a:endParaRPr>
                    </a:p>
                  </a:txBody>
                  <a:tcPr marL="91440" marR="91440" marT="27432" marB="27432" anchor="ctr">
                    <a:lnL w="6350" cap="flat" cmpd="sng" algn="ctr">
                      <a:solidFill>
                        <a:srgbClr val="D5E2EE"/>
                      </a:solidFill>
                      <a:prstDash val="solid"/>
                      <a:round/>
                      <a:headEnd type="none" w="med" len="med"/>
                      <a:tailEnd type="none" w="med" len="med"/>
                    </a:lnL>
                    <a:lnR w="6350" cap="flat" cmpd="sng" algn="ctr">
                      <a:solidFill>
                        <a:srgbClr val="D5E2EE"/>
                      </a:solidFill>
                      <a:prstDash val="solid"/>
                      <a:round/>
                      <a:headEnd type="none" w="med" len="med"/>
                      <a:tailEnd type="none" w="med" len="med"/>
                    </a:lnR>
                    <a:lnT w="6350" cap="flat" cmpd="sng" algn="ctr">
                      <a:solidFill>
                        <a:srgbClr val="D5E2EE"/>
                      </a:solidFill>
                      <a:prstDash val="solid"/>
                      <a:round/>
                      <a:headEnd type="none" w="med" len="med"/>
                      <a:tailEnd type="none" w="med" len="med"/>
                    </a:lnT>
                    <a:lnB w="6350" cap="flat" cmpd="sng" algn="ctr">
                      <a:solidFill>
                        <a:srgbClr val="D5E2EE"/>
                      </a:solidFill>
                      <a:prstDash val="solid"/>
                      <a:round/>
                      <a:headEnd type="none" w="med" len="med"/>
                      <a:tailEnd type="none" w="med" len="med"/>
                    </a:lnB>
                    <a:solidFill>
                      <a:schemeClr val="bg2"/>
                    </a:solidFill>
                  </a:tcPr>
                </a:tc>
                <a:tc>
                  <a:txBody>
                    <a:bodyPr/>
                    <a:lstStyle/>
                    <a:p>
                      <a:pPr indent="0" marL="0">
                        <a:buNone/>
                      </a:pPr>
                      <a:r>
                        <a:rPr lang="en-US" sz="1250" dirty="0">
                          <a:solidFill>
                            <a:schemeClr val="tx1"/>
                          </a:solidFill>
                        </a:rPr>
                        <a:t>Lint rules the analyzer applies (flutter_lints)</a:t>
                      </a:r>
                      <a:endParaRPr lang="en-US" sz="1250" dirty="0"/>
                    </a:p>
                  </a:txBody>
                  <a:tcPr marL="91440" marR="91440" marT="27432" marB="27432" anchor="ctr">
                    <a:lnL w="6350" cap="flat" cmpd="sng" algn="ctr">
                      <a:solidFill>
                        <a:srgbClr val="D5E2EE"/>
                      </a:solidFill>
                      <a:prstDash val="solid"/>
                      <a:round/>
                      <a:headEnd type="none" w="med" len="med"/>
                      <a:tailEnd type="none" w="med" len="med"/>
                    </a:lnL>
                    <a:lnR w="6350" cap="flat" cmpd="sng" algn="ctr">
                      <a:solidFill>
                        <a:srgbClr val="D5E2EE"/>
                      </a:solidFill>
                      <a:prstDash val="solid"/>
                      <a:round/>
                      <a:headEnd type="none" w="med" len="med"/>
                      <a:tailEnd type="none" w="med" len="med"/>
                    </a:lnR>
                    <a:lnT w="6350" cap="flat" cmpd="sng" algn="ctr">
                      <a:solidFill>
                        <a:srgbClr val="D5E2EE"/>
                      </a:solidFill>
                      <a:prstDash val="solid"/>
                      <a:round/>
                      <a:headEnd type="none" w="med" len="med"/>
                      <a:tailEnd type="none" w="med" len="med"/>
                    </a:lnT>
                    <a:lnB w="6350" cap="flat" cmpd="sng" algn="ctr">
                      <a:solidFill>
                        <a:srgbClr val="D5E2EE"/>
                      </a:solidFill>
                      <a:prstDash val="solid"/>
                      <a:round/>
                      <a:headEnd type="none" w="med" len="med"/>
                      <a:tailEnd type="none" w="med" len="med"/>
                    </a:lnB>
                    <a:solidFill>
                      <a:schemeClr val="bg2"/>
                    </a:solidFill>
                  </a:tcPr>
                </a:tc>
                <a:tc>
                  <a:txBody>
                    <a:bodyPr/>
                    <a:lstStyle/>
                    <a:p>
                      <a:pPr indent="0" marL="0">
                        <a:buNone/>
                      </a:pPr>
                      <a:r>
                        <a:rPr lang="en-US" sz="1250" b="1" dirty="0">
                          <a:solidFill>
                            <a:schemeClr val="accent3"/>
                          </a:solidFill>
                        </a:rPr>
                        <a:t>Yes, to tune rules</a:t>
                      </a:r>
                      <a:endParaRPr lang="en-US" sz="1250" dirty="0"/>
                    </a:p>
                  </a:txBody>
                  <a:tcPr marL="91440" marR="91440" marT="27432" marB="27432" anchor="ctr">
                    <a:lnL w="6350" cap="flat" cmpd="sng" algn="ctr">
                      <a:solidFill>
                        <a:srgbClr val="D5E2EE"/>
                      </a:solidFill>
                      <a:prstDash val="solid"/>
                      <a:round/>
                      <a:headEnd type="none" w="med" len="med"/>
                      <a:tailEnd type="none" w="med" len="med"/>
                    </a:lnL>
                    <a:lnR w="6350" cap="flat" cmpd="sng" algn="ctr">
                      <a:solidFill>
                        <a:srgbClr val="D5E2EE"/>
                      </a:solidFill>
                      <a:prstDash val="solid"/>
                      <a:round/>
                      <a:headEnd type="none" w="med" len="med"/>
                      <a:tailEnd type="none" w="med" len="med"/>
                    </a:lnR>
                    <a:lnT w="6350" cap="flat" cmpd="sng" algn="ctr">
                      <a:solidFill>
                        <a:srgbClr val="D5E2EE"/>
                      </a:solidFill>
                      <a:prstDash val="solid"/>
                      <a:round/>
                      <a:headEnd type="none" w="med" len="med"/>
                      <a:tailEnd type="none" w="med" len="med"/>
                    </a:lnT>
                    <a:lnB w="6350" cap="flat" cmpd="sng" algn="ctr">
                      <a:solidFill>
                        <a:srgbClr val="D5E2EE"/>
                      </a:solidFill>
                      <a:prstDash val="solid"/>
                      <a:round/>
                      <a:headEnd type="none" w="med" len="med"/>
                      <a:tailEnd type="none" w="med" len="med"/>
                    </a:lnB>
                    <a:solidFill>
                      <a:schemeClr val="bg2"/>
                    </a:solidFill>
                  </a:tcPr>
                </a:tc>
              </a:tr>
              <a:tr h="365760">
                <a:tc>
                  <a:txBody>
                    <a:bodyPr/>
                    <a:lstStyle/>
                    <a:p>
                      <a:pPr indent="0" marL="0">
                        <a:buNone/>
                      </a:pPr>
                      <a:r>
                        <a:rPr lang="en-US" sz="1100" b="1" dirty="0">
                          <a:solidFill>
                            <a:schemeClr val="tx2"/>
                          </a:solidFill>
                          <a:latin typeface="Courier New" pitchFamily="34" charset="0"/>
                          <a:ea typeface="Courier New" pitchFamily="34" charset="-122"/>
                          <a:cs typeface="Courier New" pitchFamily="34" charset="-120"/>
                        </a:rPr>
                        <a:t>pubspec.lock</a:t>
                      </a:r>
                      <a:endParaRPr lang="en-US" sz="1100" dirty="0">
                        <a:latin typeface="Courier New" charset="0"/>
                        <a:ea typeface="Courier New" charset="0"/>
                        <a:cs typeface="Courier New" charset="0"/>
                      </a:endParaRPr>
                    </a:p>
                  </a:txBody>
                  <a:tcPr marL="91440" marR="91440" marT="27432" marB="27432" anchor="ctr">
                    <a:lnL w="6350" cap="flat" cmpd="sng" algn="ctr">
                      <a:solidFill>
                        <a:srgbClr val="D5E2EE"/>
                      </a:solidFill>
                      <a:prstDash val="solid"/>
                      <a:round/>
                      <a:headEnd type="none" w="med" len="med"/>
                      <a:tailEnd type="none" w="med" len="med"/>
                    </a:lnL>
                    <a:lnR w="6350" cap="flat" cmpd="sng" algn="ctr">
                      <a:solidFill>
                        <a:srgbClr val="D5E2EE"/>
                      </a:solidFill>
                      <a:prstDash val="solid"/>
                      <a:round/>
                      <a:headEnd type="none" w="med" len="med"/>
                      <a:tailEnd type="none" w="med" len="med"/>
                    </a:lnR>
                    <a:lnT w="6350" cap="flat" cmpd="sng" algn="ctr">
                      <a:solidFill>
                        <a:srgbClr val="D5E2EE"/>
                      </a:solidFill>
                      <a:prstDash val="solid"/>
                      <a:round/>
                      <a:headEnd type="none" w="med" len="med"/>
                      <a:tailEnd type="none" w="med" len="med"/>
                    </a:lnT>
                    <a:lnB w="6350" cap="flat" cmpd="sng" algn="ctr">
                      <a:solidFill>
                        <a:srgbClr val="D5E2EE"/>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Exact resolved versions of every package</a:t>
                      </a:r>
                      <a:endParaRPr lang="en-US" sz="1250" dirty="0"/>
                    </a:p>
                  </a:txBody>
                  <a:tcPr marL="91440" marR="91440" marT="27432" marB="27432" anchor="ctr">
                    <a:lnL w="6350" cap="flat" cmpd="sng" algn="ctr">
                      <a:solidFill>
                        <a:srgbClr val="D5E2EE"/>
                      </a:solidFill>
                      <a:prstDash val="solid"/>
                      <a:round/>
                      <a:headEnd type="none" w="med" len="med"/>
                      <a:tailEnd type="none" w="med" len="med"/>
                    </a:lnL>
                    <a:lnR w="6350" cap="flat" cmpd="sng" algn="ctr">
                      <a:solidFill>
                        <a:srgbClr val="D5E2EE"/>
                      </a:solidFill>
                      <a:prstDash val="solid"/>
                      <a:round/>
                      <a:headEnd type="none" w="med" len="med"/>
                      <a:tailEnd type="none" w="med" len="med"/>
                    </a:lnR>
                    <a:lnT w="6350" cap="flat" cmpd="sng" algn="ctr">
                      <a:solidFill>
                        <a:srgbClr val="D5E2EE"/>
                      </a:solidFill>
                      <a:prstDash val="solid"/>
                      <a:round/>
                      <a:headEnd type="none" w="med" len="med"/>
                      <a:tailEnd type="none" w="med" len="med"/>
                    </a:lnT>
                    <a:lnB w="6350" cap="flat" cmpd="sng" algn="ctr">
                      <a:solidFill>
                        <a:srgbClr val="D5E2EE"/>
                      </a:solidFill>
                      <a:prstDash val="solid"/>
                      <a:round/>
                      <a:headEnd type="none" w="med" len="med"/>
                      <a:tailEnd type="none" w="med" len="med"/>
                    </a:lnB>
                    <a:solidFill>
                      <a:schemeClr val="bg1"/>
                    </a:solidFill>
                  </a:tcPr>
                </a:tc>
                <a:tc>
                  <a:txBody>
                    <a:bodyPr/>
                    <a:lstStyle/>
                    <a:p>
                      <a:pPr indent="0" marL="0">
                        <a:buNone/>
                      </a:pPr>
                      <a:r>
                        <a:rPr lang="en-US" sz="1250" b="1" dirty="0">
                          <a:solidFill>
                            <a:schemeClr val="accent5"/>
                          </a:solidFill>
                        </a:rPr>
                        <a:t>No, auto-generated</a:t>
                      </a:r>
                      <a:endParaRPr lang="en-US" sz="1250" dirty="0"/>
                    </a:p>
                  </a:txBody>
                  <a:tcPr marL="91440" marR="91440" marT="27432" marB="27432" anchor="ctr">
                    <a:lnL w="6350" cap="flat" cmpd="sng" algn="ctr">
                      <a:solidFill>
                        <a:srgbClr val="D5E2EE"/>
                      </a:solidFill>
                      <a:prstDash val="solid"/>
                      <a:round/>
                      <a:headEnd type="none" w="med" len="med"/>
                      <a:tailEnd type="none" w="med" len="med"/>
                    </a:lnL>
                    <a:lnR w="6350" cap="flat" cmpd="sng" algn="ctr">
                      <a:solidFill>
                        <a:srgbClr val="D5E2EE"/>
                      </a:solidFill>
                      <a:prstDash val="solid"/>
                      <a:round/>
                      <a:headEnd type="none" w="med" len="med"/>
                      <a:tailEnd type="none" w="med" len="med"/>
                    </a:lnR>
                    <a:lnT w="6350" cap="flat" cmpd="sng" algn="ctr">
                      <a:solidFill>
                        <a:srgbClr val="D5E2EE"/>
                      </a:solidFill>
                      <a:prstDash val="solid"/>
                      <a:round/>
                      <a:headEnd type="none" w="med" len="med"/>
                      <a:tailEnd type="none" w="med" len="med"/>
                    </a:lnT>
                    <a:lnB w="6350" cap="flat" cmpd="sng" algn="ctr">
                      <a:solidFill>
                        <a:srgbClr val="D5E2EE"/>
                      </a:solidFill>
                      <a:prstDash val="solid"/>
                      <a:round/>
                      <a:headEnd type="none" w="med" len="med"/>
                      <a:tailEnd type="none" w="med" len="med"/>
                    </a:lnB>
                    <a:solidFill>
                      <a:schemeClr val="bg1"/>
                    </a:solidFill>
                  </a:tcPr>
                </a:tc>
              </a:tr>
              <a:tr h="365760">
                <a:tc>
                  <a:txBody>
                    <a:bodyPr/>
                    <a:lstStyle/>
                    <a:p>
                      <a:pPr indent="0" marL="0">
                        <a:buNone/>
                      </a:pPr>
                      <a:r>
                        <a:rPr lang="en-US" sz="1100" b="1" dirty="0">
                          <a:solidFill>
                            <a:schemeClr val="tx2"/>
                          </a:solidFill>
                          <a:latin typeface="Courier New" pitchFamily="34" charset="0"/>
                          <a:ea typeface="Courier New" pitchFamily="34" charset="-122"/>
                          <a:cs typeface="Courier New" pitchFamily="34" charset="-120"/>
                        </a:rPr>
                        <a:t>.metadata</a:t>
                      </a:r>
                      <a:endParaRPr lang="en-US" sz="1100" dirty="0">
                        <a:latin typeface="Courier New" charset="0"/>
                        <a:ea typeface="Courier New" charset="0"/>
                        <a:cs typeface="Courier New" charset="0"/>
                      </a:endParaRPr>
                    </a:p>
                  </a:txBody>
                  <a:tcPr marL="91440" marR="91440" marT="27432" marB="27432" anchor="ctr">
                    <a:lnL w="6350" cap="flat" cmpd="sng" algn="ctr">
                      <a:solidFill>
                        <a:srgbClr val="D5E2EE"/>
                      </a:solidFill>
                      <a:prstDash val="solid"/>
                      <a:round/>
                      <a:headEnd type="none" w="med" len="med"/>
                      <a:tailEnd type="none" w="med" len="med"/>
                    </a:lnL>
                    <a:lnR w="6350" cap="flat" cmpd="sng" algn="ctr">
                      <a:solidFill>
                        <a:srgbClr val="D5E2EE"/>
                      </a:solidFill>
                      <a:prstDash val="solid"/>
                      <a:round/>
                      <a:headEnd type="none" w="med" len="med"/>
                      <a:tailEnd type="none" w="med" len="med"/>
                    </a:lnR>
                    <a:lnT w="6350" cap="flat" cmpd="sng" algn="ctr">
                      <a:solidFill>
                        <a:srgbClr val="D5E2EE"/>
                      </a:solidFill>
                      <a:prstDash val="solid"/>
                      <a:round/>
                      <a:headEnd type="none" w="med" len="med"/>
                      <a:tailEnd type="none" w="med" len="med"/>
                    </a:lnT>
                    <a:lnB w="6350" cap="flat" cmpd="sng" algn="ctr">
                      <a:solidFill>
                        <a:srgbClr val="D5E2EE"/>
                      </a:solidFill>
                      <a:prstDash val="solid"/>
                      <a:round/>
                      <a:headEnd type="none" w="med" len="med"/>
                      <a:tailEnd type="none" w="med" len="med"/>
                    </a:lnB>
                    <a:solidFill>
                      <a:schemeClr val="bg2"/>
                    </a:solidFill>
                  </a:tcPr>
                </a:tc>
                <a:tc>
                  <a:txBody>
                    <a:bodyPr/>
                    <a:lstStyle/>
                    <a:p>
                      <a:pPr indent="0" marL="0">
                        <a:buNone/>
                      </a:pPr>
                      <a:r>
                        <a:rPr lang="en-US" sz="1250" dirty="0">
                          <a:solidFill>
                            <a:schemeClr val="tx1"/>
                          </a:solidFill>
                        </a:rPr>
                        <a:t>Tracks the Flutter revision, used for upgrades</a:t>
                      </a:r>
                      <a:endParaRPr lang="en-US" sz="1250" dirty="0"/>
                    </a:p>
                  </a:txBody>
                  <a:tcPr marL="91440" marR="91440" marT="27432" marB="27432" anchor="ctr">
                    <a:lnL w="6350" cap="flat" cmpd="sng" algn="ctr">
                      <a:solidFill>
                        <a:srgbClr val="D5E2EE"/>
                      </a:solidFill>
                      <a:prstDash val="solid"/>
                      <a:round/>
                      <a:headEnd type="none" w="med" len="med"/>
                      <a:tailEnd type="none" w="med" len="med"/>
                    </a:lnL>
                    <a:lnR w="6350" cap="flat" cmpd="sng" algn="ctr">
                      <a:solidFill>
                        <a:srgbClr val="D5E2EE"/>
                      </a:solidFill>
                      <a:prstDash val="solid"/>
                      <a:round/>
                      <a:headEnd type="none" w="med" len="med"/>
                      <a:tailEnd type="none" w="med" len="med"/>
                    </a:lnR>
                    <a:lnT w="6350" cap="flat" cmpd="sng" algn="ctr">
                      <a:solidFill>
                        <a:srgbClr val="D5E2EE"/>
                      </a:solidFill>
                      <a:prstDash val="solid"/>
                      <a:round/>
                      <a:headEnd type="none" w="med" len="med"/>
                      <a:tailEnd type="none" w="med" len="med"/>
                    </a:lnT>
                    <a:lnB w="6350" cap="flat" cmpd="sng" algn="ctr">
                      <a:solidFill>
                        <a:srgbClr val="D5E2EE"/>
                      </a:solidFill>
                      <a:prstDash val="solid"/>
                      <a:round/>
                      <a:headEnd type="none" w="med" len="med"/>
                      <a:tailEnd type="none" w="med" len="med"/>
                    </a:lnB>
                    <a:solidFill>
                      <a:schemeClr val="bg2"/>
                    </a:solidFill>
                  </a:tcPr>
                </a:tc>
                <a:tc>
                  <a:txBody>
                    <a:bodyPr/>
                    <a:lstStyle/>
                    <a:p>
                      <a:pPr indent="0" marL="0">
                        <a:buNone/>
                      </a:pPr>
                      <a:r>
                        <a:rPr lang="en-US" sz="1250" b="1" dirty="0">
                          <a:solidFill>
                            <a:schemeClr val="accent5"/>
                          </a:solidFill>
                        </a:rPr>
                        <a:t>No</a:t>
                      </a:r>
                      <a:endParaRPr lang="en-US" sz="1250" dirty="0"/>
                    </a:p>
                  </a:txBody>
                  <a:tcPr marL="91440" marR="91440" marT="27432" marB="27432" anchor="ctr">
                    <a:lnL w="6350" cap="flat" cmpd="sng" algn="ctr">
                      <a:solidFill>
                        <a:srgbClr val="D5E2EE"/>
                      </a:solidFill>
                      <a:prstDash val="solid"/>
                      <a:round/>
                      <a:headEnd type="none" w="med" len="med"/>
                      <a:tailEnd type="none" w="med" len="med"/>
                    </a:lnL>
                    <a:lnR w="6350" cap="flat" cmpd="sng" algn="ctr">
                      <a:solidFill>
                        <a:srgbClr val="D5E2EE"/>
                      </a:solidFill>
                      <a:prstDash val="solid"/>
                      <a:round/>
                      <a:headEnd type="none" w="med" len="med"/>
                      <a:tailEnd type="none" w="med" len="med"/>
                    </a:lnR>
                    <a:lnT w="6350" cap="flat" cmpd="sng" algn="ctr">
                      <a:solidFill>
                        <a:srgbClr val="D5E2EE"/>
                      </a:solidFill>
                      <a:prstDash val="solid"/>
                      <a:round/>
                      <a:headEnd type="none" w="med" len="med"/>
                      <a:tailEnd type="none" w="med" len="med"/>
                    </a:lnT>
                    <a:lnB w="6350" cap="flat" cmpd="sng" algn="ctr">
                      <a:solidFill>
                        <a:srgbClr val="D5E2EE"/>
                      </a:solidFill>
                      <a:prstDash val="solid"/>
                      <a:round/>
                      <a:headEnd type="none" w="med" len="med"/>
                      <a:tailEnd type="none" w="med" len="med"/>
                    </a:lnB>
                    <a:solidFill>
                      <a:schemeClr val="bg2"/>
                    </a:solidFill>
                  </a:tcPr>
                </a:tc>
              </a:tr>
              <a:tr h="365760">
                <a:tc>
                  <a:txBody>
                    <a:bodyPr/>
                    <a:lstStyle/>
                    <a:p>
                      <a:pPr indent="0" marL="0">
                        <a:buNone/>
                      </a:pPr>
                      <a:r>
                        <a:rPr lang="en-US" sz="1100" b="1" dirty="0">
                          <a:solidFill>
                            <a:schemeClr val="tx2"/>
                          </a:solidFill>
                          <a:latin typeface="Courier New" pitchFamily="34" charset="0"/>
                          <a:ea typeface="Courier New" pitchFamily="34" charset="-122"/>
                          <a:cs typeface="Courier New" pitchFamily="34" charset="-120"/>
                        </a:rPr>
                        <a:t>.gitignore</a:t>
                      </a:r>
                      <a:endParaRPr lang="en-US" sz="1100" dirty="0">
                        <a:latin typeface="Courier New" charset="0"/>
                        <a:ea typeface="Courier New" charset="0"/>
                        <a:cs typeface="Courier New" charset="0"/>
                      </a:endParaRPr>
                    </a:p>
                  </a:txBody>
                  <a:tcPr marL="91440" marR="91440" marT="27432" marB="27432" anchor="ctr">
                    <a:lnL w="6350" cap="flat" cmpd="sng" algn="ctr">
                      <a:solidFill>
                        <a:srgbClr val="D5E2EE"/>
                      </a:solidFill>
                      <a:prstDash val="solid"/>
                      <a:round/>
                      <a:headEnd type="none" w="med" len="med"/>
                      <a:tailEnd type="none" w="med" len="med"/>
                    </a:lnL>
                    <a:lnR w="6350" cap="flat" cmpd="sng" algn="ctr">
                      <a:solidFill>
                        <a:srgbClr val="D5E2EE"/>
                      </a:solidFill>
                      <a:prstDash val="solid"/>
                      <a:round/>
                      <a:headEnd type="none" w="med" len="med"/>
                      <a:tailEnd type="none" w="med" len="med"/>
                    </a:lnR>
                    <a:lnT w="6350" cap="flat" cmpd="sng" algn="ctr">
                      <a:solidFill>
                        <a:srgbClr val="D5E2EE"/>
                      </a:solidFill>
                      <a:prstDash val="solid"/>
                      <a:round/>
                      <a:headEnd type="none" w="med" len="med"/>
                      <a:tailEnd type="none" w="med" len="med"/>
                    </a:lnT>
                    <a:lnB w="6350" cap="flat" cmpd="sng" algn="ctr">
                      <a:solidFill>
                        <a:srgbClr val="D5E2EE"/>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Files Git ignores (build/, .dart_tool/ …)</a:t>
                      </a:r>
                      <a:endParaRPr lang="en-US" sz="1250" dirty="0"/>
                    </a:p>
                  </a:txBody>
                  <a:tcPr marL="91440" marR="91440" marT="27432" marB="27432" anchor="ctr">
                    <a:lnL w="6350" cap="flat" cmpd="sng" algn="ctr">
                      <a:solidFill>
                        <a:srgbClr val="D5E2EE"/>
                      </a:solidFill>
                      <a:prstDash val="solid"/>
                      <a:round/>
                      <a:headEnd type="none" w="med" len="med"/>
                      <a:tailEnd type="none" w="med" len="med"/>
                    </a:lnL>
                    <a:lnR w="6350" cap="flat" cmpd="sng" algn="ctr">
                      <a:solidFill>
                        <a:srgbClr val="D5E2EE"/>
                      </a:solidFill>
                      <a:prstDash val="solid"/>
                      <a:round/>
                      <a:headEnd type="none" w="med" len="med"/>
                      <a:tailEnd type="none" w="med" len="med"/>
                    </a:lnR>
                    <a:lnT w="6350" cap="flat" cmpd="sng" algn="ctr">
                      <a:solidFill>
                        <a:srgbClr val="D5E2EE"/>
                      </a:solidFill>
                      <a:prstDash val="solid"/>
                      <a:round/>
                      <a:headEnd type="none" w="med" len="med"/>
                      <a:tailEnd type="none" w="med" len="med"/>
                    </a:lnT>
                    <a:lnB w="6350" cap="flat" cmpd="sng" algn="ctr">
                      <a:solidFill>
                        <a:srgbClr val="D5E2EE"/>
                      </a:solidFill>
                      <a:prstDash val="solid"/>
                      <a:round/>
                      <a:headEnd type="none" w="med" len="med"/>
                      <a:tailEnd type="none" w="med" len="med"/>
                    </a:lnB>
                    <a:solidFill>
                      <a:schemeClr val="bg1"/>
                    </a:solidFill>
                  </a:tcPr>
                </a:tc>
                <a:tc>
                  <a:txBody>
                    <a:bodyPr/>
                    <a:lstStyle/>
                    <a:p>
                      <a:pPr indent="0" marL="0">
                        <a:buNone/>
                      </a:pPr>
                      <a:r>
                        <a:rPr lang="en-US" sz="1250" b="1" dirty="0">
                          <a:solidFill>
                            <a:schemeClr val="accent4"/>
                          </a:solidFill>
                        </a:rPr>
                        <a:t>Rarely</a:t>
                      </a:r>
                      <a:endParaRPr lang="en-US" sz="1250" dirty="0"/>
                    </a:p>
                  </a:txBody>
                  <a:tcPr marL="91440" marR="91440" marT="27432" marB="27432" anchor="ctr">
                    <a:lnL w="6350" cap="flat" cmpd="sng" algn="ctr">
                      <a:solidFill>
                        <a:srgbClr val="D5E2EE"/>
                      </a:solidFill>
                      <a:prstDash val="solid"/>
                      <a:round/>
                      <a:headEnd type="none" w="med" len="med"/>
                      <a:tailEnd type="none" w="med" len="med"/>
                    </a:lnL>
                    <a:lnR w="6350" cap="flat" cmpd="sng" algn="ctr">
                      <a:solidFill>
                        <a:srgbClr val="D5E2EE"/>
                      </a:solidFill>
                      <a:prstDash val="solid"/>
                      <a:round/>
                      <a:headEnd type="none" w="med" len="med"/>
                      <a:tailEnd type="none" w="med" len="med"/>
                    </a:lnR>
                    <a:lnT w="6350" cap="flat" cmpd="sng" algn="ctr">
                      <a:solidFill>
                        <a:srgbClr val="D5E2EE"/>
                      </a:solidFill>
                      <a:prstDash val="solid"/>
                      <a:round/>
                      <a:headEnd type="none" w="med" len="med"/>
                      <a:tailEnd type="none" w="med" len="med"/>
                    </a:lnT>
                    <a:lnB w="6350" cap="flat" cmpd="sng" algn="ctr">
                      <a:solidFill>
                        <a:srgbClr val="D5E2EE"/>
                      </a:solidFill>
                      <a:prstDash val="solid"/>
                      <a:round/>
                      <a:headEnd type="none" w="med" len="med"/>
                      <a:tailEnd type="none" w="med" len="med"/>
                    </a:lnB>
                    <a:solidFill>
                      <a:schemeClr val="bg1"/>
                    </a:solidFill>
                  </a:tcPr>
                </a:tc>
              </a:tr>
              <a:tr h="365760">
                <a:tc>
                  <a:txBody>
                    <a:bodyPr/>
                    <a:lstStyle/>
                    <a:p>
                      <a:pPr indent="0" marL="0">
                        <a:buNone/>
                      </a:pPr>
                      <a:r>
                        <a:rPr lang="en-US" sz="1100" b="1" dirty="0">
                          <a:solidFill>
                            <a:schemeClr val="tx2"/>
                          </a:solidFill>
                          <a:latin typeface="Courier New" pitchFamily="34" charset="0"/>
                          <a:ea typeface="Courier New" pitchFamily="34" charset="-122"/>
                          <a:cs typeface="Courier New" pitchFamily="34" charset="-120"/>
                        </a:rPr>
                        <a:t>README.md</a:t>
                      </a:r>
                      <a:endParaRPr lang="en-US" sz="1100" dirty="0">
                        <a:latin typeface="Courier New" charset="0"/>
                        <a:ea typeface="Courier New" charset="0"/>
                        <a:cs typeface="Courier New" charset="0"/>
                      </a:endParaRPr>
                    </a:p>
                  </a:txBody>
                  <a:tcPr marL="91440" marR="91440" marT="27432" marB="27432" anchor="ctr">
                    <a:lnL w="6350" cap="flat" cmpd="sng" algn="ctr">
                      <a:solidFill>
                        <a:srgbClr val="D5E2EE"/>
                      </a:solidFill>
                      <a:prstDash val="solid"/>
                      <a:round/>
                      <a:headEnd type="none" w="med" len="med"/>
                      <a:tailEnd type="none" w="med" len="med"/>
                    </a:lnL>
                    <a:lnR w="6350" cap="flat" cmpd="sng" algn="ctr">
                      <a:solidFill>
                        <a:srgbClr val="D5E2EE"/>
                      </a:solidFill>
                      <a:prstDash val="solid"/>
                      <a:round/>
                      <a:headEnd type="none" w="med" len="med"/>
                      <a:tailEnd type="none" w="med" len="med"/>
                    </a:lnR>
                    <a:lnT w="6350" cap="flat" cmpd="sng" algn="ctr">
                      <a:solidFill>
                        <a:srgbClr val="D5E2EE"/>
                      </a:solidFill>
                      <a:prstDash val="solid"/>
                      <a:round/>
                      <a:headEnd type="none" w="med" len="med"/>
                      <a:tailEnd type="none" w="med" len="med"/>
                    </a:lnT>
                    <a:lnB w="6350" cap="flat" cmpd="sng" algn="ctr">
                      <a:solidFill>
                        <a:srgbClr val="D5E2EE"/>
                      </a:solidFill>
                      <a:prstDash val="solid"/>
                      <a:round/>
                      <a:headEnd type="none" w="med" len="med"/>
                      <a:tailEnd type="none" w="med" len="med"/>
                    </a:lnB>
                    <a:solidFill>
                      <a:schemeClr val="bg2"/>
                    </a:solidFill>
                  </a:tcPr>
                </a:tc>
                <a:tc>
                  <a:txBody>
                    <a:bodyPr/>
                    <a:lstStyle/>
                    <a:p>
                      <a:pPr indent="0" marL="0">
                        <a:buNone/>
                      </a:pPr>
                      <a:r>
                        <a:rPr lang="en-US" sz="1250" dirty="0">
                          <a:solidFill>
                            <a:schemeClr val="tx1"/>
                          </a:solidFill>
                        </a:rPr>
                        <a:t>Project description for GitHub</a:t>
                      </a:r>
                      <a:endParaRPr lang="en-US" sz="1250" dirty="0"/>
                    </a:p>
                  </a:txBody>
                  <a:tcPr marL="91440" marR="91440" marT="27432" marB="27432" anchor="ctr">
                    <a:lnL w="6350" cap="flat" cmpd="sng" algn="ctr">
                      <a:solidFill>
                        <a:srgbClr val="D5E2EE"/>
                      </a:solidFill>
                      <a:prstDash val="solid"/>
                      <a:round/>
                      <a:headEnd type="none" w="med" len="med"/>
                      <a:tailEnd type="none" w="med" len="med"/>
                    </a:lnL>
                    <a:lnR w="6350" cap="flat" cmpd="sng" algn="ctr">
                      <a:solidFill>
                        <a:srgbClr val="D5E2EE"/>
                      </a:solidFill>
                      <a:prstDash val="solid"/>
                      <a:round/>
                      <a:headEnd type="none" w="med" len="med"/>
                      <a:tailEnd type="none" w="med" len="med"/>
                    </a:lnR>
                    <a:lnT w="6350" cap="flat" cmpd="sng" algn="ctr">
                      <a:solidFill>
                        <a:srgbClr val="D5E2EE"/>
                      </a:solidFill>
                      <a:prstDash val="solid"/>
                      <a:round/>
                      <a:headEnd type="none" w="med" len="med"/>
                      <a:tailEnd type="none" w="med" len="med"/>
                    </a:lnT>
                    <a:lnB w="6350" cap="flat" cmpd="sng" algn="ctr">
                      <a:solidFill>
                        <a:srgbClr val="D5E2EE"/>
                      </a:solidFill>
                      <a:prstDash val="solid"/>
                      <a:round/>
                      <a:headEnd type="none" w="med" len="med"/>
                      <a:tailEnd type="none" w="med" len="med"/>
                    </a:lnB>
                    <a:solidFill>
                      <a:schemeClr val="bg2"/>
                    </a:solidFill>
                  </a:tcPr>
                </a:tc>
                <a:tc>
                  <a:txBody>
                    <a:bodyPr/>
                    <a:lstStyle/>
                    <a:p>
                      <a:pPr indent="0" marL="0">
                        <a:buNone/>
                      </a:pPr>
                      <a:r>
                        <a:rPr lang="en-US" sz="1250" b="1" dirty="0">
                          <a:solidFill>
                            <a:schemeClr val="accent3"/>
                          </a:solidFill>
                        </a:rPr>
                        <a:t>Yes</a:t>
                      </a:r>
                      <a:endParaRPr lang="en-US" sz="1250" dirty="0"/>
                    </a:p>
                  </a:txBody>
                  <a:tcPr marL="91440" marR="91440" marT="27432" marB="27432" anchor="ctr">
                    <a:lnL w="6350" cap="flat" cmpd="sng" algn="ctr">
                      <a:solidFill>
                        <a:srgbClr val="D5E2EE"/>
                      </a:solidFill>
                      <a:prstDash val="solid"/>
                      <a:round/>
                      <a:headEnd type="none" w="med" len="med"/>
                      <a:tailEnd type="none" w="med" len="med"/>
                    </a:lnL>
                    <a:lnR w="6350" cap="flat" cmpd="sng" algn="ctr">
                      <a:solidFill>
                        <a:srgbClr val="D5E2EE"/>
                      </a:solidFill>
                      <a:prstDash val="solid"/>
                      <a:round/>
                      <a:headEnd type="none" w="med" len="med"/>
                      <a:tailEnd type="none" w="med" len="med"/>
                    </a:lnR>
                    <a:lnT w="6350" cap="flat" cmpd="sng" algn="ctr">
                      <a:solidFill>
                        <a:srgbClr val="D5E2EE"/>
                      </a:solidFill>
                      <a:prstDash val="solid"/>
                      <a:round/>
                      <a:headEnd type="none" w="med" len="med"/>
                      <a:tailEnd type="none" w="med" len="med"/>
                    </a:lnT>
                    <a:lnB w="6350" cap="flat" cmpd="sng" algn="ctr">
                      <a:solidFill>
                        <a:srgbClr val="D5E2EE"/>
                      </a:solidFill>
                      <a:prstDash val="solid"/>
                      <a:round/>
                      <a:headEnd type="none" w="med" len="med"/>
                      <a:tailEnd type="none" w="med" len="med"/>
                    </a:lnB>
                    <a:solidFill>
                      <a:schemeClr val="bg2"/>
                    </a:solidFill>
                  </a:tcPr>
                </a:tc>
              </a:tr>
              <a:tr h="365760">
                <a:tc>
                  <a:txBody>
                    <a:bodyPr/>
                    <a:lstStyle/>
                    <a:p>
                      <a:pPr indent="0" marL="0">
                        <a:buNone/>
                      </a:pPr>
                      <a:r>
                        <a:rPr lang="en-US" sz="1100" b="1" dirty="0">
                          <a:solidFill>
                            <a:schemeClr val="tx2"/>
                          </a:solidFill>
                          <a:latin typeface="Courier New" pitchFamily="34" charset="0"/>
                          <a:ea typeface="Courier New" pitchFamily="34" charset="-122"/>
                          <a:cs typeface="Courier New" pitchFamily="34" charset="-120"/>
                        </a:rPr>
                        <a:t>.dart_tool/</a:t>
                      </a:r>
                      <a:endParaRPr lang="en-US" sz="1100" dirty="0">
                        <a:latin typeface="Courier New" charset="0"/>
                        <a:ea typeface="Courier New" charset="0"/>
                        <a:cs typeface="Courier New" charset="0"/>
                      </a:endParaRPr>
                    </a:p>
                  </a:txBody>
                  <a:tcPr marL="91440" marR="91440" marT="27432" marB="27432" anchor="ctr">
                    <a:lnL w="6350" cap="flat" cmpd="sng" algn="ctr">
                      <a:solidFill>
                        <a:srgbClr val="D5E2EE"/>
                      </a:solidFill>
                      <a:prstDash val="solid"/>
                      <a:round/>
                      <a:headEnd type="none" w="med" len="med"/>
                      <a:tailEnd type="none" w="med" len="med"/>
                    </a:lnL>
                    <a:lnR w="6350" cap="flat" cmpd="sng" algn="ctr">
                      <a:solidFill>
                        <a:srgbClr val="D5E2EE"/>
                      </a:solidFill>
                      <a:prstDash val="solid"/>
                      <a:round/>
                      <a:headEnd type="none" w="med" len="med"/>
                      <a:tailEnd type="none" w="med" len="med"/>
                    </a:lnR>
                    <a:lnT w="6350" cap="flat" cmpd="sng" algn="ctr">
                      <a:solidFill>
                        <a:srgbClr val="D5E2EE"/>
                      </a:solidFill>
                      <a:prstDash val="solid"/>
                      <a:round/>
                      <a:headEnd type="none" w="med" len="med"/>
                      <a:tailEnd type="none" w="med" len="med"/>
                    </a:lnT>
                    <a:lnB w="6350" cap="flat" cmpd="sng" algn="ctr">
                      <a:solidFill>
                        <a:srgbClr val="D5E2EE"/>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Package config and build cache</a:t>
                      </a:r>
                      <a:endParaRPr lang="en-US" sz="1250" dirty="0"/>
                    </a:p>
                  </a:txBody>
                  <a:tcPr marL="91440" marR="91440" marT="27432" marB="27432" anchor="ctr">
                    <a:lnL w="6350" cap="flat" cmpd="sng" algn="ctr">
                      <a:solidFill>
                        <a:srgbClr val="D5E2EE"/>
                      </a:solidFill>
                      <a:prstDash val="solid"/>
                      <a:round/>
                      <a:headEnd type="none" w="med" len="med"/>
                      <a:tailEnd type="none" w="med" len="med"/>
                    </a:lnL>
                    <a:lnR w="6350" cap="flat" cmpd="sng" algn="ctr">
                      <a:solidFill>
                        <a:srgbClr val="D5E2EE"/>
                      </a:solidFill>
                      <a:prstDash val="solid"/>
                      <a:round/>
                      <a:headEnd type="none" w="med" len="med"/>
                      <a:tailEnd type="none" w="med" len="med"/>
                    </a:lnR>
                    <a:lnT w="6350" cap="flat" cmpd="sng" algn="ctr">
                      <a:solidFill>
                        <a:srgbClr val="D5E2EE"/>
                      </a:solidFill>
                      <a:prstDash val="solid"/>
                      <a:round/>
                      <a:headEnd type="none" w="med" len="med"/>
                      <a:tailEnd type="none" w="med" len="med"/>
                    </a:lnT>
                    <a:lnB w="6350" cap="flat" cmpd="sng" algn="ctr">
                      <a:solidFill>
                        <a:srgbClr val="D5E2EE"/>
                      </a:solidFill>
                      <a:prstDash val="solid"/>
                      <a:round/>
                      <a:headEnd type="none" w="med" len="med"/>
                      <a:tailEnd type="none" w="med" len="med"/>
                    </a:lnB>
                    <a:solidFill>
                      <a:schemeClr val="bg1"/>
                    </a:solidFill>
                  </a:tcPr>
                </a:tc>
                <a:tc>
                  <a:txBody>
                    <a:bodyPr/>
                    <a:lstStyle/>
                    <a:p>
                      <a:pPr indent="0" marL="0">
                        <a:buNone/>
                      </a:pPr>
                      <a:r>
                        <a:rPr lang="en-US" sz="1250" b="1" dirty="0">
                          <a:solidFill>
                            <a:schemeClr val="accent5"/>
                          </a:solidFill>
                        </a:rPr>
                        <a:t>No</a:t>
                      </a:r>
                      <a:endParaRPr lang="en-US" sz="1250" dirty="0"/>
                    </a:p>
                  </a:txBody>
                  <a:tcPr marL="91440" marR="91440" marT="27432" marB="27432" anchor="ctr">
                    <a:lnL w="6350" cap="flat" cmpd="sng" algn="ctr">
                      <a:solidFill>
                        <a:srgbClr val="D5E2EE"/>
                      </a:solidFill>
                      <a:prstDash val="solid"/>
                      <a:round/>
                      <a:headEnd type="none" w="med" len="med"/>
                      <a:tailEnd type="none" w="med" len="med"/>
                    </a:lnL>
                    <a:lnR w="6350" cap="flat" cmpd="sng" algn="ctr">
                      <a:solidFill>
                        <a:srgbClr val="D5E2EE"/>
                      </a:solidFill>
                      <a:prstDash val="solid"/>
                      <a:round/>
                      <a:headEnd type="none" w="med" len="med"/>
                      <a:tailEnd type="none" w="med" len="med"/>
                    </a:lnR>
                    <a:lnT w="6350" cap="flat" cmpd="sng" algn="ctr">
                      <a:solidFill>
                        <a:srgbClr val="D5E2EE"/>
                      </a:solidFill>
                      <a:prstDash val="solid"/>
                      <a:round/>
                      <a:headEnd type="none" w="med" len="med"/>
                      <a:tailEnd type="none" w="med" len="med"/>
                    </a:lnT>
                    <a:lnB w="6350" cap="flat" cmpd="sng" algn="ctr">
                      <a:solidFill>
                        <a:srgbClr val="D5E2EE"/>
                      </a:solidFill>
                      <a:prstDash val="solid"/>
                      <a:round/>
                      <a:headEnd type="none" w="med" len="med"/>
                      <a:tailEnd type="none" w="med" len="med"/>
                    </a:lnB>
                    <a:solidFill>
                      <a:schemeClr val="bg1"/>
                    </a:solidFill>
                  </a:tcPr>
                </a:tc>
              </a:tr>
              <a:tr h="365760">
                <a:tc>
                  <a:txBody>
                    <a:bodyPr/>
                    <a:lstStyle/>
                    <a:p>
                      <a:pPr indent="0" marL="0">
                        <a:buNone/>
                      </a:pPr>
                      <a:r>
                        <a:rPr lang="en-US" sz="1100" b="1" dirty="0">
                          <a:solidFill>
                            <a:schemeClr val="tx2"/>
                          </a:solidFill>
                          <a:latin typeface="Courier New" pitchFamily="34" charset="0"/>
                          <a:ea typeface="Courier New" pitchFamily="34" charset="-122"/>
                          <a:cs typeface="Courier New" pitchFamily="34" charset="-120"/>
                        </a:rPr>
                        <a:t>build/</a:t>
                      </a:r>
                      <a:endParaRPr lang="en-US" sz="1100" dirty="0">
                        <a:latin typeface="Courier New" charset="0"/>
                        <a:ea typeface="Courier New" charset="0"/>
                        <a:cs typeface="Courier New" charset="0"/>
                      </a:endParaRPr>
                    </a:p>
                  </a:txBody>
                  <a:tcPr marL="91440" marR="91440" marT="27432" marB="27432" anchor="ctr">
                    <a:lnL w="6350" cap="flat" cmpd="sng" algn="ctr">
                      <a:solidFill>
                        <a:srgbClr val="D5E2EE"/>
                      </a:solidFill>
                      <a:prstDash val="solid"/>
                      <a:round/>
                      <a:headEnd type="none" w="med" len="med"/>
                      <a:tailEnd type="none" w="med" len="med"/>
                    </a:lnL>
                    <a:lnR w="6350" cap="flat" cmpd="sng" algn="ctr">
                      <a:solidFill>
                        <a:srgbClr val="D5E2EE"/>
                      </a:solidFill>
                      <a:prstDash val="solid"/>
                      <a:round/>
                      <a:headEnd type="none" w="med" len="med"/>
                      <a:tailEnd type="none" w="med" len="med"/>
                    </a:lnR>
                    <a:lnT w="6350" cap="flat" cmpd="sng" algn="ctr">
                      <a:solidFill>
                        <a:srgbClr val="D5E2EE"/>
                      </a:solidFill>
                      <a:prstDash val="solid"/>
                      <a:round/>
                      <a:headEnd type="none" w="med" len="med"/>
                      <a:tailEnd type="none" w="med" len="med"/>
                    </a:lnT>
                    <a:lnB w="6350" cap="flat" cmpd="sng" algn="ctr">
                      <a:solidFill>
                        <a:srgbClr val="D5E2EE"/>
                      </a:solidFill>
                      <a:prstDash val="solid"/>
                      <a:round/>
                      <a:headEnd type="none" w="med" len="med"/>
                      <a:tailEnd type="none" w="med" len="med"/>
                    </a:lnB>
                    <a:solidFill>
                      <a:schemeClr val="bg2"/>
                    </a:solidFill>
                  </a:tcPr>
                </a:tc>
                <a:tc>
                  <a:txBody>
                    <a:bodyPr/>
                    <a:lstStyle/>
                    <a:p>
                      <a:pPr indent="0" marL="0">
                        <a:buNone/>
                      </a:pPr>
                      <a:r>
                        <a:rPr lang="en-US" sz="1250" dirty="0">
                          <a:solidFill>
                            <a:schemeClr val="tx1"/>
                          </a:solidFill>
                        </a:rPr>
                        <a:t>Compiled output, e.g. the release APK</a:t>
                      </a:r>
                      <a:endParaRPr lang="en-US" sz="1250" dirty="0"/>
                    </a:p>
                  </a:txBody>
                  <a:tcPr marL="91440" marR="91440" marT="27432" marB="27432" anchor="ctr">
                    <a:lnL w="6350" cap="flat" cmpd="sng" algn="ctr">
                      <a:solidFill>
                        <a:srgbClr val="D5E2EE"/>
                      </a:solidFill>
                      <a:prstDash val="solid"/>
                      <a:round/>
                      <a:headEnd type="none" w="med" len="med"/>
                      <a:tailEnd type="none" w="med" len="med"/>
                    </a:lnL>
                    <a:lnR w="6350" cap="flat" cmpd="sng" algn="ctr">
                      <a:solidFill>
                        <a:srgbClr val="D5E2EE"/>
                      </a:solidFill>
                      <a:prstDash val="solid"/>
                      <a:round/>
                      <a:headEnd type="none" w="med" len="med"/>
                      <a:tailEnd type="none" w="med" len="med"/>
                    </a:lnR>
                    <a:lnT w="6350" cap="flat" cmpd="sng" algn="ctr">
                      <a:solidFill>
                        <a:srgbClr val="D5E2EE"/>
                      </a:solidFill>
                      <a:prstDash val="solid"/>
                      <a:round/>
                      <a:headEnd type="none" w="med" len="med"/>
                      <a:tailEnd type="none" w="med" len="med"/>
                    </a:lnT>
                    <a:lnB w="6350" cap="flat" cmpd="sng" algn="ctr">
                      <a:solidFill>
                        <a:srgbClr val="D5E2EE"/>
                      </a:solidFill>
                      <a:prstDash val="solid"/>
                      <a:round/>
                      <a:headEnd type="none" w="med" len="med"/>
                      <a:tailEnd type="none" w="med" len="med"/>
                    </a:lnB>
                    <a:solidFill>
                      <a:schemeClr val="bg2"/>
                    </a:solidFill>
                  </a:tcPr>
                </a:tc>
                <a:tc>
                  <a:txBody>
                    <a:bodyPr/>
                    <a:lstStyle/>
                    <a:p>
                      <a:pPr indent="0" marL="0">
                        <a:buNone/>
                      </a:pPr>
                      <a:r>
                        <a:rPr lang="en-US" sz="1250" b="1" dirty="0">
                          <a:solidFill>
                            <a:schemeClr val="accent5"/>
                          </a:solidFill>
                        </a:rPr>
                        <a:t>No (flutter clean)</a:t>
                      </a:r>
                      <a:endParaRPr lang="en-US" sz="1250" dirty="0"/>
                    </a:p>
                  </a:txBody>
                  <a:tcPr marL="91440" marR="91440" marT="27432" marB="27432" anchor="ctr">
                    <a:lnL w="6350" cap="flat" cmpd="sng" algn="ctr">
                      <a:solidFill>
                        <a:srgbClr val="D5E2EE"/>
                      </a:solidFill>
                      <a:prstDash val="solid"/>
                      <a:round/>
                      <a:headEnd type="none" w="med" len="med"/>
                      <a:tailEnd type="none" w="med" len="med"/>
                    </a:lnL>
                    <a:lnR w="6350" cap="flat" cmpd="sng" algn="ctr">
                      <a:solidFill>
                        <a:srgbClr val="D5E2EE"/>
                      </a:solidFill>
                      <a:prstDash val="solid"/>
                      <a:round/>
                      <a:headEnd type="none" w="med" len="med"/>
                      <a:tailEnd type="none" w="med" len="med"/>
                    </a:lnR>
                    <a:lnT w="6350" cap="flat" cmpd="sng" algn="ctr">
                      <a:solidFill>
                        <a:srgbClr val="D5E2EE"/>
                      </a:solidFill>
                      <a:prstDash val="solid"/>
                      <a:round/>
                      <a:headEnd type="none" w="med" len="med"/>
                      <a:tailEnd type="none" w="med" len="med"/>
                    </a:lnT>
                    <a:lnB w="6350" cap="flat" cmpd="sng" algn="ctr">
                      <a:solidFill>
                        <a:srgbClr val="D5E2EE"/>
                      </a:solidFill>
                      <a:prstDash val="solid"/>
                      <a:round/>
                      <a:headEnd type="none" w="med" len="med"/>
                      <a:tailEnd type="none" w="med" len="med"/>
                    </a:lnB>
                    <a:solidFill>
                      <a:schemeClr val="bg2"/>
                    </a:solidFill>
                  </a:tcPr>
                </a:tc>
              </a:tr>
              <a:tr h="365760">
                <a:tc>
                  <a:txBody>
                    <a:bodyPr/>
                    <a:lstStyle/>
                    <a:p>
                      <a:pPr indent="0" marL="0">
                        <a:buNone/>
                      </a:pPr>
                      <a:r>
                        <a:rPr lang="en-US" sz="1100" b="1" dirty="0">
                          <a:solidFill>
                            <a:schemeClr val="tx2"/>
                          </a:solidFill>
                          <a:latin typeface="Courier New" pitchFamily="34" charset="0"/>
                          <a:ea typeface="Courier New" pitchFamily="34" charset="-122"/>
                          <a:cs typeface="Courier New" pitchFamily="34" charset="-120"/>
                        </a:rPr>
                        <a:t>.idea/ , *.iml</a:t>
                      </a:r>
                      <a:endParaRPr lang="en-US" sz="1100" dirty="0">
                        <a:latin typeface="Courier New" charset="0"/>
                        <a:ea typeface="Courier New" charset="0"/>
                        <a:cs typeface="Courier New" charset="0"/>
                      </a:endParaRPr>
                    </a:p>
                  </a:txBody>
                  <a:tcPr marL="91440" marR="91440" marT="27432" marB="27432" anchor="ctr">
                    <a:lnL w="6350" cap="flat" cmpd="sng" algn="ctr">
                      <a:solidFill>
                        <a:srgbClr val="D5E2EE"/>
                      </a:solidFill>
                      <a:prstDash val="solid"/>
                      <a:round/>
                      <a:headEnd type="none" w="med" len="med"/>
                      <a:tailEnd type="none" w="med" len="med"/>
                    </a:lnL>
                    <a:lnR w="6350" cap="flat" cmpd="sng" algn="ctr">
                      <a:solidFill>
                        <a:srgbClr val="D5E2EE"/>
                      </a:solidFill>
                      <a:prstDash val="solid"/>
                      <a:round/>
                      <a:headEnd type="none" w="med" len="med"/>
                      <a:tailEnd type="none" w="med" len="med"/>
                    </a:lnR>
                    <a:lnT w="6350" cap="flat" cmpd="sng" algn="ctr">
                      <a:solidFill>
                        <a:srgbClr val="D5E2EE"/>
                      </a:solidFill>
                      <a:prstDash val="solid"/>
                      <a:round/>
                      <a:headEnd type="none" w="med" len="med"/>
                      <a:tailEnd type="none" w="med" len="med"/>
                    </a:lnT>
                    <a:lnB w="6350" cap="flat" cmpd="sng" algn="ctr">
                      <a:solidFill>
                        <a:srgbClr val="D5E2EE"/>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Android Studio / IntelliJ settings</a:t>
                      </a:r>
                      <a:endParaRPr lang="en-US" sz="1250" dirty="0"/>
                    </a:p>
                  </a:txBody>
                  <a:tcPr marL="91440" marR="91440" marT="27432" marB="27432" anchor="ctr">
                    <a:lnL w="6350" cap="flat" cmpd="sng" algn="ctr">
                      <a:solidFill>
                        <a:srgbClr val="D5E2EE"/>
                      </a:solidFill>
                      <a:prstDash val="solid"/>
                      <a:round/>
                      <a:headEnd type="none" w="med" len="med"/>
                      <a:tailEnd type="none" w="med" len="med"/>
                    </a:lnL>
                    <a:lnR w="6350" cap="flat" cmpd="sng" algn="ctr">
                      <a:solidFill>
                        <a:srgbClr val="D5E2EE"/>
                      </a:solidFill>
                      <a:prstDash val="solid"/>
                      <a:round/>
                      <a:headEnd type="none" w="med" len="med"/>
                      <a:tailEnd type="none" w="med" len="med"/>
                    </a:lnR>
                    <a:lnT w="6350" cap="flat" cmpd="sng" algn="ctr">
                      <a:solidFill>
                        <a:srgbClr val="D5E2EE"/>
                      </a:solidFill>
                      <a:prstDash val="solid"/>
                      <a:round/>
                      <a:headEnd type="none" w="med" len="med"/>
                      <a:tailEnd type="none" w="med" len="med"/>
                    </a:lnT>
                    <a:lnB w="6350" cap="flat" cmpd="sng" algn="ctr">
                      <a:solidFill>
                        <a:srgbClr val="D5E2EE"/>
                      </a:solidFill>
                      <a:prstDash val="solid"/>
                      <a:round/>
                      <a:headEnd type="none" w="med" len="med"/>
                      <a:tailEnd type="none" w="med" len="med"/>
                    </a:lnB>
                    <a:solidFill>
                      <a:schemeClr val="bg1"/>
                    </a:solidFill>
                  </a:tcPr>
                </a:tc>
                <a:tc>
                  <a:txBody>
                    <a:bodyPr/>
                    <a:lstStyle/>
                    <a:p>
                      <a:pPr indent="0" marL="0">
                        <a:buNone/>
                      </a:pPr>
                      <a:r>
                        <a:rPr lang="en-US" sz="1250" b="1" dirty="0">
                          <a:solidFill>
                            <a:schemeClr val="accent5"/>
                          </a:solidFill>
                        </a:rPr>
                        <a:t>No</a:t>
                      </a:r>
                      <a:endParaRPr lang="en-US" sz="1250" dirty="0"/>
                    </a:p>
                  </a:txBody>
                  <a:tcPr marL="91440" marR="91440" marT="27432" marB="27432" anchor="ctr">
                    <a:lnL w="6350" cap="flat" cmpd="sng" algn="ctr">
                      <a:solidFill>
                        <a:srgbClr val="D5E2EE"/>
                      </a:solidFill>
                      <a:prstDash val="solid"/>
                      <a:round/>
                      <a:headEnd type="none" w="med" len="med"/>
                      <a:tailEnd type="none" w="med" len="med"/>
                    </a:lnL>
                    <a:lnR w="6350" cap="flat" cmpd="sng" algn="ctr">
                      <a:solidFill>
                        <a:srgbClr val="D5E2EE"/>
                      </a:solidFill>
                      <a:prstDash val="solid"/>
                      <a:round/>
                      <a:headEnd type="none" w="med" len="med"/>
                      <a:tailEnd type="none" w="med" len="med"/>
                    </a:lnR>
                    <a:lnT w="6350" cap="flat" cmpd="sng" algn="ctr">
                      <a:solidFill>
                        <a:srgbClr val="D5E2EE"/>
                      </a:solidFill>
                      <a:prstDash val="solid"/>
                      <a:round/>
                      <a:headEnd type="none" w="med" len="med"/>
                      <a:tailEnd type="none" w="med" len="med"/>
                    </a:lnT>
                    <a:lnB w="6350" cap="flat" cmpd="sng" algn="ctr">
                      <a:solidFill>
                        <a:srgbClr val="D5E2EE"/>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8229600" y="4773168"/>
            <a:ext cx="457200" cy="237744"/>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4748B"/>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457200" y="228600"/>
            <a:ext cx="8229600" cy="256032"/>
          </a:xfrm>
          <a:prstGeom prst="rect">
            <a:avLst/>
          </a:prstGeom>
          <a:noFill/>
          <a:ln/>
        </p:spPr>
        <p:txBody>
          <a:bodyPr wrap="square" lIns="0" tIns="0" rIns="0" bIns="0" rtlCol="0" anchor="ctr"/>
          <a:lstStyle/>
          <a:p>
            <a:pPr indent="0" marL="0">
              <a:buNone/>
            </a:pPr>
            <a:r>
              <a:rPr lang="en-US" sz="1100" b="1" spc="200" kern="0" dirty="0">
                <a:solidFill>
                  <a:schemeClr val="accent1"/>
                </a:solidFill>
              </a:rPr>
              <a:t>PART 3 · SUMMARY</a:t>
            </a:r>
            <a:endParaRPr lang="en-US" sz="1100" dirty="0"/>
          </a:p>
        </p:txBody>
      </p:sp>
      <p:sp>
        <p:nvSpPr>
          <p:cNvPr id="3" name="Text 0"/>
          <p:cNvSpPr/>
          <p:nvPr>
            <p:ph idx="101" type="title" hasCustomPrompt="1"/>
          </p:nvPr>
        </p:nvSpPr>
        <p:spPr>
          <a:xfrm>
            <a:off x="457200" y="502920"/>
            <a:ext cx="8229600" cy="566928"/>
          </a:xfrm>
          <a:prstGeom prst="rect">
            <a:avLst/>
          </a:prstGeom>
          <a:noFill/>
          <a:ln/>
        </p:spPr>
        <p:txBody>
          <a:bodyPr wrap="square" lIns="0" tIns="0" rIns="0" bIns="0" rtlCol="0" anchor="ctr"/>
          <a:lstStyle/>
          <a:p>
            <a:pPr indent="0" marL="0">
              <a:buNone/>
            </a:pPr>
            <a:r>
              <a:rPr lang="en-US" sz="2800" b="1" dirty="0">
                <a:solidFill>
                  <a:schemeClr val="tx2"/>
                </a:solidFill>
              </a:rPr>
              <a:t>Important files at a glance</a:t>
            </a:r>
            <a:endParaRPr lang="en-US" sz="2800" dirty="0"/>
          </a:p>
        </p:txBody>
      </p:sp>
      <p:sp>
        <p:nvSpPr>
          <p:cNvPr id="5" name="card"/>
          <p:cNvSpPr/>
          <p:nvPr/>
        </p:nvSpPr>
        <p:spPr>
          <a:xfrm>
            <a:off x="457200" y="1261872"/>
            <a:ext cx="3977640" cy="1024128"/>
          </a:xfrm>
          <a:prstGeom prst="roundRect">
            <a:avLst>
              <a:gd name="adj" fmla="val 7143"/>
            </a:avLst>
          </a:prstGeom>
          <a:solidFill>
            <a:schemeClr val="bg2"/>
          </a:solidFill>
          <a:ln w="12700">
            <a:solidFill>
              <a:schemeClr val="bg2"/>
            </a:solidFill>
            <a:prstDash val="solid"/>
          </a:ln>
        </p:spPr>
      </p:sp>
      <p:sp>
        <p:nvSpPr>
          <p:cNvPr id="6" name="icon-circle"/>
          <p:cNvSpPr/>
          <p:nvPr/>
        </p:nvSpPr>
        <p:spPr>
          <a:xfrm>
            <a:off x="640080" y="1517904"/>
            <a:ext cx="512064" cy="512064"/>
          </a:xfrm>
          <a:prstGeom prst="ellipse">
            <a:avLst/>
          </a:prstGeom>
          <a:solidFill>
            <a:schemeClr val="accent1"/>
          </a:solidFill>
          <a:ln w="12700">
            <a:solidFill>
              <a:schemeClr val="accent1"/>
            </a:solidFill>
            <a:prstDash val="solid"/>
          </a:ln>
        </p:spPr>
      </p:sp>
      <p:pic>
        <p:nvPicPr>
          <p:cNvPr id="7" name="icon" descr="preencoded.png">    </p:cNvPr>
          <p:cNvPicPr>
            <a:picLocks noChangeAspect="1"/>
          </p:cNvPicPr>
          <p:nvPr/>
        </p:nvPicPr>
        <p:blipFill>
          <a:blip r:embed="rId1"/>
          <a:stretch>
            <a:fillRect/>
          </a:stretch>
        </p:blipFill>
        <p:spPr>
          <a:xfrm>
            <a:off x="768096" y="1645920"/>
            <a:ext cx="256032" cy="256032"/>
          </a:xfrm>
          <a:prstGeom prst="rect">
            <a:avLst/>
          </a:prstGeom>
        </p:spPr>
      </p:pic>
      <p:sp>
        <p:nvSpPr>
          <p:cNvPr id="8" name="Text 4"/>
          <p:cNvSpPr txBox="1"/>
          <p:nvPr/>
        </p:nvSpPr>
        <p:spPr>
          <a:xfrm>
            <a:off x="1325880" y="1335024"/>
            <a:ext cx="2971800" cy="877824"/>
          </a:xfrm>
          <a:prstGeom prst="rect">
            <a:avLst/>
          </a:prstGeom>
          <a:noFill/>
          <a:ln/>
        </p:spPr>
        <p:txBody>
          <a:bodyPr wrap="square" lIns="0" tIns="0" rIns="0" bIns="0" rtlCol="0" anchor="ctr"/>
          <a:lstStyle/>
          <a:p>
            <a:pPr indent="0" marL="0">
              <a:buNone/>
            </a:pPr>
            <a:r>
              <a:rPr lang="en-US" sz="1150" b="1" dirty="0">
                <a:solidFill>
                  <a:schemeClr val="accent1"/>
                </a:solidFill>
                <a:latin typeface="Courier New" pitchFamily="34" charset="0"/>
                <a:ea typeface="Courier New" pitchFamily="34" charset="-122"/>
                <a:cs typeface="Courier New" pitchFamily="34" charset="-120"/>
              </a:rPr>
              <a:t>lib/main.dart</a:t>
            </a:r>
            <a:endParaRPr lang="en-US" sz="1150" dirty="0"/>
          </a:p>
          <a:p>
            <a:pPr indent="0" marL="0">
              <a:buNone/>
            </a:pPr>
            <a:r>
              <a:rPr lang="en-US" sz="1250" dirty="0">
                <a:solidFill>
                  <a:schemeClr val="tx1"/>
                </a:solidFill>
              </a:rPr>
              <a:t>Entry point: main() → runApp(). All UI code starts here.</a:t>
            </a:r>
            <a:endParaRPr lang="en-US" sz="1150" dirty="0"/>
          </a:p>
        </p:txBody>
      </p:sp>
      <p:sp>
        <p:nvSpPr>
          <p:cNvPr id="9" name="card"/>
          <p:cNvSpPr/>
          <p:nvPr/>
        </p:nvSpPr>
        <p:spPr>
          <a:xfrm>
            <a:off x="4709160" y="1261872"/>
            <a:ext cx="3977640" cy="1024128"/>
          </a:xfrm>
          <a:prstGeom prst="roundRect">
            <a:avLst>
              <a:gd name="adj" fmla="val 7143"/>
            </a:avLst>
          </a:prstGeom>
          <a:solidFill>
            <a:schemeClr val="bg2"/>
          </a:solidFill>
          <a:ln w="12700">
            <a:solidFill>
              <a:schemeClr val="bg2"/>
            </a:solidFill>
            <a:prstDash val="solid"/>
          </a:ln>
        </p:spPr>
      </p:sp>
      <p:sp>
        <p:nvSpPr>
          <p:cNvPr id="10" name="icon-circle"/>
          <p:cNvSpPr/>
          <p:nvPr/>
        </p:nvSpPr>
        <p:spPr>
          <a:xfrm>
            <a:off x="4892040" y="1517904"/>
            <a:ext cx="512064" cy="512064"/>
          </a:xfrm>
          <a:prstGeom prst="ellipse">
            <a:avLst/>
          </a:prstGeom>
          <a:solidFill>
            <a:schemeClr val="accent1"/>
          </a:solidFill>
          <a:ln w="12700">
            <a:solidFill>
              <a:schemeClr val="accent1"/>
            </a:solidFill>
            <a:prstDash val="solid"/>
          </a:ln>
        </p:spPr>
      </p:sp>
      <p:pic>
        <p:nvPicPr>
          <p:cNvPr id="11" name="icon" descr="preencoded.png">    </p:cNvPr>
          <p:cNvPicPr>
            <a:picLocks noChangeAspect="1"/>
          </p:cNvPicPr>
          <p:nvPr/>
        </p:nvPicPr>
        <p:blipFill>
          <a:blip r:embed="rId2"/>
          <a:stretch>
            <a:fillRect/>
          </a:stretch>
        </p:blipFill>
        <p:spPr>
          <a:xfrm>
            <a:off x="5020056" y="1645920"/>
            <a:ext cx="256032" cy="256032"/>
          </a:xfrm>
          <a:prstGeom prst="rect">
            <a:avLst/>
          </a:prstGeom>
        </p:spPr>
      </p:pic>
      <p:sp>
        <p:nvSpPr>
          <p:cNvPr id="12" name="Text 7"/>
          <p:cNvSpPr txBox="1"/>
          <p:nvPr/>
        </p:nvSpPr>
        <p:spPr>
          <a:xfrm>
            <a:off x="5577840" y="1335024"/>
            <a:ext cx="2971800" cy="877824"/>
          </a:xfrm>
          <a:prstGeom prst="rect">
            <a:avLst/>
          </a:prstGeom>
          <a:noFill/>
          <a:ln/>
        </p:spPr>
        <p:txBody>
          <a:bodyPr wrap="square" lIns="0" tIns="0" rIns="0" bIns="0" rtlCol="0" anchor="ctr"/>
          <a:lstStyle/>
          <a:p>
            <a:pPr indent="0" marL="0">
              <a:buNone/>
            </a:pPr>
            <a:r>
              <a:rPr lang="en-US" sz="1150" b="1" dirty="0">
                <a:solidFill>
                  <a:schemeClr val="accent1"/>
                </a:solidFill>
                <a:latin typeface="Courier New" pitchFamily="34" charset="0"/>
                <a:ea typeface="Courier New" pitchFamily="34" charset="-122"/>
                <a:cs typeface="Courier New" pitchFamily="34" charset="-120"/>
              </a:rPr>
              <a:t>pubspec.yaml</a:t>
            </a:r>
            <a:endParaRPr lang="en-US" sz="1150" dirty="0"/>
          </a:p>
          <a:p>
            <a:pPr indent="0" marL="0">
              <a:buNone/>
            </a:pPr>
            <a:r>
              <a:rPr lang="en-US" sz="1250" dirty="0">
                <a:solidFill>
                  <a:schemeClr val="tx1"/>
                </a:solidFill>
              </a:rPr>
              <a:t>Name, version, packages, assets and fonts.</a:t>
            </a:r>
            <a:endParaRPr lang="en-US" sz="1150" dirty="0"/>
          </a:p>
        </p:txBody>
      </p:sp>
      <p:sp>
        <p:nvSpPr>
          <p:cNvPr id="13" name="card"/>
          <p:cNvSpPr/>
          <p:nvPr/>
        </p:nvSpPr>
        <p:spPr>
          <a:xfrm>
            <a:off x="457200" y="2423160"/>
            <a:ext cx="3977640" cy="1024128"/>
          </a:xfrm>
          <a:prstGeom prst="roundRect">
            <a:avLst>
              <a:gd name="adj" fmla="val 7143"/>
            </a:avLst>
          </a:prstGeom>
          <a:solidFill>
            <a:schemeClr val="bg2"/>
          </a:solidFill>
          <a:ln w="12700">
            <a:solidFill>
              <a:schemeClr val="bg2"/>
            </a:solidFill>
            <a:prstDash val="solid"/>
          </a:ln>
        </p:spPr>
      </p:sp>
      <p:sp>
        <p:nvSpPr>
          <p:cNvPr id="14" name="icon-circle"/>
          <p:cNvSpPr/>
          <p:nvPr/>
        </p:nvSpPr>
        <p:spPr>
          <a:xfrm>
            <a:off x="640080" y="2679192"/>
            <a:ext cx="512064" cy="512064"/>
          </a:xfrm>
          <a:prstGeom prst="ellipse">
            <a:avLst/>
          </a:prstGeom>
          <a:solidFill>
            <a:schemeClr val="accent1"/>
          </a:solidFill>
          <a:ln w="12700">
            <a:solidFill>
              <a:schemeClr val="accent1"/>
            </a:solidFill>
            <a:prstDash val="solid"/>
          </a:ln>
        </p:spPr>
      </p:sp>
      <p:pic>
        <p:nvPicPr>
          <p:cNvPr id="15" name="icon" descr="preencoded.png">    </p:cNvPr>
          <p:cNvPicPr>
            <a:picLocks noChangeAspect="1"/>
          </p:cNvPicPr>
          <p:nvPr/>
        </p:nvPicPr>
        <p:blipFill>
          <a:blip r:embed="rId3"/>
          <a:stretch>
            <a:fillRect/>
          </a:stretch>
        </p:blipFill>
        <p:spPr>
          <a:xfrm>
            <a:off x="768096" y="2807208"/>
            <a:ext cx="256032" cy="256032"/>
          </a:xfrm>
          <a:prstGeom prst="rect">
            <a:avLst/>
          </a:prstGeom>
        </p:spPr>
      </p:pic>
      <p:sp>
        <p:nvSpPr>
          <p:cNvPr id="16" name="Text 10"/>
          <p:cNvSpPr txBox="1"/>
          <p:nvPr/>
        </p:nvSpPr>
        <p:spPr>
          <a:xfrm>
            <a:off x="1325880" y="2496312"/>
            <a:ext cx="2971800" cy="877824"/>
          </a:xfrm>
          <a:prstGeom prst="rect">
            <a:avLst/>
          </a:prstGeom>
          <a:noFill/>
          <a:ln/>
        </p:spPr>
        <p:txBody>
          <a:bodyPr wrap="square" lIns="0" tIns="0" rIns="0" bIns="0" rtlCol="0" anchor="ctr"/>
          <a:lstStyle/>
          <a:p>
            <a:pPr indent="0" marL="0">
              <a:buNone/>
            </a:pPr>
            <a:r>
              <a:rPr lang="en-US" sz="1150" b="1" dirty="0">
                <a:solidFill>
                  <a:schemeClr val="accent1"/>
                </a:solidFill>
                <a:latin typeface="Courier New" pitchFamily="34" charset="0"/>
                <a:ea typeface="Courier New" pitchFamily="34" charset="-122"/>
                <a:cs typeface="Courier New" pitchFamily="34" charset="-120"/>
              </a:rPr>
              <a:t>test/widget_test.dart</a:t>
            </a:r>
            <a:endParaRPr lang="en-US" sz="1150" dirty="0"/>
          </a:p>
          <a:p>
            <a:pPr indent="0" marL="0">
              <a:buNone/>
            </a:pPr>
            <a:r>
              <a:rPr lang="en-US" sz="1250" dirty="0">
                <a:solidFill>
                  <a:schemeClr val="tx1"/>
                </a:solidFill>
              </a:rPr>
              <a:t>Automated widget tests, run with flutter test.</a:t>
            </a:r>
            <a:endParaRPr lang="en-US" sz="1150" dirty="0"/>
          </a:p>
        </p:txBody>
      </p:sp>
      <p:sp>
        <p:nvSpPr>
          <p:cNvPr id="17" name="card"/>
          <p:cNvSpPr/>
          <p:nvPr/>
        </p:nvSpPr>
        <p:spPr>
          <a:xfrm>
            <a:off x="4709160" y="2423160"/>
            <a:ext cx="3977640" cy="1024128"/>
          </a:xfrm>
          <a:prstGeom prst="roundRect">
            <a:avLst>
              <a:gd name="adj" fmla="val 7143"/>
            </a:avLst>
          </a:prstGeom>
          <a:solidFill>
            <a:schemeClr val="bg2"/>
          </a:solidFill>
          <a:ln w="12700">
            <a:solidFill>
              <a:schemeClr val="bg2"/>
            </a:solidFill>
            <a:prstDash val="solid"/>
          </a:ln>
        </p:spPr>
      </p:sp>
      <p:sp>
        <p:nvSpPr>
          <p:cNvPr id="18" name="icon-circle"/>
          <p:cNvSpPr/>
          <p:nvPr/>
        </p:nvSpPr>
        <p:spPr>
          <a:xfrm>
            <a:off x="4892040" y="2679192"/>
            <a:ext cx="512064" cy="512064"/>
          </a:xfrm>
          <a:prstGeom prst="ellipse">
            <a:avLst/>
          </a:prstGeom>
          <a:solidFill>
            <a:schemeClr val="accent1"/>
          </a:solidFill>
          <a:ln w="12700">
            <a:solidFill>
              <a:schemeClr val="accent1"/>
            </a:solidFill>
            <a:prstDash val="solid"/>
          </a:ln>
        </p:spPr>
      </p:sp>
      <p:pic>
        <p:nvPicPr>
          <p:cNvPr id="19" name="icon" descr="preencoded.png">    </p:cNvPr>
          <p:cNvPicPr>
            <a:picLocks noChangeAspect="1"/>
          </p:cNvPicPr>
          <p:nvPr/>
        </p:nvPicPr>
        <p:blipFill>
          <a:blip r:embed="rId4"/>
          <a:stretch>
            <a:fillRect/>
          </a:stretch>
        </p:blipFill>
        <p:spPr>
          <a:xfrm>
            <a:off x="5020056" y="2807208"/>
            <a:ext cx="256032" cy="256032"/>
          </a:xfrm>
          <a:prstGeom prst="rect">
            <a:avLst/>
          </a:prstGeom>
        </p:spPr>
      </p:pic>
      <p:sp>
        <p:nvSpPr>
          <p:cNvPr id="20" name="Text 13"/>
          <p:cNvSpPr txBox="1"/>
          <p:nvPr/>
        </p:nvSpPr>
        <p:spPr>
          <a:xfrm>
            <a:off x="5577840" y="2496312"/>
            <a:ext cx="2971800" cy="877824"/>
          </a:xfrm>
          <a:prstGeom prst="rect">
            <a:avLst/>
          </a:prstGeom>
          <a:noFill/>
          <a:ln/>
        </p:spPr>
        <p:txBody>
          <a:bodyPr wrap="square" lIns="0" tIns="0" rIns="0" bIns="0" rtlCol="0" anchor="ctr"/>
          <a:lstStyle/>
          <a:p>
            <a:pPr indent="0" marL="0">
              <a:buNone/>
            </a:pPr>
            <a:r>
              <a:rPr lang="en-US" sz="1150" b="1" dirty="0">
                <a:solidFill>
                  <a:schemeClr val="accent1"/>
                </a:solidFill>
                <a:latin typeface="Courier New" pitchFamily="34" charset="0"/>
                <a:ea typeface="Courier New" pitchFamily="34" charset="-122"/>
                <a:cs typeface="Courier New" pitchFamily="34" charset="-120"/>
              </a:rPr>
              <a:t>android/app/src/main/ AndroidManifest.xml</a:t>
            </a:r>
            <a:endParaRPr lang="en-US" sz="1150" dirty="0"/>
          </a:p>
          <a:p>
            <a:pPr indent="0" marL="0">
              <a:buNone/>
            </a:pPr>
            <a:r>
              <a:rPr lang="en-US" sz="1250" dirty="0">
                <a:solidFill>
                  <a:schemeClr val="tx1"/>
                </a:solidFill>
              </a:rPr>
              <a:t>Android permissions, app name and icon.</a:t>
            </a:r>
            <a:endParaRPr lang="en-US" sz="1150" dirty="0"/>
          </a:p>
        </p:txBody>
      </p:sp>
      <p:sp>
        <p:nvSpPr>
          <p:cNvPr id="21" name="card"/>
          <p:cNvSpPr/>
          <p:nvPr/>
        </p:nvSpPr>
        <p:spPr>
          <a:xfrm>
            <a:off x="457200" y="3584448"/>
            <a:ext cx="3977640" cy="1024128"/>
          </a:xfrm>
          <a:prstGeom prst="roundRect">
            <a:avLst>
              <a:gd name="adj" fmla="val 7143"/>
            </a:avLst>
          </a:prstGeom>
          <a:solidFill>
            <a:schemeClr val="bg2"/>
          </a:solidFill>
          <a:ln w="12700">
            <a:solidFill>
              <a:schemeClr val="bg2"/>
            </a:solidFill>
            <a:prstDash val="solid"/>
          </a:ln>
        </p:spPr>
      </p:sp>
      <p:sp>
        <p:nvSpPr>
          <p:cNvPr id="22" name="icon-circle"/>
          <p:cNvSpPr/>
          <p:nvPr/>
        </p:nvSpPr>
        <p:spPr>
          <a:xfrm>
            <a:off x="640080" y="3840480"/>
            <a:ext cx="512064" cy="512064"/>
          </a:xfrm>
          <a:prstGeom prst="ellipse">
            <a:avLst/>
          </a:prstGeom>
          <a:solidFill>
            <a:schemeClr val="accent1"/>
          </a:solidFill>
          <a:ln w="12700">
            <a:solidFill>
              <a:schemeClr val="accent1"/>
            </a:solidFill>
            <a:prstDash val="solid"/>
          </a:ln>
        </p:spPr>
      </p:sp>
      <p:pic>
        <p:nvPicPr>
          <p:cNvPr id="23" name="icon" descr="preencoded.png">    </p:cNvPr>
          <p:cNvPicPr>
            <a:picLocks noChangeAspect="1"/>
          </p:cNvPicPr>
          <p:nvPr/>
        </p:nvPicPr>
        <p:blipFill>
          <a:blip r:embed="rId5"/>
          <a:stretch>
            <a:fillRect/>
          </a:stretch>
        </p:blipFill>
        <p:spPr>
          <a:xfrm>
            <a:off x="768096" y="3968496"/>
            <a:ext cx="256032" cy="256032"/>
          </a:xfrm>
          <a:prstGeom prst="rect">
            <a:avLst/>
          </a:prstGeom>
        </p:spPr>
      </p:pic>
      <p:sp>
        <p:nvSpPr>
          <p:cNvPr id="24" name="Text 16"/>
          <p:cNvSpPr txBox="1"/>
          <p:nvPr/>
        </p:nvSpPr>
        <p:spPr>
          <a:xfrm>
            <a:off x="1325880" y="3657600"/>
            <a:ext cx="2971800" cy="877824"/>
          </a:xfrm>
          <a:prstGeom prst="rect">
            <a:avLst/>
          </a:prstGeom>
          <a:noFill/>
          <a:ln/>
        </p:spPr>
        <p:txBody>
          <a:bodyPr wrap="square" lIns="0" tIns="0" rIns="0" bIns="0" rtlCol="0" anchor="ctr"/>
          <a:lstStyle/>
          <a:p>
            <a:pPr indent="0" marL="0">
              <a:buNone/>
            </a:pPr>
            <a:r>
              <a:rPr lang="en-US" sz="1150" b="1" dirty="0">
                <a:solidFill>
                  <a:schemeClr val="accent1"/>
                </a:solidFill>
                <a:latin typeface="Courier New" pitchFamily="34" charset="0"/>
                <a:ea typeface="Courier New" pitchFamily="34" charset="-122"/>
                <a:cs typeface="Courier New" pitchFamily="34" charset="-120"/>
              </a:rPr>
              <a:t>ios/Runner/Info.plist</a:t>
            </a:r>
            <a:endParaRPr lang="en-US" sz="1150" dirty="0"/>
          </a:p>
          <a:p>
            <a:pPr indent="0" marL="0">
              <a:buNone/>
            </a:pPr>
            <a:r>
              <a:rPr lang="en-US" sz="1250" dirty="0">
                <a:solidFill>
                  <a:schemeClr val="tx1"/>
                </a:solidFill>
              </a:rPr>
              <a:t>iOS display name and permission descriptions.</a:t>
            </a:r>
            <a:endParaRPr lang="en-US" sz="1150" dirty="0"/>
          </a:p>
        </p:txBody>
      </p:sp>
      <p:sp>
        <p:nvSpPr>
          <p:cNvPr id="25" name="card"/>
          <p:cNvSpPr/>
          <p:nvPr/>
        </p:nvSpPr>
        <p:spPr>
          <a:xfrm>
            <a:off x="4709160" y="3584448"/>
            <a:ext cx="3977640" cy="1024128"/>
          </a:xfrm>
          <a:prstGeom prst="roundRect">
            <a:avLst>
              <a:gd name="adj" fmla="val 7143"/>
            </a:avLst>
          </a:prstGeom>
          <a:solidFill>
            <a:schemeClr val="bg2"/>
          </a:solidFill>
          <a:ln w="12700">
            <a:solidFill>
              <a:schemeClr val="bg2"/>
            </a:solidFill>
            <a:prstDash val="solid"/>
          </a:ln>
        </p:spPr>
      </p:sp>
      <p:sp>
        <p:nvSpPr>
          <p:cNvPr id="26" name="icon-circle"/>
          <p:cNvSpPr/>
          <p:nvPr/>
        </p:nvSpPr>
        <p:spPr>
          <a:xfrm>
            <a:off x="4892040" y="3840480"/>
            <a:ext cx="512064" cy="512064"/>
          </a:xfrm>
          <a:prstGeom prst="ellipse">
            <a:avLst/>
          </a:prstGeom>
          <a:solidFill>
            <a:schemeClr val="accent1"/>
          </a:solidFill>
          <a:ln w="12700">
            <a:solidFill>
              <a:schemeClr val="accent1"/>
            </a:solidFill>
            <a:prstDash val="solid"/>
          </a:ln>
        </p:spPr>
      </p:sp>
      <p:pic>
        <p:nvPicPr>
          <p:cNvPr id="27" name="icon" descr="preencoded.png">    </p:cNvPr>
          <p:cNvPicPr>
            <a:picLocks noChangeAspect="1"/>
          </p:cNvPicPr>
          <p:nvPr/>
        </p:nvPicPr>
        <p:blipFill>
          <a:blip r:embed="rId6"/>
          <a:stretch>
            <a:fillRect/>
          </a:stretch>
        </p:blipFill>
        <p:spPr>
          <a:xfrm>
            <a:off x="5020056" y="3968496"/>
            <a:ext cx="256032" cy="256032"/>
          </a:xfrm>
          <a:prstGeom prst="rect">
            <a:avLst/>
          </a:prstGeom>
        </p:spPr>
      </p:pic>
      <p:sp>
        <p:nvSpPr>
          <p:cNvPr id="28" name="Text 19"/>
          <p:cNvSpPr txBox="1"/>
          <p:nvPr/>
        </p:nvSpPr>
        <p:spPr>
          <a:xfrm>
            <a:off x="5577840" y="3657600"/>
            <a:ext cx="2971800" cy="877824"/>
          </a:xfrm>
          <a:prstGeom prst="rect">
            <a:avLst/>
          </a:prstGeom>
          <a:noFill/>
          <a:ln/>
        </p:spPr>
        <p:txBody>
          <a:bodyPr wrap="square" lIns="0" tIns="0" rIns="0" bIns="0" rtlCol="0" anchor="ctr"/>
          <a:lstStyle/>
          <a:p>
            <a:pPr indent="0" marL="0">
              <a:buNone/>
            </a:pPr>
            <a:r>
              <a:rPr lang="en-US" sz="1150" b="1" dirty="0">
                <a:solidFill>
                  <a:schemeClr val="accent1"/>
                </a:solidFill>
                <a:latin typeface="Courier New" pitchFamily="34" charset="0"/>
                <a:ea typeface="Courier New" pitchFamily="34" charset="-122"/>
                <a:cs typeface="Courier New" pitchFamily="34" charset="-120"/>
              </a:rPr>
              <a:t>analysis_options.yaml</a:t>
            </a:r>
            <a:endParaRPr lang="en-US" sz="1150" dirty="0"/>
          </a:p>
          <a:p>
            <a:pPr indent="0" marL="0">
              <a:buNone/>
            </a:pPr>
            <a:r>
              <a:rPr lang="en-US" sz="1250" dirty="0">
                <a:solidFill>
                  <a:schemeClr val="tx1"/>
                </a:solidFill>
              </a:rPr>
              <a:t>Lint rules that keep code clean and consistent.</a:t>
            </a:r>
            <a:endParaRPr lang="en-US" sz="1150" dirty="0"/>
          </a:p>
        </p:txBody>
      </p:sp>
      <p:sp>
        <p:nvSpPr>
          <p:cNvPr id="25" name="Slide Number Placeholder 0"/>
          <p:cNvSpPr>
            <a:spLocks noGrp="1"/>
          </p:cNvSpPr>
          <p:nvPr>
            <p:ph type="sldNum" sz="quarter" idx="4294967295"/>
          </p:nvPr>
        </p:nvSpPr>
        <p:spPr>
          <a:xfrm>
            <a:off x="8229600" y="4773168"/>
            <a:ext cx="457200" cy="237744"/>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4748B"/>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457200" y="228600"/>
            <a:ext cx="8229600" cy="256032"/>
          </a:xfrm>
          <a:prstGeom prst="rect">
            <a:avLst/>
          </a:prstGeom>
          <a:noFill/>
          <a:ln/>
        </p:spPr>
        <p:txBody>
          <a:bodyPr wrap="square" lIns="0" tIns="0" rIns="0" bIns="0" rtlCol="0" anchor="ctr"/>
          <a:lstStyle/>
          <a:p>
            <a:pPr indent="0" marL="0">
              <a:buNone/>
            </a:pPr>
            <a:r>
              <a:rPr lang="en-US" sz="1100" b="1" spc="200" kern="0" dirty="0">
                <a:solidFill>
                  <a:schemeClr val="accent2"/>
                </a:solidFill>
              </a:rPr>
              <a:t>TRY IT YOURSELF</a:t>
            </a:r>
            <a:endParaRPr lang="en-US" sz="1100" dirty="0"/>
          </a:p>
        </p:txBody>
      </p:sp>
      <p:sp>
        <p:nvSpPr>
          <p:cNvPr id="3" name="Text 0"/>
          <p:cNvSpPr/>
          <p:nvPr>
            <p:ph idx="101" type="title" hasCustomPrompt="1"/>
          </p:nvPr>
        </p:nvSpPr>
        <p:spPr>
          <a:xfrm>
            <a:off x="457200" y="502920"/>
            <a:ext cx="8229600" cy="566928"/>
          </a:xfrm>
          <a:prstGeom prst="rect">
            <a:avLst/>
          </a:prstGeom>
          <a:noFill/>
          <a:ln/>
        </p:spPr>
        <p:txBody>
          <a:bodyPr wrap="square" lIns="0" tIns="0" rIns="0" bIns="0" rtlCol="0" anchor="ctr"/>
          <a:lstStyle/>
          <a:p>
            <a:pPr indent="0" marL="0">
              <a:buNone/>
            </a:pPr>
            <a:r>
              <a:rPr lang="en-US" sz="2800" b="1" dirty="0">
                <a:solidFill>
                  <a:schemeClr val="bg1"/>
                </a:solidFill>
              </a:rPr>
              <a:t>Lab exercise: your first Flutter app</a:t>
            </a:r>
            <a:endParaRPr lang="en-US" sz="2800" dirty="0"/>
          </a:p>
        </p:txBody>
      </p:sp>
      <p:sp>
        <p:nvSpPr>
          <p:cNvPr id="5" name="card"/>
          <p:cNvSpPr/>
          <p:nvPr/>
        </p:nvSpPr>
        <p:spPr>
          <a:xfrm>
            <a:off x="457200" y="1325880"/>
            <a:ext cx="3977640" cy="1463040"/>
          </a:xfrm>
          <a:prstGeom prst="roundRect">
            <a:avLst>
              <a:gd name="adj" fmla="val 5000"/>
            </a:avLst>
          </a:prstGeom>
          <a:solidFill>
            <a:schemeClr val="accent1"/>
          </a:solidFill>
          <a:ln w="12700">
            <a:solidFill>
              <a:schemeClr val="accent1"/>
            </a:solidFill>
            <a:prstDash val="solid"/>
          </a:ln>
        </p:spPr>
      </p:sp>
      <p:sp>
        <p:nvSpPr>
          <p:cNvPr id="6" name="icon-circle"/>
          <p:cNvSpPr/>
          <p:nvPr/>
        </p:nvSpPr>
        <p:spPr>
          <a:xfrm>
            <a:off x="685800" y="1554480"/>
            <a:ext cx="548640" cy="548640"/>
          </a:xfrm>
          <a:prstGeom prst="ellipse">
            <a:avLst/>
          </a:prstGeom>
          <a:solidFill>
            <a:schemeClr val="accent2"/>
          </a:solidFill>
          <a:ln w="12700">
            <a:solidFill>
              <a:schemeClr val="accent2"/>
            </a:solidFill>
            <a:prstDash val="solid"/>
          </a:ln>
        </p:spPr>
      </p:sp>
      <p:pic>
        <p:nvPicPr>
          <p:cNvPr id="7" name="icon" descr="preencoded.png">    </p:cNvPr>
          <p:cNvPicPr>
            <a:picLocks noChangeAspect="1"/>
          </p:cNvPicPr>
          <p:nvPr/>
        </p:nvPicPr>
        <p:blipFill>
          <a:blip r:embed="rId1"/>
          <a:stretch>
            <a:fillRect/>
          </a:stretch>
        </p:blipFill>
        <p:spPr>
          <a:xfrm>
            <a:off x="822960" y="1691640"/>
            <a:ext cx="274320" cy="274320"/>
          </a:xfrm>
          <a:prstGeom prst="rect">
            <a:avLst/>
          </a:prstGeom>
        </p:spPr>
      </p:pic>
      <p:sp>
        <p:nvSpPr>
          <p:cNvPr id="8" name="Text 4"/>
          <p:cNvSpPr txBox="1"/>
          <p:nvPr/>
        </p:nvSpPr>
        <p:spPr>
          <a:xfrm>
            <a:off x="1417320" y="1554480"/>
            <a:ext cx="2834640" cy="548640"/>
          </a:xfrm>
          <a:prstGeom prst="rect">
            <a:avLst/>
          </a:prstGeom>
          <a:noFill/>
          <a:ln/>
        </p:spPr>
        <p:txBody>
          <a:bodyPr wrap="square" lIns="0" tIns="0" rIns="0" bIns="0" rtlCol="0" anchor="ctr"/>
          <a:lstStyle/>
          <a:p>
            <a:pPr indent="0" marL="0">
              <a:buNone/>
            </a:pPr>
            <a:r>
              <a:rPr lang="en-US" sz="1600" b="1" dirty="0">
                <a:solidFill>
                  <a:schemeClr val="bg1"/>
                </a:solidFill>
              </a:rPr>
              <a:t>1. Install &amp; verify</a:t>
            </a:r>
            <a:endParaRPr lang="en-US" sz="1600" dirty="0"/>
          </a:p>
        </p:txBody>
      </p:sp>
      <p:sp>
        <p:nvSpPr>
          <p:cNvPr id="9" name="Text 5"/>
          <p:cNvSpPr txBox="1"/>
          <p:nvPr/>
        </p:nvSpPr>
        <p:spPr>
          <a:xfrm>
            <a:off x="685800" y="2194560"/>
            <a:ext cx="3520440" cy="502920"/>
          </a:xfrm>
          <a:prstGeom prst="rect">
            <a:avLst/>
          </a:prstGeom>
          <a:noFill/>
          <a:ln/>
        </p:spPr>
        <p:txBody>
          <a:bodyPr wrap="square" lIns="0" tIns="0" rIns="0" bIns="0" rtlCol="0" anchor="t"/>
          <a:lstStyle/>
          <a:p>
            <a:pPr indent="0" marL="0">
              <a:buNone/>
            </a:pPr>
            <a:r>
              <a:rPr lang="en-US" sz="1300" dirty="0">
                <a:solidFill>
                  <a:schemeClr val="bg1"/>
                </a:solidFill>
              </a:rPr>
              <a:t>Get green ticks for Flutter and Android toolchain in flutter doctor.</a:t>
            </a:r>
            <a:endParaRPr lang="en-US" sz="1300" dirty="0"/>
          </a:p>
        </p:txBody>
      </p:sp>
      <p:sp>
        <p:nvSpPr>
          <p:cNvPr id="10" name="card"/>
          <p:cNvSpPr/>
          <p:nvPr/>
        </p:nvSpPr>
        <p:spPr>
          <a:xfrm>
            <a:off x="4709160" y="1325880"/>
            <a:ext cx="3977640" cy="1463040"/>
          </a:xfrm>
          <a:prstGeom prst="roundRect">
            <a:avLst>
              <a:gd name="adj" fmla="val 5000"/>
            </a:avLst>
          </a:prstGeom>
          <a:solidFill>
            <a:schemeClr val="accent1"/>
          </a:solidFill>
          <a:ln w="12700">
            <a:solidFill>
              <a:schemeClr val="accent1"/>
            </a:solidFill>
            <a:prstDash val="solid"/>
          </a:ln>
        </p:spPr>
      </p:sp>
      <p:sp>
        <p:nvSpPr>
          <p:cNvPr id="11" name="icon-circle"/>
          <p:cNvSpPr/>
          <p:nvPr/>
        </p:nvSpPr>
        <p:spPr>
          <a:xfrm>
            <a:off x="4937760" y="1554480"/>
            <a:ext cx="548640" cy="548640"/>
          </a:xfrm>
          <a:prstGeom prst="ellipse">
            <a:avLst/>
          </a:prstGeom>
          <a:solidFill>
            <a:schemeClr val="accent2"/>
          </a:solidFill>
          <a:ln w="12700">
            <a:solidFill>
              <a:schemeClr val="accent2"/>
            </a:solidFill>
            <a:prstDash val="solid"/>
          </a:ln>
        </p:spPr>
      </p:sp>
      <p:pic>
        <p:nvPicPr>
          <p:cNvPr id="12" name="icon" descr="preencoded.png">    </p:cNvPr>
          <p:cNvPicPr>
            <a:picLocks noChangeAspect="1"/>
          </p:cNvPicPr>
          <p:nvPr/>
        </p:nvPicPr>
        <p:blipFill>
          <a:blip r:embed="rId2"/>
          <a:stretch>
            <a:fillRect/>
          </a:stretch>
        </p:blipFill>
        <p:spPr>
          <a:xfrm>
            <a:off x="5074920" y="1691640"/>
            <a:ext cx="274320" cy="274320"/>
          </a:xfrm>
          <a:prstGeom prst="rect">
            <a:avLst/>
          </a:prstGeom>
        </p:spPr>
      </p:pic>
      <p:sp>
        <p:nvSpPr>
          <p:cNvPr id="13" name="Text 8"/>
          <p:cNvSpPr txBox="1"/>
          <p:nvPr/>
        </p:nvSpPr>
        <p:spPr>
          <a:xfrm>
            <a:off x="5669280" y="1554480"/>
            <a:ext cx="2834640" cy="548640"/>
          </a:xfrm>
          <a:prstGeom prst="rect">
            <a:avLst/>
          </a:prstGeom>
          <a:noFill/>
          <a:ln/>
        </p:spPr>
        <p:txBody>
          <a:bodyPr wrap="square" lIns="0" tIns="0" rIns="0" bIns="0" rtlCol="0" anchor="ctr"/>
          <a:lstStyle/>
          <a:p>
            <a:pPr indent="0" marL="0">
              <a:buNone/>
            </a:pPr>
            <a:r>
              <a:rPr lang="en-US" sz="1600" b="1" dirty="0">
                <a:solidFill>
                  <a:schemeClr val="bg1"/>
                </a:solidFill>
              </a:rPr>
              <a:t>2. Create</a:t>
            </a:r>
            <a:endParaRPr lang="en-US" sz="1600" dirty="0"/>
          </a:p>
        </p:txBody>
      </p:sp>
      <p:sp>
        <p:nvSpPr>
          <p:cNvPr id="14" name="Text 9"/>
          <p:cNvSpPr txBox="1"/>
          <p:nvPr/>
        </p:nvSpPr>
        <p:spPr>
          <a:xfrm>
            <a:off x="4937760" y="2194560"/>
            <a:ext cx="3520440" cy="502920"/>
          </a:xfrm>
          <a:prstGeom prst="rect">
            <a:avLst/>
          </a:prstGeom>
          <a:noFill/>
          <a:ln/>
        </p:spPr>
        <p:txBody>
          <a:bodyPr wrap="square" lIns="0" tIns="0" rIns="0" bIns="0" rtlCol="0" anchor="t"/>
          <a:lstStyle/>
          <a:p>
            <a:pPr indent="0" marL="0">
              <a:buNone/>
            </a:pPr>
            <a:r>
              <a:rPr lang="en-US" sz="1300" dirty="0">
                <a:solidFill>
                  <a:schemeClr val="bg1"/>
                </a:solidFill>
              </a:rPr>
              <a:t>flutter create --org edu.college hello_flutter, then open it in VS Code.</a:t>
            </a:r>
            <a:endParaRPr lang="en-US" sz="1300" dirty="0"/>
          </a:p>
        </p:txBody>
      </p:sp>
      <p:sp>
        <p:nvSpPr>
          <p:cNvPr id="15" name="card"/>
          <p:cNvSpPr/>
          <p:nvPr/>
        </p:nvSpPr>
        <p:spPr>
          <a:xfrm>
            <a:off x="457200" y="3017520"/>
            <a:ext cx="3977640" cy="1463040"/>
          </a:xfrm>
          <a:prstGeom prst="roundRect">
            <a:avLst>
              <a:gd name="adj" fmla="val 5000"/>
            </a:avLst>
          </a:prstGeom>
          <a:solidFill>
            <a:schemeClr val="accent1"/>
          </a:solidFill>
          <a:ln w="12700">
            <a:solidFill>
              <a:schemeClr val="accent1"/>
            </a:solidFill>
            <a:prstDash val="solid"/>
          </a:ln>
        </p:spPr>
      </p:sp>
      <p:sp>
        <p:nvSpPr>
          <p:cNvPr id="16" name="icon-circle"/>
          <p:cNvSpPr/>
          <p:nvPr/>
        </p:nvSpPr>
        <p:spPr>
          <a:xfrm>
            <a:off x="685800" y="3246120"/>
            <a:ext cx="548640" cy="548640"/>
          </a:xfrm>
          <a:prstGeom prst="ellipse">
            <a:avLst/>
          </a:prstGeom>
          <a:solidFill>
            <a:schemeClr val="accent2"/>
          </a:solidFill>
          <a:ln w="12700">
            <a:solidFill>
              <a:schemeClr val="accent2"/>
            </a:solidFill>
            <a:prstDash val="solid"/>
          </a:ln>
        </p:spPr>
      </p:sp>
      <p:pic>
        <p:nvPicPr>
          <p:cNvPr id="17" name="icon" descr="preencoded.png">    </p:cNvPr>
          <p:cNvPicPr>
            <a:picLocks noChangeAspect="1"/>
          </p:cNvPicPr>
          <p:nvPr/>
        </p:nvPicPr>
        <p:blipFill>
          <a:blip r:embed="rId3"/>
          <a:stretch>
            <a:fillRect/>
          </a:stretch>
        </p:blipFill>
        <p:spPr>
          <a:xfrm>
            <a:off x="822960" y="3383280"/>
            <a:ext cx="274320" cy="274320"/>
          </a:xfrm>
          <a:prstGeom prst="rect">
            <a:avLst/>
          </a:prstGeom>
        </p:spPr>
      </p:pic>
      <p:sp>
        <p:nvSpPr>
          <p:cNvPr id="18" name="Text 12"/>
          <p:cNvSpPr txBox="1"/>
          <p:nvPr/>
        </p:nvSpPr>
        <p:spPr>
          <a:xfrm>
            <a:off x="1417320" y="3246120"/>
            <a:ext cx="2834640" cy="548640"/>
          </a:xfrm>
          <a:prstGeom prst="rect">
            <a:avLst/>
          </a:prstGeom>
          <a:noFill/>
          <a:ln/>
        </p:spPr>
        <p:txBody>
          <a:bodyPr wrap="square" lIns="0" tIns="0" rIns="0" bIns="0" rtlCol="0" anchor="ctr"/>
          <a:lstStyle/>
          <a:p>
            <a:pPr indent="0" marL="0">
              <a:buNone/>
            </a:pPr>
            <a:r>
              <a:rPr lang="en-US" sz="1600" b="1" dirty="0">
                <a:solidFill>
                  <a:schemeClr val="bg1"/>
                </a:solidFill>
              </a:rPr>
              <a:t>3. Run &amp; hot reload</a:t>
            </a:r>
            <a:endParaRPr lang="en-US" sz="1600" dirty="0"/>
          </a:p>
        </p:txBody>
      </p:sp>
      <p:sp>
        <p:nvSpPr>
          <p:cNvPr id="19" name="Text 13"/>
          <p:cNvSpPr txBox="1"/>
          <p:nvPr/>
        </p:nvSpPr>
        <p:spPr>
          <a:xfrm>
            <a:off x="685800" y="3886200"/>
            <a:ext cx="3520440" cy="502920"/>
          </a:xfrm>
          <a:prstGeom prst="rect">
            <a:avLst/>
          </a:prstGeom>
          <a:noFill/>
          <a:ln/>
        </p:spPr>
        <p:txBody>
          <a:bodyPr wrap="square" lIns="0" tIns="0" rIns="0" bIns="0" rtlCol="0" anchor="t"/>
          <a:lstStyle/>
          <a:p>
            <a:pPr indent="0" marL="0">
              <a:buNone/>
            </a:pPr>
            <a:r>
              <a:rPr lang="en-US" sz="1300" dirty="0">
                <a:solidFill>
                  <a:schemeClr val="bg1"/>
                </a:solidFill>
              </a:rPr>
              <a:t>Run on an emulator, change the title text, press r and watch it update.</a:t>
            </a:r>
            <a:endParaRPr lang="en-US" sz="1300" dirty="0"/>
          </a:p>
        </p:txBody>
      </p:sp>
      <p:sp>
        <p:nvSpPr>
          <p:cNvPr id="20" name="card"/>
          <p:cNvSpPr/>
          <p:nvPr/>
        </p:nvSpPr>
        <p:spPr>
          <a:xfrm>
            <a:off x="4709160" y="3017520"/>
            <a:ext cx="3977640" cy="1463040"/>
          </a:xfrm>
          <a:prstGeom prst="roundRect">
            <a:avLst>
              <a:gd name="adj" fmla="val 5000"/>
            </a:avLst>
          </a:prstGeom>
          <a:solidFill>
            <a:schemeClr val="accent1"/>
          </a:solidFill>
          <a:ln w="12700">
            <a:solidFill>
              <a:schemeClr val="accent1"/>
            </a:solidFill>
            <a:prstDash val="solid"/>
          </a:ln>
        </p:spPr>
      </p:sp>
      <p:sp>
        <p:nvSpPr>
          <p:cNvPr id="21" name="icon-circle"/>
          <p:cNvSpPr/>
          <p:nvPr/>
        </p:nvSpPr>
        <p:spPr>
          <a:xfrm>
            <a:off x="4937760" y="3246120"/>
            <a:ext cx="548640" cy="548640"/>
          </a:xfrm>
          <a:prstGeom prst="ellipse">
            <a:avLst/>
          </a:prstGeom>
          <a:solidFill>
            <a:schemeClr val="accent2"/>
          </a:solidFill>
          <a:ln w="12700">
            <a:solidFill>
              <a:schemeClr val="accent2"/>
            </a:solidFill>
            <a:prstDash val="solid"/>
          </a:ln>
        </p:spPr>
      </p:sp>
      <p:pic>
        <p:nvPicPr>
          <p:cNvPr id="22" name="icon" descr="preencoded.png">    </p:cNvPr>
          <p:cNvPicPr>
            <a:picLocks noChangeAspect="1"/>
          </p:cNvPicPr>
          <p:nvPr/>
        </p:nvPicPr>
        <p:blipFill>
          <a:blip r:embed="rId4"/>
          <a:stretch>
            <a:fillRect/>
          </a:stretch>
        </p:blipFill>
        <p:spPr>
          <a:xfrm>
            <a:off x="5074920" y="3383280"/>
            <a:ext cx="274320" cy="274320"/>
          </a:xfrm>
          <a:prstGeom prst="rect">
            <a:avLst/>
          </a:prstGeom>
        </p:spPr>
      </p:pic>
      <p:sp>
        <p:nvSpPr>
          <p:cNvPr id="23" name="Text 16"/>
          <p:cNvSpPr txBox="1"/>
          <p:nvPr/>
        </p:nvSpPr>
        <p:spPr>
          <a:xfrm>
            <a:off x="5669280" y="3246120"/>
            <a:ext cx="2834640" cy="548640"/>
          </a:xfrm>
          <a:prstGeom prst="rect">
            <a:avLst/>
          </a:prstGeom>
          <a:noFill/>
          <a:ln/>
        </p:spPr>
        <p:txBody>
          <a:bodyPr wrap="square" lIns="0" tIns="0" rIns="0" bIns="0" rtlCol="0" anchor="ctr"/>
          <a:lstStyle/>
          <a:p>
            <a:pPr indent="0" marL="0">
              <a:buNone/>
            </a:pPr>
            <a:r>
              <a:rPr lang="en-US" sz="1600" b="1" dirty="0">
                <a:solidFill>
                  <a:schemeClr val="bg1"/>
                </a:solidFill>
              </a:rPr>
              <a:t>4. Add an asset</a:t>
            </a:r>
            <a:endParaRPr lang="en-US" sz="1600" dirty="0"/>
          </a:p>
        </p:txBody>
      </p:sp>
      <p:sp>
        <p:nvSpPr>
          <p:cNvPr id="24" name="Text 17"/>
          <p:cNvSpPr txBox="1"/>
          <p:nvPr/>
        </p:nvSpPr>
        <p:spPr>
          <a:xfrm>
            <a:off x="4937760" y="3886200"/>
            <a:ext cx="3520440" cy="502920"/>
          </a:xfrm>
          <a:prstGeom prst="rect">
            <a:avLst/>
          </a:prstGeom>
          <a:noFill/>
          <a:ln/>
        </p:spPr>
        <p:txBody>
          <a:bodyPr wrap="square" lIns="0" tIns="0" rIns="0" bIns="0" rtlCol="0" anchor="t"/>
          <a:lstStyle/>
          <a:p>
            <a:pPr indent="0" marL="0">
              <a:buNone/>
            </a:pPr>
            <a:r>
              <a:rPr lang="en-US" sz="1300" dirty="0">
                <a:solidFill>
                  <a:schemeClr val="bg1"/>
                </a:solidFill>
              </a:rPr>
              <a:t>Create assets/images/, register it in pubspec.yaml and show it with Image.asset().</a:t>
            </a:r>
            <a:endParaRPr lang="en-US" sz="1300" dirty="0"/>
          </a:p>
        </p:txBody>
      </p:sp>
      <p:sp>
        <p:nvSpPr>
          <p:cNvPr id="25" name="Slide Number Placeholder 0"/>
          <p:cNvSpPr>
            <a:spLocks noGrp="1"/>
          </p:cNvSpPr>
          <p:nvPr>
            <p:ph type="sldNum" sz="quarter" idx="4294967295"/>
          </p:nvPr>
        </p:nvSpPr>
        <p:spPr>
          <a:xfrm>
            <a:off x="8229600" y="4773168"/>
            <a:ext cx="457200" cy="237744"/>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13B9FD"/>
                </a:solidFill>
              </a:defRPr>
            </a:lvl1pPr>
          </a:lstStyle>
          <a:p>
            <a:pPr algn="r"/>
            <a:fld id="{F7021451-1387-4CA6-816F-3879F97B5CBC}" type="slidenum">
              <a:rPr b="0" lang="en-US"/>
              <a:t>18</a:t>
            </a:fld>
            <a:endParaRPr lang="en-US"/>
          </a:p>
        </p:txBody>
      </p:sp>
    </p:spTree>
  </p:cSld>
  <p:clrMapOvr>
    <a:masterClrMapping/>
  </p:clrMapOvr>
</p:sld>
</file>

<file path=ppt/theme/theme1.xml><?xml version="1.0" encoding="utf-8"?>
<a:theme xmlns:a="http://schemas.openxmlformats.org/drawingml/2006/main" name="Flutter Classroom">
  <a:themeElements>
    <a:clrScheme name="Flutter Classroom">
      <a:dk1>
        <a:srgbClr val="0F172A"/>
      </a:dk1>
      <a:lt1>
        <a:srgbClr val="FFFFFF"/>
      </a:lt1>
      <a:dk2>
        <a:srgbClr val="0B2545"/>
      </a:dk2>
      <a:lt2>
        <a:srgbClr val="EAF3FB"/>
      </a:lt2>
      <a:accent1>
        <a:srgbClr val="02569B"/>
      </a:accent1>
      <a:accent2>
        <a:srgbClr val="13B9FD"/>
      </a:accent2>
      <a:accent3>
        <a:srgbClr val="1E9E5A"/>
      </a:accent3>
      <a:accent4>
        <a:srgbClr val="D98E04"/>
      </a:accent4>
      <a:accent5>
        <a:srgbClr val="C8423B"/>
      </a:accent5>
      <a:accent6>
        <a:srgbClr val="64748B"/>
      </a:accent6>
      <a:hlink>
        <a:srgbClr val="02569B"/>
      </a:hlink>
      <a:folHlink>
        <a:srgbClr val="5B3E96"/>
      </a:folHlink>
    </a:clrScheme>
    <a:fontScheme name="Flutter Classroom">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Getting Started with Flutter</dc:title>
  <dc:subject>PptxGenJS Presentation</dc:subject>
  <dc:creator>Mobile Application Development</dc:creator>
  <cp:lastModifiedBy>Mobile Application Development</cp:lastModifiedBy>
  <cp:revision>1</cp:revision>
  <dcterms:created xsi:type="dcterms:W3CDTF">2026-10-20T04:53:19Z</dcterms:created>
  <dcterms:modified xsi:type="dcterms:W3CDTF">2026-10-20T04:53:19Z</dcterms:modified>
</cp:coreProperties>
</file>